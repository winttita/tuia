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Default Extension="png" ContentType="image/png"/>
  <Default Extension="xlsx" ContentType="application/vnd.openxmlformats-officedocument.spreadsheetml.sheet"/>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charts/chart1601.xml" ContentType="application/vnd.openxmlformats-officedocument.drawingml.chart+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Lst>
  <p:notesMasterIdLst>
    <p:notesMasterId r:id="rId2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x="12192000" cy="6858000" type="screen16x9"/>
  <p:notesSz cx="6858000" cy="9144000"/>
  <p:defaultTextStyle>
    <a:defPPr>
      <a:defRPr lang="es-AR"/>
    </a:defPPr>
    <a:lvl1pPr marL="0" algn="l" defTabSz="457200" rtl="0" eaLnBrk="1" latinLnBrk="0" hangingPunct="1">
      <a:defRPr sz="1800" kern="1200" lang="es-AR">
        <a:solidFill>
          <a:schemeClr val="tx1"/>
        </a:solidFill>
        <a:latin typeface="+mn-lt"/>
        <a:ea typeface="+mn-ea"/>
        <a:cs typeface="+mn-cs"/>
      </a:defRPr>
    </a:lvl1pPr>
    <a:lvl2pPr marL="457200" algn="l" defTabSz="457200" rtl="0" eaLnBrk="1" latinLnBrk="0" hangingPunct="1">
      <a:defRPr sz="1800" kern="1200" lang="es-AR">
        <a:solidFill>
          <a:schemeClr val="tx1"/>
        </a:solidFill>
        <a:latin typeface="+mn-lt"/>
        <a:ea typeface="+mn-ea"/>
        <a:cs typeface="+mn-cs"/>
      </a:defRPr>
    </a:lvl2pPr>
    <a:lvl3pPr marL="914400" algn="l" defTabSz="457200" rtl="0" eaLnBrk="1" latinLnBrk="0" hangingPunct="1">
      <a:defRPr sz="1800" kern="1200" lang="es-AR">
        <a:solidFill>
          <a:schemeClr val="tx1"/>
        </a:solidFill>
        <a:latin typeface="+mn-lt"/>
        <a:ea typeface="+mn-ea"/>
        <a:cs typeface="+mn-cs"/>
      </a:defRPr>
    </a:lvl3pPr>
    <a:lvl4pPr marL="1371600" algn="l" defTabSz="457200" rtl="0" eaLnBrk="1" latinLnBrk="0" hangingPunct="1">
      <a:defRPr sz="1800" kern="1200" lang="es-AR">
        <a:solidFill>
          <a:schemeClr val="tx1"/>
        </a:solidFill>
        <a:latin typeface="+mn-lt"/>
        <a:ea typeface="+mn-ea"/>
        <a:cs typeface="+mn-cs"/>
      </a:defRPr>
    </a:lvl4pPr>
    <a:lvl5pPr marL="1828800" algn="l" defTabSz="457200" rtl="0" eaLnBrk="1" latinLnBrk="0" hangingPunct="1">
      <a:defRPr sz="1800" kern="1200" lang="es-AR">
        <a:solidFill>
          <a:schemeClr val="tx1"/>
        </a:solidFill>
        <a:latin typeface="+mn-lt"/>
        <a:ea typeface="+mn-ea"/>
        <a:cs typeface="+mn-cs"/>
      </a:defRPr>
    </a:lvl5pPr>
    <a:lvl6pPr marL="2286000" algn="l" defTabSz="457200" rtl="0" eaLnBrk="1" latinLnBrk="0" hangingPunct="1">
      <a:defRPr sz="1800" kern="1200" lang="es-AR">
        <a:solidFill>
          <a:schemeClr val="tx1"/>
        </a:solidFill>
        <a:latin typeface="+mn-lt"/>
        <a:ea typeface="+mn-ea"/>
        <a:cs typeface="+mn-cs"/>
      </a:defRPr>
    </a:lvl6pPr>
    <a:lvl7pPr marL="2743200" algn="l" defTabSz="457200" rtl="0" eaLnBrk="1" latinLnBrk="0" hangingPunct="1">
      <a:defRPr sz="1800" kern="1200" lang="es-AR">
        <a:solidFill>
          <a:schemeClr val="tx1"/>
        </a:solidFill>
        <a:latin typeface="+mn-lt"/>
        <a:ea typeface="+mn-ea"/>
        <a:cs typeface="+mn-cs"/>
      </a:defRPr>
    </a:lvl7pPr>
    <a:lvl8pPr marL="3200400" algn="l" defTabSz="457200" rtl="0" eaLnBrk="1" latinLnBrk="0" hangingPunct="1">
      <a:defRPr sz="1800" kern="1200" lang="es-AR">
        <a:solidFill>
          <a:schemeClr val="tx1"/>
        </a:solidFill>
        <a:latin typeface="+mn-lt"/>
        <a:ea typeface="+mn-ea"/>
        <a:cs typeface="+mn-cs"/>
      </a:defRPr>
    </a:lvl8pPr>
    <a:lvl9pPr marL="3657600" algn="l" defTabSz="457200" rtl="0" eaLnBrk="1" latinLnBrk="0" hangingPunct="1">
      <a:defRPr sz="1800" kern="1200" lang="es-AR">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  <Relationship Id="rId26" Type="http://schemas.openxmlformats.org/officeDocument/2006/relationships/notesMaster" Target="notesMasters/notesMaster1.xml"/>
</Relationships>
</file>

<file path=ppt/charts/_rels/chart1601.xml.rels><?xml version="1.0" encoding="UTF-8" standalone="yes"?>
<Relationships xmlns="http://schemas.openxmlformats.org/package/2006/relationships">
<Relationship Id="rId1" Type="http://schemas.openxmlformats.org/officeDocument/2006/relationships/package" Target="../embeddings/Microsoft_Excel_Sheet1601.xlsx"/>
</Relationships>
</file>

<file path=ppt/charts/chart1601.xml><?xml version="1.0" encoding="utf-8"?>
<c:chartSpace xmlns:c="http://schemas.openxmlformats.org/drawingml/2006/chart" xmlns:a="http://schemas.openxmlformats.org/drawingml/2006/main" xmlns:r="http://schemas.openxmlformats.org/officeDocument/2006/relationships">
  <c:date1904 val="0"/>
  <c:lang val="es-AR"/>
  <c:chart>
    <c:autoTitleDeleted val="1"/>
    <c:plotArea>
      <c:layout>
        <c:manualLayout>
          <c:layoutTarget val="inner"/>
          <c:xMode val="edge"/>
          <c:yMode val="edge"/>
          <c:wMode val="factor"/>
          <c:hMode val="factor"/>
          <c:x val="0.0786516853933"/>
          <c:y val="0.132352941176"/>
          <c:w val="0.887640449438"/>
          <c:h val="0.710784313725"/>
        </c:manualLayout>
      </c:layout>
      <c:barChart>
        <c:barDir val="col"/>
        <c:grouping val="clustered"/>
        <c:varyColors val="0"/>
        <c:ser>
          <c:idx val="0"/>
          <c:order val="0"/>
          <c:tx>
            <c:strRef>
              <c:f>Sheet1!$B$1</c:f>
              <c:strCache>
                <c:ptCount val="1"/>
                <c:pt idx="0">
                  <c:v>Registros correctos (de 20)</c:v>
                </c:pt>
              </c:strCache>
            </c:strRef>
          </c:tx>
          <c:spPr>
            <a:solidFill>
              <a:schemeClr val="accent1"/>
            </a:solidFill>
            <a:ln>
              <a:solidFill>
                <a:schemeClr val="accent1"/>
              </a:solidFill>
            </a:ln>
          </c:spPr>
          <c:invertIfNegative val="0"/>
          <c:cat>
            <c:strRef>
              <c:f>Sheet1!$A$2:$A$5</c:f>
              <c:strCache>
                <c:ptCount val="4"/>
                <c:pt idx="0">
                  <c:v>Planilla 1</c:v>
                </c:pt>
                <c:pt idx="1">
                  <c:v>Planilla 2</c:v>
                </c:pt>
                <c:pt idx="2">
                  <c:v>Planilla 3</c:v>
                </c:pt>
                <c:pt idx="3">
                  <c:v>Planilla 4</c:v>
                </c:pt>
              </c:strCache>
            </c:strRef>
          </c:cat>
          <c:val>
            <c:numRef>
              <c:f>Sheet1!$B$2:$B$5</c:f>
              <c:numCache>
                <c:formatCode>General</c:formatCode>
                <c:ptCount val="4"/>
                <c:pt idx="0">
                  <c:v>15</c:v>
                </c:pt>
                <c:pt idx="1">
                  <c:v>3</c:v>
                </c:pt>
                <c:pt idx="2">
                  <c:v>0</c:v>
                </c:pt>
                <c:pt idx="3">
                  <c:v>6</c:v>
                </c:pt>
              </c:numCache>
            </c:numRef>
          </c:val>
        </c:ser>
        <c:dLbls>
          <c:txPr>
            <a:bodyPr/>
            <a:lstStyle/>
            <a:p>
              <a:pPr>
                <a:defRPr lang="es-AR" sz="1650" b="1">
                  <a:solidFill>
                    <a:schemeClr val="accent1"/>
                  </a:solidFill>
                  <a:latin typeface="Calibri"/>
                  <a:ea typeface="Microsoft YaHei"/>
                  <a:cs typeface="Calibri"/>
                </a:defRPr>
              </a:pPr>
              <a:endParaRPr lang="es-AR"/>
            </a:p>
          </c:txPr>
          <c:dLblPos val="outEnd"/>
          <c:showLegendKey val="0"/>
          <c:showVal val="1"/>
          <c:showCatName val="0"/>
          <c:showSerName val="0"/>
          <c:showPercent val="0"/>
          <c:showBubbleSize val="0"/>
          <c:showLeaderLines val="0"/>
        </c:dLbls>
        <c:gapWidth val="100"/>
        <c:axId val="2068027336"/>
        <c:axId val="2113994440"/>
      </c:barChart>
      <c:catAx>
        <c:axId val="2068027336"/>
        <c:scaling>
          <c:orientation val="minMax"/>
        </c:scaling>
        <c:delete val="0"/>
        <c:axPos val="b"/>
        <c:majorTickMark val="none"/>
        <c:minorTickMark val="none"/>
        <c:tickLblPos val="nextTo"/>
        <c:spPr>
          <a:ln w="9525" cap="flat" cmpd="sng" algn="ctr">
            <a:solidFill>
              <a:srgbClr val="D6DCE3"/>
            </a:solidFill>
            <a:round/>
          </a:ln>
        </c:spPr>
        <c:txPr>
          <a:bodyPr/>
          <a:lstStyle/>
          <a:p>
            <a:pPr>
              <a:defRPr lang="es-AR" sz="1350">
                <a:solidFill>
                  <a:srgbClr val="5B6472"/>
                </a:solidFill>
                <a:latin typeface="Calibri"/>
                <a:ea typeface="Microsoft YaHei"/>
                <a:cs typeface="Calibri"/>
              </a:defRPr>
            </a:pPr>
            <a:endParaRPr lang="es-AR"/>
          </a:p>
        </c:txPr>
        <c:crossAx val="2113994440"/>
        <c:crosses val="autoZero"/>
        <c:auto val="1"/>
        <c:lblAlgn val="ctr"/>
        <c:lblOffset val="100"/>
        <c:noMultiLvlLbl val="0"/>
      </c:catAx>
      <c:valAx>
        <c:axId val="2113994440"/>
        <c:scaling>
          <c:orientation val="minMax"/>
          <c:max val="20"/>
          <c:min val="0"/>
        </c:scaling>
        <c:delete val="0"/>
        <c:axPos val="l"/>
        <c:majorGridlines>
          <c:spPr>
            <a:ln w="6350" cap="flat" cmpd="sng" algn="ctr">
              <a:solidFill>
                <a:srgbClr val="D6DCE3"/>
              </a:solidFill>
              <a:round/>
            </a:ln>
          </c:spPr>
        </c:majorGridlines>
        <c:majorTickMark val="none"/>
        <c:minorTickMark val="none"/>
        <c:tickLblPos val="nextTo"/>
        <c:spPr>
          <a:ln w="9525" cap="flat" cmpd="sng" algn="ctr">
            <a:solidFill>
              <a:srgbClr val="D6DCE3"/>
            </a:solidFill>
            <a:round/>
          </a:ln>
        </c:spPr>
        <c:txPr>
          <a:bodyPr/>
          <a:lstStyle/>
          <a:p>
            <a:pPr>
              <a:defRPr lang="es-AR" sz="1350">
                <a:solidFill>
                  <a:srgbClr val="5B6472"/>
                </a:solidFill>
                <a:latin typeface="Calibri"/>
                <a:ea typeface="Microsoft YaHei"/>
                <a:cs typeface="Calibri"/>
              </a:defRPr>
            </a:pPr>
            <a:endParaRPr lang="es-AR"/>
          </a:p>
        </c:txPr>
        <c:crossAx val="2068027336"/>
        <c:crosses val="autoZero"/>
        <c:crossBetween val="between"/>
        <c:majorUnit val="5"/>
      </c:valAx>
      <c:spPr>
        <a:solidFill>
          <a:srgbClr val="FFFFFF"/>
        </a:solidFill>
        <a:ln>
          <a:noFill/>
        </a:ln>
      </c:spPr>
    </c:plotArea>
    <c:plotVisOnly val="1"/>
    <c:dispBlanksAs val="gap"/>
  </c:chart>
  <c:spPr>
    <a:solidFill>
      <a:srgbClr val="FFFFFF"/>
    </a:solidFill>
    <a:ln>
      <a:noFill/>
    </a:ln>
  </c:spPr>
  <c:txPr>
    <a:bodyPr/>
    <a:lstStyle/>
    <a:p>
      <a:pPr>
        <a:defRPr lang="es-AR" sz="1350">
          <a:solidFill>
            <a:srgbClr val="5B6472"/>
          </a:solidFill>
          <a:latin typeface="Calibri"/>
          <a:ea typeface="Microsoft YaHei"/>
          <a:cs typeface="Calibri"/>
        </a:defRPr>
      </a:pPr>
      <a:endParaRPr lang="es-AR"/>
    </a:p>
  </c:tx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es-AR"/>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es-AR"/>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es-AR"/>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es-AR"/>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es-AR"/>
          </a:p>
        </p:txBody>
      </p:sp>
    </p:spTree>
  </p:cSld>
  <p:clrMap bg1="lt1" tx1="dk1" bg2="lt2" tx2="dk2" accent1="accent1" accent2="accent2" accent3="accent3" accent4="accent4" accent5="accent5" accent6="accent6" hlink="hlink" folHlink="folHlink"/>
  <p:hf/>
  <p:notesStyle>
    <a:lvl1pPr marL="0" algn="l">
      <a:defRPr sz="1200" lang="es-AR"/>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s-AR" dirty="0"/>
              <a:t>Buenas, somos el grupo 8 y vamos a defender el trabajo práctico 1 de Procesamiento de Imágenes I. El trabajo tiene dos problemas: en el primero, hacer visibles cinco detalles que el histograma esconde, y en el segundo, validar planillas de calificaciones con un mismo algoritmo. Vamos a ir contando qué hicimos, por qué elegimos cada parámetro y qué límites tiene lo que hicimos. Empezamos por la consigna.</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s-AR" dirty="0"/>
              <a:t>Son dos problemas y cada uno se resuelve con su propio script. En el primero tenemos que aplicar una ecualización local de histograma: una ventana de M por N que recorre la imagen píxel a píxel, encontrar los detalles ocultos en cada zona y ver cómo cambia el resultado según el tamaño de la ventana. En el segundo tenemos que informar qué campos de cada planilla están OK y cuáles MAL, generar una imagen con los alumnos que no aprobaron, o sea los que tienen condición L o R, y un archivo CSV con una fila por registro. Todo eso lo repetimos con las cuatro planillas. Trabajamos con Python, numpy, OpenCV y matplotlib. Arrancamos con el problema uno.</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s-AR" dirty="0"/>
              <a:t>Esta es la imagen del problema uno, de 256 por 256 píxeles y 8 bits, con su histograma. A simple vista parece casi uniforme. El histograma muestra por qué: hay solo 15 niveles de gris, en dos grupos separados, de 0 a 11 y de 226 a 228. Los detalles están dentro de cinco cuadrados oscuros de 62 por 62, que ocupan el 29,3 por ciento de la imagen. Y dentro de cada cuadrado los niveles van de 0 a 11 como máximo, así que el detalle difiere del fondo en muy pocos niveles de gris. Por eso pesan tan poco en el histograma y no se ven.</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s-AR" dirty="0"/>
              <a:t>Acá comparamos las dos ecualizaciones. El histograma cuenta cuántos píxeles hay de cada nivel de gris. La global usa todos los píxeles de la imagen: acumula la fracción de píxeles de cada nivel y la escala al rango de 0 a 255. Si el detalle es chico y casi igual a su fondo, pesa muy poco y no se resalta. La local, en cambio, calcula el histograma solo con los píxeles de una ventana alrededor de cada píxel, y esa transformación se aplica al píxel central. Así el detalle pesa en su propio entorno y se resalta. Veamos cómo se aplica.</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s-AR" dirty="0"/>
              <a:t>El procedimiento tiene cuatro pasos. Definimos una ventana de M por N píxeles, la centramos sobre un píxel de la imagen, calculamos el histograma de esa ventana y su transformación, y la aplicamos solo al píxel central. Después corremos un píxel y repetimos: son 65.536 veces para una imagen de 256 por 256. M y N tienen que ser impares porque así hay un único píxel central y la misma cantidad de píxeles a cada lado; con un tamaño par, el centro quedaría entre cuatro píxeles. Un ejemplo: con una ventana de 21 por 21 centrada en el píxel 212, 207, el valor pasa de 10 a 247.</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s-AR" dirty="0"/>
              <a:t>Cuando la ventana está en el borde de la imagen, parte de ella queda afuera, así que hay que decidir qué poner. Elegimos replicar el borde: se copia el valor del borde hacia afuera y no se agregan intensidades nuevas al histograma. Agregamos 10 píxeles por lado, y la imagen pasa de 256 por 256 a 276 por 276. La alternativa era rellenar con ceros, pero eso mete píxeles negros artificiales en las ventanas del borde y altera la ecualización. Esa decisión fue nuestra y por eso la dejamos explícita.</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s-AR" dirty="0"/>
              <a:t>Esta es la prueba visual. A la izquierda está la imagen original, en el medio la ecualización global y a la derecha la local con ventana de 21 por 21. Con la global los detalles siguen casi invisibles. La razón es que los píxeles oscuros son casi un tercio de la imagen y quedan todos juntos al principio de la distribución acumulada, así que la global no los separa; además agrega puntos negros sueltos. Con la local de 21 por 21, en cambio, aparecen los cinco detalles.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s-AR" dirty="0"/>
              <a:t>Acá vemos cada cuadrado antes, arriba, y después, abajo, de aplicar la local de 21 por 21. En la zona superior izquierda aparece un cuadrado pequeño, en la superior derecha una línea diagonal, en el centro la letra a minúscula, en la inferior izquierda cuatro líneas horizontales paralelas y en la inferior derecha un círculo. Los cinco aparecen completos. Además, las zonas coinciden píxel a píxel con los píxeles menores que 128. Nos queda explicar por qué elegimos ese tamaño de ventana.</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s-AR" dirty="0"/>
              <a:t>Probamos ventanas de 3 por 3 hasta 101 por 101. Las chicas, de 3 por 3 y 7 por 7, resaltan bordes, amplifican el ruido y llenan el fondo de manchas. Las medias, de 15 por 15 a 31 por 31, muestran los detalles completos y dejan el fondo casi limpio. Las grandes, de 61 por 61 en adelante, se parecen a la global. Elegimos 21 por 21 porque deja menos marcas negras en el fondo que 15 por 15. Los puntos sueltos que quedan son 1175 píxeles de nivel 226 de la imagen original, el 2,5 por ciento del fondo: ruido de la imagen, no del método.</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s-AR" dirty="0"/>
              <a:t>El tamaño útil de la ventana tiene dos límites. El mínimo: tiene que tomar a la vez parte del detalle y de su fondo, si no solo se ven bordes y crece el ruido. El máximo: si la ventana se sale del cuadrado de 62 por 62, entran píxeles del fondo claro y los oscuros quedan comprimidos, así que cuanto más grande la ventana, más oscuro se ve el detalle; la zona inferior izquierda, a 10 píxeles del borde, es la que más se atenúa. Entre los dos queda el rango de 15 por 15 a 31 por 31, y la mejor fue 21 por 21. Con ventanas rectangulares aparecen rayas con la orientación de la ventana, y conviene alargarlas en la dirección de un detalle conocido. Además, el tiempo crece con el tamaño porque en cada píxel se calcula el histograma de M por N valores.</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s-AR" dirty="0"/>
              <a:t>También probamos la función con casos válidos e inválidos. Con la imagen del trabajo, de 256 por 256 y ventana de 15 por 15, tarda 0,14 segundos y hace 65.536 ecualizaciones de ventana. Los tamaños pares, el cero o los decimales se rechazan con un error. Con un cuadrado sintético, una diferencia de 5 niveles se amplifica hasta 255. Y la salida siempre tiene el mismo tamaño que la entrada, también con ventanas rectangulares y con ventana de 1 por 1. Con esto cerramos el problema uno y pasamos al dos.</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s-AR" dirty="0"/>
              <a:t>En el problema dos partimos de una planilla, que se ve a la izquierda en grises y a la derecha umbralada con el valor 150. El proceso tiene cinco pasos. Umbralar, para que el texto y las líneas queden en negro y desaparezcan los márgenes grises. Buscar las líneas de la tabla: son 22 horizontales y 8 verticales. Recortar las celdas, que son los rectángulos entre dos líneas consecutivas. Separar los caracteres, que son componentes conectadas. Y aplicar las reglas, contando caracteres y palabras por campo y distinguiendo L, R y A por su forma. Un mismo algoritmo procesa las cuatro planillas aunque midan distinto: 1107 por 867, 1029 por 869, 1106 por 869 y 917 por 1082.</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s-AR" dirty="0"/>
              <a:t>Para encontrar las líneas sumamos los píxeles oscuros por fila y por columna, y los picos que superan el umbral son las líneas. El umbral de las filas es 0,8 por el máximo, que en la planilla 1 es 786 píxeles, y el de las columnas es 0,6 por el máximo, 398. Con eso salen las 22 líneas horizontales y las 8 verticales en las cuatro planillas. Para binarizar usamos 150, que deja afuera los márgenes grises. Y para separar palabras, como entre letras hay de 0 a 4 píxeles y entre palabras de 10 a 13, el umbral es 6. Ajustamos todos los umbrales mirando las cuatro planillas, porque la consigna pide un umbral acorde.</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s-AR" dirty="0"/>
              <a:t>Estas son las reglas de cada campo. El legajo tiene 8 caracteres en total y una sola palabra. El nombre y apellido, al menos dos palabras y no más de 12 caracteres. Los parciales 1, 2 y 3, uno o dos caracteres consecutivos y sin espacios. Y la condición final, un único carácter: L, R o A. Un registro es correcto solo si cumple las seis reglas. Una aclaración: el espacio del nombre no lo contamos como carácter, porque no es una componente conectada. Fue una decisión nuestra, porque la consigna no lo aclara.</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s-AR" dirty="0"/>
              <a:t>Para separar L, R y A usamos dos propiedades de forma. La primera columna de la letra: en L y R mide exactamente el alto de la letra, 12 píxeles, o 10 en la planilla 4, y en la A mide entre 1 y 3. Además miramos si la letra tiene un agujero: la R y la A lo tienen, la L no. Lo validamos con las 56 celdas de un solo carácter y no hubo casos dudosos. A la derecha está la imagen de salida de la planilla 1, con los 10 alumnos: en azul los L y en rojo los R. Si no hay ninguno, la imagen dice sin alumnos L/R.</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s-AR" dirty="0"/>
              <a:t>Estos son los resultados: registros correctos de 20 en cada planilla. La planilla 1 tiene 15, la 2 tiene 3, la 3 tiene 0 y la 4 tiene 6. Los alumnos en L son 6, 3, 0 y 2, y los R son 4, 0, 0 y 2. La planilla 3 es el caso extremo: tiene legajos con dígitos de más o de menos, nombres de una palabra o muy largos, notas vacías o con tres caracteres y condiciones como LL, RR o Rec, y su imagen de salida dice sin alumnos L/R. Una fila vacía cuenta como registro con todo MAL. Comparamos a mano los 80 registros y coinciden todos.</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s-AR" dirty="0"/>
              <a:t>Acá se ve la validación celda por celda de la planilla 1: verde es OK y rojo es MAL, y cada celda además lleva escrita la palabra OK o MAL. Hay 15 registros correctos de 20, y los únicos MAL son las cinco filas vacías: la 3, la 11, la 14, la 15 y la 20. De los correctos, seis están libres: Bianca Monte, Farias Jorge, Juana Gomez, Amanda Santos, Nahuel Fausto y Julio Foglia. Y cuatro recuperan: Rivas Hugo, Jorge Delgado, Jose Santini y Camila Godoy.</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s-AR" dirty="0"/>
              <a:t>Antes de cerrar, los límites. Primero, la ecualización local amplifica el ruido: el 2,5 por ciento del fondo queda oscuro. Segundo, en el problema uno las zonas de los cuadrados están escritas a mano. Y tercero, el problema dos no lee caracteres, cuenta componentes conectadas, así que con otra tipografía podría fallar. Además, hay decisiones propias que queremos dejar a la vista: el espacio del nombre no cuenta en los 12 caracteres, y esto está pendiente de consultar con la cátedra porque cambiaría el resultado de nombres como Amanda Santos o Nahuel Fausto; una fila vacía da todo MAL; la Ñ contaría como dos caracteres, aunque no aparece en las planillas; y los umbrales son nuestros.</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s-AR" dirty="0"/>
              <a:t>Para cerrar: la ecualización local muestra los cinco detalles y la global no. Elegimos una ventana de 21 por 21, y un mismo script valida las cuatro planillas, con 15, 3, 0 y 6 registros correctos de 20. Sabemos dónde están los límites: el ruido, las zonas escritas a mano y la dependencia de la tipografía. Muchas gracias, quedamos a disposición para las preguntas.</a:t>
            </a:r>
          </a:p>
        </p:txBody>
      </p:sp>
    </p:spTree>
  </p:cSld>
  <p:clrMapOvr>
    <a:masterClrMapping/>
  </p:clrMapOvr>
</p:note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2.xml><?xml version="1.0" encoding="utf-8"?>
<p:sldLayout xmlns:a="http://schemas.openxmlformats.org/drawingml/2006/main" xmlns:p="http://schemas.openxmlformats.org/presentationml/2006/main" xmlns:p14="http://schemas.microsoft.com/office/powerpoint/2010/main" type="cust" preserve="1" showMasterSp="1">
  <p:cSld name="Title Slide">
    <p:spTree>
      <p:nvGrpSpPr>
        <p:cNvPr id="1" name=""/>
        <p:cNvGrpSpPr/>
        <p:nvPr/>
      </p:nvGrpSpPr>
      <p:grpSpPr>
        <a:xfrm>
          <a:off x="0" y="0"/>
          <a:ext cx="0" cy="0"/>
          <a:chOff x="0" y="0"/>
          <a:chExt cx="0" cy="0"/>
        </a:xfrm>
      </p:grpSpPr>
      <p:sp>
        <p:nvSpPr>
          <p:cNvPr id="2" name="title-slide-accent Layout"/>
          <p:cNvSpPr/>
          <p:nvPr/>
        </p:nvSpPr>
        <p:spPr>
          <a:xfrm>
            <a:off x="609600" y="2057400"/>
            <a:ext cx="76200" cy="1828800"/>
          </a:xfrm>
          <a:prstGeom prst="roundRect">
            <a:avLst>
              <a:gd name="adj" fmla="val 50000"/>
            </a:avLst>
          </a:prstGeom>
          <a:solidFill>
            <a:schemeClr val="accent1"/>
          </a:solidFill>
          <a:ln>
            <a:noFill/>
          </a:ln>
        </p:spPr>
      </p:sp>
      <p:sp>
        <p:nvSpPr>
          <p:cNvPr id="3" name="title-slide-title-slot Placeholder"/>
          <p:cNvSpPr>
            <a:spLocks noGrp="1"/>
          </p:cNvSpPr>
          <p:nvPr>
            <p:ph type="title"/>
          </p:nvPr>
        </p:nvSpPr>
        <p:spPr>
          <a:xfrm>
            <a:off x="1066800" y="2057400"/>
            <a:ext cx="10058400" cy="1104900"/>
          </a:xfrm>
          <a:prstGeom prst="rect">
            <a:avLst/>
          </a:prstGeom>
          <a:noFill/>
          <a:ln>
            <a:noFill/>
          </a:ln>
        </p:spPr>
        <p:txBody>
          <a:bodyPr wrap="square" lIns="0" tIns="0" rIns="0" bIns="0" anchor="ctr" anchorCtr="0">
            <a:noAutofit/>
          </a:bodyPr>
          <a:lstStyle>
            <a:lvl1pPr>
              <a:defRPr sz="4200" lang="es-AR"/>
            </a:lvl1pPr>
          </a:lstStyle>
          <a:p>
            <a:pPr algn="l"/>
            <a:r>
              <a:rPr lang="es-AR" sz="4200" b="1" dirty="0">
                <a:solidFill>
                  <a:schemeClr val="accent1"/>
                </a:solidFill>
                <a:latin typeface="+mj-lt"/>
                <a:ea typeface="+mj-ea"/>
                <a:cs typeface="+mj-cs"/>
              </a:rPr>
              <a:t>Click to add title</a:t>
            </a:r>
            <a:endParaRPr lang="es-AR"/>
          </a:p>
        </p:txBody>
      </p:sp>
      <p:sp>
        <p:nvSpPr>
          <p:cNvPr id="4" name="title-slide-subtitle-slot Placeholder"/>
          <p:cNvSpPr>
            <a:spLocks noGrp="1"/>
          </p:cNvSpPr>
          <p:nvPr>
            <p:ph type="subTitle" idx="1"/>
          </p:nvPr>
        </p:nvSpPr>
        <p:spPr>
          <a:xfrm>
            <a:off x="1066800" y="3333750"/>
            <a:ext cx="8382000" cy="609600"/>
          </a:xfrm>
          <a:prstGeom prst="rect">
            <a:avLst/>
          </a:prstGeom>
          <a:noFill/>
          <a:ln>
            <a:noFill/>
          </a:ln>
        </p:spPr>
        <p:txBody>
          <a:bodyPr wrap="square" lIns="0" tIns="0" rIns="0" bIns="0" anchor="ctr" anchorCtr="0">
            <a:noAutofit/>
          </a:bodyPr>
          <a:lstStyle>
            <a:lvl1pPr marL="0" indent="0">
              <a:buNone/>
              <a:defRPr sz="2250" lang="es-AR"/>
            </a:lvl1pPr>
          </a:lstStyle>
          <a:p>
            <a:pPr algn="l" marL="0" indent="0">
              <a:buNone/>
            </a:pPr>
            <a:r>
              <a:rPr lang="es-AR" sz="2250" dirty="0">
                <a:solidFill>
                  <a:schemeClr val="accent3"/>
                </a:solidFill>
                <a:latin typeface="+mj-lt"/>
                <a:ea typeface="+mj-ea"/>
                <a:cs typeface="+mj-cs"/>
              </a:rPr>
              <a:t>Click to add subtitle</a:t>
            </a:r>
            <a:endParaRPr lang="es-AR"/>
          </a:p>
        </p:txBody>
      </p:sp>
    </p:spTree>
    <p:extLst>
      <p:ext uri="{BB962C8B-B14F-4D97-AF65-F5344CB8AC3E}">
        <p14:creationId val="1009404745"/>
      </p:ext>
    </p:extLst>
  </p:cSld>
  <p:clrMapOvr>
    <a:masterClrMapping/>
  </p:clrMapOvr>
</p:sldLayout>
</file>

<file path=ppt/slideLayouts/slideLayout13.xml><?xml version="1.0" encoding="utf-8"?>
<p:sldLayout xmlns:a="http://schemas.openxmlformats.org/drawingml/2006/main" xmlns:p="http://schemas.openxmlformats.org/presentationml/2006/main" xmlns:p14="http://schemas.microsoft.com/office/powerpoint/2010/main" type="cust" preserve="1" showMasterSp="1">
  <p:cSld name="Two Content">
    <p:spTree>
      <p:nvGrpSpPr>
        <p:cNvPr id="1" name=""/>
        <p:cNvGrpSpPr/>
        <p:nvPr/>
      </p:nvGrpSpPr>
      <p:grpSpPr>
        <a:xfrm>
          <a:off x="0" y="0"/>
          <a:ext cx="0" cy="0"/>
          <a:chOff x="0" y="0"/>
          <a:chExt cx="0" cy="0"/>
        </a:xfrm>
      </p:grpSpPr>
      <p:sp>
        <p:nvSpPr>
          <p:cNvPr id="2" name="two-content-left-panel Layout"/>
          <p:cNvSpPr/>
          <p:nvPr/>
        </p:nvSpPr>
        <p:spPr>
          <a:xfrm>
            <a:off x="609600" y="1447800"/>
            <a:ext cx="5257800" cy="4800600"/>
          </a:xfrm>
          <a:prstGeom prst="roundRect">
            <a:avLst>
              <a:gd name="adj" fmla="val 2381"/>
            </a:avLst>
          </a:prstGeom>
          <a:solidFill>
            <a:schemeClr val="lt2"/>
          </a:solidFill>
          <a:ln w="9525">
            <a:solidFill>
              <a:schemeClr val="accent6"/>
            </a:solidFill>
          </a:ln>
        </p:spPr>
      </p:sp>
      <p:sp>
        <p:nvSpPr>
          <p:cNvPr id="3" name="two-content-right-panel Layout"/>
          <p:cNvSpPr/>
          <p:nvPr/>
        </p:nvSpPr>
        <p:spPr>
          <a:xfrm>
            <a:off x="6324600" y="1447800"/>
            <a:ext cx="5257800" cy="4800600"/>
          </a:xfrm>
          <a:prstGeom prst="roundRect">
            <a:avLst>
              <a:gd name="adj" fmla="val 2381"/>
            </a:avLst>
          </a:prstGeom>
          <a:solidFill>
            <a:schemeClr val="lt2"/>
          </a:solidFill>
          <a:ln w="9525">
            <a:solidFill>
              <a:schemeClr val="accent6"/>
            </a:solidFill>
          </a:ln>
        </p:spPr>
      </p:sp>
      <p:sp>
        <p:nvSpPr>
          <p:cNvPr id="4" name="two-content-title-slot Placeholder"/>
          <p:cNvSpPr>
            <a:spLocks noGrp="1"/>
          </p:cNvSpPr>
          <p:nvPr>
            <p:ph type="title"/>
          </p:nvPr>
        </p:nvSpPr>
        <p:spPr>
          <a:xfrm>
            <a:off x="609600" y="381000"/>
            <a:ext cx="10972800" cy="685800"/>
          </a:xfrm>
          <a:prstGeom prst="rect">
            <a:avLst/>
          </a:prstGeom>
          <a:noFill/>
          <a:ln>
            <a:noFill/>
          </a:ln>
        </p:spPr>
        <p:txBody>
          <a:bodyPr wrap="square" lIns="0" tIns="0" rIns="0" bIns="0" anchor="ctr" anchorCtr="0">
            <a:noAutofit/>
          </a:bodyPr>
          <a:lstStyle>
            <a:lvl1pPr>
              <a:defRPr sz="2700" lang="es-AR"/>
            </a:lvl1pPr>
          </a:lstStyle>
          <a:p>
            <a:pPr algn="l"/>
            <a:r>
              <a:rPr lang="es-AR" sz="2700" b="1" dirty="0">
                <a:solidFill>
                  <a:schemeClr val="accent1"/>
                </a:solidFill>
                <a:latin typeface="+mj-lt"/>
                <a:ea typeface="+mj-ea"/>
                <a:cs typeface="+mj-cs"/>
              </a:rPr>
              <a:t>Click to add title</a:t>
            </a:r>
            <a:endParaRPr lang="es-AR"/>
          </a:p>
        </p:txBody>
      </p:sp>
      <p:sp>
        <p:nvSpPr>
          <p:cNvPr id="5" name="two-content-left-slot Placeholder"/>
          <p:cNvSpPr>
            <a:spLocks noGrp="1"/>
          </p:cNvSpPr>
          <p:nvPr>
            <p:ph type="obj" idx="1"/>
          </p:nvPr>
        </p:nvSpPr>
        <p:spPr>
          <a:xfrm>
            <a:off x="838200" y="1676400"/>
            <a:ext cx="4800600" cy="4343400"/>
          </a:xfrm>
          <a:prstGeom prst="rect">
            <a:avLst/>
          </a:prstGeom>
          <a:noFill/>
          <a:ln>
            <a:noFill/>
          </a:ln>
        </p:spPr>
        <p:txBody>
          <a:bodyPr wrap="square" lIns="0" tIns="0" rIns="0" bIns="0" anchor="ctr" anchorCtr="0">
            <a:noAutofit/>
          </a:bodyPr>
          <a:lstStyle>
            <a:lvl1pPr>
              <a:defRPr sz="2100" lang="es-AR"/>
            </a:lvl1pPr>
          </a:lstStyle>
          <a:p>
            <a:pPr algn="l">
              <a:lnSpc>
                <a:spcPts val="2400"/>
              </a:lnSpc>
            </a:pPr>
            <a:r>
              <a:rPr lang="es-AR" sz="2100" b="1" dirty="0">
                <a:solidFill>
                  <a:schemeClr val="accent1"/>
                </a:solidFill>
                <a:latin typeface="+mn-lt"/>
                <a:ea typeface="+mn-ea"/>
                <a:cs typeface="+mn-cs"/>
              </a:rPr>
              <a:t>Click to add content</a:t>
            </a:r>
            <a:endParaRPr lang="es-AR"/>
          </a:p>
        </p:txBody>
      </p:sp>
      <p:sp>
        <p:nvSpPr>
          <p:cNvPr id="6" name="two-content-right-slot Placeholder"/>
          <p:cNvSpPr>
            <a:spLocks noGrp="1"/>
          </p:cNvSpPr>
          <p:nvPr>
            <p:ph type="obj" idx="2"/>
          </p:nvPr>
        </p:nvSpPr>
        <p:spPr>
          <a:xfrm>
            <a:off x="6553200" y="1676400"/>
            <a:ext cx="4800600" cy="4343400"/>
          </a:xfrm>
          <a:prstGeom prst="rect">
            <a:avLst/>
          </a:prstGeom>
          <a:noFill/>
          <a:ln>
            <a:noFill/>
          </a:ln>
        </p:spPr>
        <p:txBody>
          <a:bodyPr wrap="square" lIns="0" tIns="0" rIns="0" bIns="0" anchor="ctr" anchorCtr="0">
            <a:noAutofit/>
          </a:bodyPr>
          <a:lstStyle>
            <a:lvl1pPr>
              <a:defRPr sz="2100" lang="es-AR"/>
            </a:lvl1pPr>
          </a:lstStyle>
          <a:p>
            <a:pPr algn="l">
              <a:lnSpc>
                <a:spcPts val="2400"/>
              </a:lnSpc>
            </a:pPr>
            <a:r>
              <a:rPr lang="es-AR" sz="2100" b="1" dirty="0">
                <a:solidFill>
                  <a:schemeClr val="accent1"/>
                </a:solidFill>
                <a:latin typeface="+mn-lt"/>
                <a:ea typeface="+mn-ea"/>
                <a:cs typeface="+mn-cs"/>
              </a:rPr>
              <a:t>Click to add content</a:t>
            </a:r>
            <a:endParaRPr lang="es-AR"/>
          </a:p>
        </p:txBody>
      </p:sp>
    </p:spTree>
    <p:extLst>
      <p:ext uri="{BB962C8B-B14F-4D97-AF65-F5344CB8AC3E}">
        <p14:creationId val="309012374"/>
      </p:ext>
    </p:extLst>
  </p:cSld>
  <p:clrMapOvr>
    <a:masterClrMapping/>
  </p:clrMapOvr>
</p:sldLayout>
</file>

<file path=ppt/slideLayouts/slideLayout14.xml><?xml version="1.0" encoding="utf-8"?>
<p:sldLayout xmlns:a="http://schemas.openxmlformats.org/drawingml/2006/main" xmlns:p="http://schemas.openxmlformats.org/presentationml/2006/main" xmlns:p14="http://schemas.microsoft.com/office/powerpoint/2010/main" type="cust" preserve="1" showMasterSp="1">
  <p:cSld name="Data Story">
    <p:spTree>
      <p:nvGrpSpPr>
        <p:cNvPr id="1" name=""/>
        <p:cNvGrpSpPr/>
        <p:nvPr/>
      </p:nvGrpSpPr>
      <p:grpSpPr>
        <a:xfrm>
          <a:off x="0" y="0"/>
          <a:ext cx="0" cy="0"/>
          <a:chOff x="0" y="0"/>
          <a:chExt cx="0" cy="0"/>
        </a:xfrm>
      </p:grpSpPr>
      <p:sp>
        <p:nvSpPr>
          <p:cNvPr id="2" name="data-story-evidence-panel Layout"/>
          <p:cNvSpPr/>
          <p:nvPr/>
        </p:nvSpPr>
        <p:spPr>
          <a:xfrm>
            <a:off x="609600" y="1447800"/>
            <a:ext cx="7239000" cy="4343400"/>
          </a:xfrm>
          <a:prstGeom prst="roundRect">
            <a:avLst>
              <a:gd name="adj" fmla="val 2632"/>
            </a:avLst>
          </a:prstGeom>
          <a:solidFill>
            <a:schemeClr val="lt2"/>
          </a:solidFill>
          <a:ln w="9525">
            <a:solidFill>
              <a:schemeClr val="accent6"/>
            </a:solidFill>
          </a:ln>
        </p:spPr>
      </p:sp>
      <p:sp>
        <p:nvSpPr>
          <p:cNvPr id="3" name="data-story-insight-panel Layout"/>
          <p:cNvSpPr/>
          <p:nvPr/>
        </p:nvSpPr>
        <p:spPr>
          <a:xfrm>
            <a:off x="8153400" y="1447800"/>
            <a:ext cx="3429000" cy="4343400"/>
          </a:xfrm>
          <a:prstGeom prst="roundRect">
            <a:avLst>
              <a:gd name="adj" fmla="val 3333"/>
            </a:avLst>
          </a:prstGeom>
          <a:solidFill>
            <a:schemeClr val="lt2"/>
          </a:solidFill>
          <a:ln w="9525">
            <a:solidFill>
              <a:schemeClr val="accent6"/>
            </a:solidFill>
          </a:ln>
        </p:spPr>
      </p:sp>
      <p:sp>
        <p:nvSpPr>
          <p:cNvPr id="4" name="data-story-source-rule Layout"/>
          <p:cNvSpPr/>
          <p:nvPr/>
        </p:nvSpPr>
        <p:spPr>
          <a:xfrm>
            <a:off x="609600" y="6019800"/>
            <a:ext cx="10972800" cy="19050"/>
          </a:xfrm>
          <a:prstGeom prst="rect">
            <a:avLst/>
          </a:prstGeom>
          <a:solidFill>
            <a:schemeClr val="accent6"/>
          </a:solidFill>
          <a:ln>
            <a:noFill/>
          </a:ln>
        </p:spPr>
      </p:sp>
      <p:sp>
        <p:nvSpPr>
          <p:cNvPr id="5" name="data-story-title-slot Placeholder"/>
          <p:cNvSpPr>
            <a:spLocks noGrp="1"/>
          </p:cNvSpPr>
          <p:nvPr>
            <p:ph type="title"/>
          </p:nvPr>
        </p:nvSpPr>
        <p:spPr>
          <a:xfrm>
            <a:off x="609600" y="381000"/>
            <a:ext cx="10972800" cy="685800"/>
          </a:xfrm>
          <a:prstGeom prst="rect">
            <a:avLst/>
          </a:prstGeom>
          <a:noFill/>
          <a:ln>
            <a:noFill/>
          </a:ln>
        </p:spPr>
        <p:txBody>
          <a:bodyPr wrap="square" lIns="0" tIns="0" rIns="0" bIns="0" anchor="ctr" anchorCtr="0">
            <a:noAutofit/>
          </a:bodyPr>
          <a:lstStyle>
            <a:lvl1pPr>
              <a:defRPr sz="2700" lang="es-AR"/>
            </a:lvl1pPr>
          </a:lstStyle>
          <a:p>
            <a:pPr algn="l"/>
            <a:r>
              <a:rPr lang="es-AR" sz="2700" b="1" dirty="0">
                <a:solidFill>
                  <a:schemeClr val="accent1"/>
                </a:solidFill>
                <a:latin typeface="+mj-lt"/>
                <a:ea typeface="+mj-ea"/>
                <a:cs typeface="+mj-cs"/>
              </a:rPr>
              <a:t>Click to add title</a:t>
            </a:r>
            <a:endParaRPr lang="es-AR"/>
          </a:p>
        </p:txBody>
      </p:sp>
      <p:sp>
        <p:nvSpPr>
          <p:cNvPr id="6" name="data-story-evidence-slot Placeholder"/>
          <p:cNvSpPr>
            <a:spLocks noGrp="1"/>
          </p:cNvSpPr>
          <p:nvPr>
            <p:ph type="obj" idx="1"/>
          </p:nvPr>
        </p:nvSpPr>
        <p:spPr>
          <a:xfrm>
            <a:off x="838200" y="1676400"/>
            <a:ext cx="6781800" cy="3886200"/>
          </a:xfrm>
          <a:prstGeom prst="rect">
            <a:avLst/>
          </a:prstGeom>
          <a:noFill/>
          <a:ln>
            <a:noFill/>
          </a:ln>
        </p:spPr>
        <p:txBody>
          <a:bodyPr wrap="square" lIns="0" tIns="0" rIns="0" bIns="0" anchor="t" anchorCtr="0">
            <a:noAutofit/>
          </a:bodyPr>
          <a:lstStyle>
            <a:lvl1pPr>
              <a:defRPr sz="1350" lang="es-AR"/>
            </a:lvl1pPr>
          </a:lstStyle>
          <a:p>
            <a:pPr algn="l"/>
            <a:r>
              <a:rPr lang="es-AR" sz="1350" dirty="0">
                <a:solidFill>
                  <a:schemeClr val="accent5"/>
                </a:solidFill>
                <a:latin typeface="+mn-lt"/>
                <a:ea typeface="+mn-ea"/>
                <a:cs typeface="+mn-cs"/>
              </a:rPr>
              <a:t>Click to add content</a:t>
            </a:r>
            <a:endParaRPr lang="es-AR"/>
          </a:p>
        </p:txBody>
      </p:sp>
      <p:sp>
        <p:nvSpPr>
          <p:cNvPr id="7" name="data-story-insight-slot Placeholder"/>
          <p:cNvSpPr>
            <a:spLocks noGrp="1"/>
          </p:cNvSpPr>
          <p:nvPr>
            <p:ph type="body" idx="2"/>
          </p:nvPr>
        </p:nvSpPr>
        <p:spPr>
          <a:xfrm>
            <a:off x="8458200" y="1752600"/>
            <a:ext cx="2819400" cy="3429000"/>
          </a:xfrm>
          <a:prstGeom prst="rect">
            <a:avLst/>
          </a:prstGeom>
          <a:noFill/>
          <a:ln>
            <a:noFill/>
          </a:ln>
        </p:spPr>
        <p:txBody>
          <a:bodyPr wrap="square" lIns="0" tIns="0" rIns="0" bIns="0" anchor="ctr" anchorCtr="0">
            <a:noAutofit/>
          </a:bodyPr>
          <a:lstStyle>
            <a:lvl1pPr marL="0" indent="0">
              <a:buNone/>
              <a:defRPr sz="1800" lang="es-AR"/>
            </a:lvl1pPr>
          </a:lstStyle>
          <a:p>
            <a:pPr algn="l" marL="0" indent="0">
              <a:lnSpc>
                <a:spcPts val="2400"/>
              </a:lnSpc>
              <a:buNone/>
            </a:pPr>
            <a:r>
              <a:rPr lang="es-AR" sz="1800" b="1" dirty="0">
                <a:solidFill>
                  <a:schemeClr val="accent1"/>
                </a:solidFill>
                <a:latin typeface="+mn-lt"/>
                <a:ea typeface="+mn-ea"/>
                <a:cs typeface="+mn-cs"/>
              </a:rPr>
              <a:t>Click to add text</a:t>
            </a:r>
            <a:endParaRPr lang="es-AR"/>
          </a:p>
        </p:txBody>
      </p:sp>
      <p:sp>
        <p:nvSpPr>
          <p:cNvPr id="8" name="data-story-source-slot Placeholder"/>
          <p:cNvSpPr>
            <a:spLocks noGrp="1"/>
          </p:cNvSpPr>
          <p:nvPr>
            <p:ph type="ftr" idx="3"/>
          </p:nvPr>
        </p:nvSpPr>
        <p:spPr>
          <a:xfrm>
            <a:off x="609600" y="6172200"/>
            <a:ext cx="10972800" cy="304800"/>
          </a:xfrm>
          <a:prstGeom prst="rect">
            <a:avLst/>
          </a:prstGeom>
          <a:noFill/>
          <a:ln>
            <a:noFill/>
          </a:ln>
        </p:spPr>
        <p:txBody>
          <a:bodyPr wrap="square" lIns="0" tIns="0" rIns="0" bIns="0" anchor="ctr" anchorCtr="0">
            <a:noAutofit/>
          </a:bodyPr>
          <a:lstStyle>
            <a:lvl1pPr>
              <a:defRPr sz="1050" lang="es-AR"/>
            </a:lvl1pPr>
          </a:lstStyle>
          <a:p>
            <a:pPr algn="l"/>
            <a:r>
              <a:rPr lang="es-AR" sz="1050" dirty="0">
                <a:solidFill>
                  <a:schemeClr val="accent5"/>
                </a:solidFill>
                <a:latin typeface="+mn-lt"/>
                <a:ea typeface="+mn-ea"/>
                <a:cs typeface="+mn-cs"/>
              </a:rPr>
              <a:t>Footer</a:t>
            </a:r>
            <a:endParaRPr lang="es-AR"/>
          </a:p>
        </p:txBody>
      </p:sp>
    </p:spTree>
    <p:extLst>
      <p:ext uri="{BB962C8B-B14F-4D97-AF65-F5344CB8AC3E}">
        <p14:creationId val="4160462919"/>
      </p:ext>
    </p:extLst>
  </p:cSld>
  <p:clrMapOvr>
    <a:masterClrMapping/>
  </p:clrMapOvr>
  <p:hf hdr="0" dt="0" ftr="1" sldNum="0"/>
</p:sldLayout>
</file>

<file path=ppt/slideLayouts/slideLayout15.xml><?xml version="1.0" encoding="utf-8"?>
<p:sldLayout xmlns:a="http://schemas.openxmlformats.org/drawingml/2006/main" xmlns:p="http://schemas.openxmlformats.org/presentationml/2006/main" xmlns:p14="http://schemas.microsoft.com/office/powerpoint/2010/main" type="cust" preserve="1" showMasterSp="1">
  <p:cSld name="Comparison">
    <p:spTree>
      <p:nvGrpSpPr>
        <p:cNvPr id="1" name=""/>
        <p:cNvGrpSpPr/>
        <p:nvPr/>
      </p:nvGrpSpPr>
      <p:grpSpPr>
        <a:xfrm>
          <a:off x="0" y="0"/>
          <a:ext cx="0" cy="0"/>
          <a:chOff x="0" y="0"/>
          <a:chExt cx="0" cy="0"/>
        </a:xfrm>
      </p:grpSpPr>
      <p:sp>
        <p:nvSpPr>
          <p:cNvPr id="2" name="comparison-left-panel Layout"/>
          <p:cNvSpPr/>
          <p:nvPr/>
        </p:nvSpPr>
        <p:spPr>
          <a:xfrm>
            <a:off x="609600" y="1447800"/>
            <a:ext cx="5257800" cy="4800600"/>
          </a:xfrm>
          <a:prstGeom prst="roundRect">
            <a:avLst>
              <a:gd name="adj" fmla="val 2381"/>
            </a:avLst>
          </a:prstGeom>
          <a:solidFill>
            <a:schemeClr val="lt2"/>
          </a:solidFill>
          <a:ln w="9525">
            <a:solidFill>
              <a:schemeClr val="accent6"/>
            </a:solidFill>
          </a:ln>
        </p:spPr>
      </p:sp>
      <p:sp>
        <p:nvSpPr>
          <p:cNvPr id="3" name="comparison-right-panel Layout"/>
          <p:cNvSpPr/>
          <p:nvPr/>
        </p:nvSpPr>
        <p:spPr>
          <a:xfrm>
            <a:off x="6324600" y="1447800"/>
            <a:ext cx="5257800" cy="4800600"/>
          </a:xfrm>
          <a:prstGeom prst="roundRect">
            <a:avLst>
              <a:gd name="adj" fmla="val 2381"/>
            </a:avLst>
          </a:prstGeom>
          <a:solidFill>
            <a:schemeClr val="lt2"/>
          </a:solidFill>
          <a:ln w="9525">
            <a:solidFill>
              <a:schemeClr val="accent6"/>
            </a:solidFill>
          </a:ln>
        </p:spPr>
      </p:sp>
      <p:sp>
        <p:nvSpPr>
          <p:cNvPr id="4" name="comparison-divider Layout"/>
          <p:cNvSpPr/>
          <p:nvPr/>
        </p:nvSpPr>
        <p:spPr>
          <a:xfrm>
            <a:off x="6076950" y="1752600"/>
            <a:ext cx="38100" cy="4191000"/>
          </a:xfrm>
          <a:prstGeom prst="roundRect">
            <a:avLst>
              <a:gd name="adj" fmla="val 50000"/>
            </a:avLst>
          </a:prstGeom>
          <a:solidFill>
            <a:schemeClr val="accent6"/>
          </a:solidFill>
          <a:ln>
            <a:noFill/>
          </a:ln>
        </p:spPr>
      </p:sp>
      <p:sp>
        <p:nvSpPr>
          <p:cNvPr id="5" name="comparison-title-slot Placeholder"/>
          <p:cNvSpPr>
            <a:spLocks noGrp="1"/>
          </p:cNvSpPr>
          <p:nvPr>
            <p:ph type="title"/>
          </p:nvPr>
        </p:nvSpPr>
        <p:spPr>
          <a:xfrm>
            <a:off x="609600" y="381000"/>
            <a:ext cx="10972800" cy="685800"/>
          </a:xfrm>
          <a:prstGeom prst="rect">
            <a:avLst/>
          </a:prstGeom>
          <a:noFill/>
          <a:ln>
            <a:noFill/>
          </a:ln>
        </p:spPr>
        <p:txBody>
          <a:bodyPr wrap="square" lIns="0" tIns="0" rIns="0" bIns="0" anchor="ctr" anchorCtr="0">
            <a:noAutofit/>
          </a:bodyPr>
          <a:lstStyle>
            <a:lvl1pPr>
              <a:defRPr sz="2700" lang="es-AR"/>
            </a:lvl1pPr>
          </a:lstStyle>
          <a:p>
            <a:pPr algn="l"/>
            <a:r>
              <a:rPr lang="es-AR" sz="2700" b="1" dirty="0">
                <a:solidFill>
                  <a:schemeClr val="accent1"/>
                </a:solidFill>
                <a:latin typeface="+mj-lt"/>
                <a:ea typeface="+mj-ea"/>
                <a:cs typeface="+mj-cs"/>
              </a:rPr>
              <a:t>Click to add title</a:t>
            </a:r>
            <a:endParaRPr lang="es-AR"/>
          </a:p>
        </p:txBody>
      </p:sp>
      <p:sp>
        <p:nvSpPr>
          <p:cNvPr id="6" name="comparison-left-title-slot Placeholder"/>
          <p:cNvSpPr>
            <a:spLocks noGrp="1"/>
          </p:cNvSpPr>
          <p:nvPr>
            <p:ph type="body" idx="1"/>
          </p:nvPr>
        </p:nvSpPr>
        <p:spPr>
          <a:xfrm>
            <a:off x="838200" y="1676400"/>
            <a:ext cx="4800600" cy="533400"/>
          </a:xfrm>
          <a:prstGeom prst="rect">
            <a:avLst/>
          </a:prstGeom>
          <a:noFill/>
          <a:ln>
            <a:noFill/>
          </a:ln>
        </p:spPr>
        <p:txBody>
          <a:bodyPr wrap="square" lIns="0" tIns="0" rIns="0" bIns="0" anchor="ctr" anchorCtr="0">
            <a:noAutofit/>
          </a:bodyPr>
          <a:lstStyle>
            <a:lvl1pPr marL="0" indent="0">
              <a:buNone/>
              <a:defRPr sz="1800" lang="es-AR"/>
            </a:lvl1pPr>
          </a:lstStyle>
          <a:p>
            <a:pPr algn="l" marL="0" indent="0">
              <a:buNone/>
            </a:pPr>
            <a:r>
              <a:rPr lang="es-AR" sz="1800" b="1" dirty="0">
                <a:solidFill>
                  <a:schemeClr val="accent1"/>
                </a:solidFill>
                <a:latin typeface="+mj-lt"/>
                <a:ea typeface="+mj-ea"/>
                <a:cs typeface="+mj-cs"/>
              </a:rPr>
              <a:t>Click to add text</a:t>
            </a:r>
            <a:endParaRPr lang="es-AR"/>
          </a:p>
        </p:txBody>
      </p:sp>
      <p:sp>
        <p:nvSpPr>
          <p:cNvPr id="7" name="comparison-left-content-slot Placeholder"/>
          <p:cNvSpPr>
            <a:spLocks noGrp="1"/>
          </p:cNvSpPr>
          <p:nvPr>
            <p:ph type="obj" idx="2"/>
          </p:nvPr>
        </p:nvSpPr>
        <p:spPr>
          <a:xfrm>
            <a:off x="838200" y="2362200"/>
            <a:ext cx="4800600" cy="3581400"/>
          </a:xfrm>
          <a:prstGeom prst="rect">
            <a:avLst/>
          </a:prstGeom>
          <a:noFill/>
          <a:ln>
            <a:noFill/>
          </a:ln>
        </p:spPr>
        <p:txBody>
          <a:bodyPr wrap="square" lIns="0" tIns="0" rIns="0" bIns="0" anchor="ctr" anchorCtr="0">
            <a:noAutofit/>
          </a:bodyPr>
          <a:lstStyle>
            <a:lvl1pPr>
              <a:defRPr sz="1350" lang="es-AR"/>
            </a:lvl1pPr>
          </a:lstStyle>
          <a:p>
            <a:pPr algn="l">
              <a:lnSpc>
                <a:spcPts val="2400"/>
              </a:lnSpc>
            </a:pPr>
            <a:r>
              <a:rPr lang="es-AR" sz="1350" b="1" dirty="0">
                <a:solidFill>
                  <a:schemeClr val="accent5"/>
                </a:solidFill>
                <a:latin typeface="+mn-lt"/>
                <a:ea typeface="+mn-ea"/>
                <a:cs typeface="+mn-cs"/>
              </a:rPr>
              <a:t>Click to add content</a:t>
            </a:r>
            <a:endParaRPr lang="es-AR"/>
          </a:p>
        </p:txBody>
      </p:sp>
      <p:sp>
        <p:nvSpPr>
          <p:cNvPr id="8" name="comparison-right-title-slot Placeholder"/>
          <p:cNvSpPr>
            <a:spLocks noGrp="1"/>
          </p:cNvSpPr>
          <p:nvPr>
            <p:ph type="body" idx="3"/>
          </p:nvPr>
        </p:nvSpPr>
        <p:spPr>
          <a:xfrm>
            <a:off x="6553200" y="1676400"/>
            <a:ext cx="4800600" cy="533400"/>
          </a:xfrm>
          <a:prstGeom prst="rect">
            <a:avLst/>
          </a:prstGeom>
          <a:noFill/>
          <a:ln>
            <a:noFill/>
          </a:ln>
        </p:spPr>
        <p:txBody>
          <a:bodyPr wrap="square" lIns="0" tIns="0" rIns="0" bIns="0" anchor="ctr" anchorCtr="0">
            <a:noAutofit/>
          </a:bodyPr>
          <a:lstStyle>
            <a:lvl1pPr marL="0" indent="0">
              <a:buNone/>
              <a:defRPr sz="1800" lang="es-AR"/>
            </a:lvl1pPr>
          </a:lstStyle>
          <a:p>
            <a:pPr algn="l" marL="0" indent="0">
              <a:buNone/>
            </a:pPr>
            <a:r>
              <a:rPr lang="es-AR" sz="1800" b="1" dirty="0">
                <a:solidFill>
                  <a:schemeClr val="accent3"/>
                </a:solidFill>
                <a:latin typeface="+mj-lt"/>
                <a:ea typeface="+mj-ea"/>
                <a:cs typeface="+mj-cs"/>
              </a:rPr>
              <a:t>Click to add text</a:t>
            </a:r>
            <a:endParaRPr lang="es-AR"/>
          </a:p>
        </p:txBody>
      </p:sp>
      <p:sp>
        <p:nvSpPr>
          <p:cNvPr id="9" name="comparison-right-content-slot Placeholder"/>
          <p:cNvSpPr>
            <a:spLocks noGrp="1"/>
          </p:cNvSpPr>
          <p:nvPr>
            <p:ph type="obj" idx="4"/>
          </p:nvPr>
        </p:nvSpPr>
        <p:spPr>
          <a:xfrm>
            <a:off x="6553200" y="2362200"/>
            <a:ext cx="4800600" cy="3581400"/>
          </a:xfrm>
          <a:prstGeom prst="rect">
            <a:avLst/>
          </a:prstGeom>
          <a:noFill/>
          <a:ln>
            <a:noFill/>
          </a:ln>
        </p:spPr>
        <p:txBody>
          <a:bodyPr wrap="square" lIns="0" tIns="0" rIns="0" bIns="0" anchor="ctr" anchorCtr="0">
            <a:noAutofit/>
          </a:bodyPr>
          <a:lstStyle>
            <a:lvl1pPr>
              <a:defRPr sz="1350" lang="es-AR"/>
            </a:lvl1pPr>
          </a:lstStyle>
          <a:p>
            <a:pPr algn="l">
              <a:lnSpc>
                <a:spcPts val="2400"/>
              </a:lnSpc>
            </a:pPr>
            <a:r>
              <a:rPr lang="es-AR" sz="1350" b="1" dirty="0">
                <a:solidFill>
                  <a:schemeClr val="accent5"/>
                </a:solidFill>
                <a:latin typeface="+mn-lt"/>
                <a:ea typeface="+mn-ea"/>
                <a:cs typeface="+mn-cs"/>
              </a:rPr>
              <a:t>Click to add content</a:t>
            </a:r>
            <a:endParaRPr lang="es-AR"/>
          </a:p>
        </p:txBody>
      </p:sp>
    </p:spTree>
    <p:extLst>
      <p:ext uri="{BB962C8B-B14F-4D97-AF65-F5344CB8AC3E}">
        <p14:creationId val="4069153306"/>
      </p:ext>
    </p:extLst>
  </p:cSld>
  <p:clrMapOvr>
    <a:masterClrMapping/>
  </p:clrMapOvr>
</p:sldLayout>
</file>

<file path=ppt/slideLayouts/slideLayout16.xml><?xml version="1.0" encoding="utf-8"?>
<p:sldLayout xmlns:a="http://schemas.openxmlformats.org/drawingml/2006/main" xmlns:p="http://schemas.openxmlformats.org/presentationml/2006/main" xmlns:p14="http://schemas.microsoft.com/office/powerpoint/2010/main" type="cust" preserve="1" showMasterSp="1">
  <p:cSld name="Process Timeline">
    <p:spTree>
      <p:nvGrpSpPr>
        <p:cNvPr id="1" name=""/>
        <p:cNvGrpSpPr/>
        <p:nvPr/>
      </p:nvGrpSpPr>
      <p:grpSpPr>
        <a:xfrm>
          <a:off x="0" y="0"/>
          <a:ext cx="0" cy="0"/>
          <a:chOff x="0" y="0"/>
          <a:chExt cx="0" cy="0"/>
        </a:xfrm>
      </p:grpSpPr>
      <p:sp>
        <p:nvSpPr>
          <p:cNvPr id="2" name="process-timeline-axis Layout"/>
          <p:cNvSpPr/>
          <p:nvPr/>
        </p:nvSpPr>
        <p:spPr>
          <a:xfrm>
            <a:off x="1866900" y="2438400"/>
            <a:ext cx="8458200" cy="9525"/>
          </a:xfrm>
          <a:custGeom>
            <a:avLst/>
            <a:gdLst/>
            <a:ahLst/>
            <a:cxnLst/>
            <a:rect l="l" t="t" r="r" b="b"/>
            <a:pathLst>
              <a:path w="8458200" h="9525">
                <a:moveTo>
                  <a:pt x="0" y="0"/>
                </a:moveTo>
                <a:lnTo>
                  <a:pt x="8458200" y="0"/>
                </a:lnTo>
              </a:path>
            </a:pathLst>
          </a:custGeom>
          <a:noFill/>
          <a:ln w="38100">
            <a:solidFill>
              <a:schemeClr val="accent6"/>
            </a:solidFill>
          </a:ln>
        </p:spPr>
      </p:sp>
      <p:sp>
        <p:nvSpPr>
          <p:cNvPr id="3" name="process-timeline-node-one Layout"/>
          <p:cNvSpPr/>
          <p:nvPr/>
        </p:nvSpPr>
        <p:spPr>
          <a:xfrm>
            <a:off x="1752600" y="2324100"/>
            <a:ext cx="228600" cy="228600"/>
          </a:xfrm>
          <a:prstGeom prst="ellipse">
            <a:avLst/>
          </a:prstGeom>
          <a:solidFill>
            <a:schemeClr val="lt1"/>
          </a:solidFill>
          <a:ln w="38100">
            <a:solidFill>
              <a:schemeClr val="accent1"/>
            </a:solidFill>
          </a:ln>
        </p:spPr>
      </p:sp>
      <p:sp>
        <p:nvSpPr>
          <p:cNvPr id="4" name="process-timeline-node-two Layout"/>
          <p:cNvSpPr/>
          <p:nvPr/>
        </p:nvSpPr>
        <p:spPr>
          <a:xfrm>
            <a:off x="4572000" y="2324100"/>
            <a:ext cx="228600" cy="228600"/>
          </a:xfrm>
          <a:prstGeom prst="ellipse">
            <a:avLst/>
          </a:prstGeom>
          <a:solidFill>
            <a:schemeClr val="lt1"/>
          </a:solidFill>
          <a:ln w="38100">
            <a:solidFill>
              <a:schemeClr val="accent1"/>
            </a:solidFill>
          </a:ln>
        </p:spPr>
      </p:sp>
      <p:sp>
        <p:nvSpPr>
          <p:cNvPr id="5" name="process-timeline-node-three Layout"/>
          <p:cNvSpPr/>
          <p:nvPr/>
        </p:nvSpPr>
        <p:spPr>
          <a:xfrm>
            <a:off x="7391400" y="2324100"/>
            <a:ext cx="228600" cy="228600"/>
          </a:xfrm>
          <a:prstGeom prst="ellipse">
            <a:avLst/>
          </a:prstGeom>
          <a:solidFill>
            <a:schemeClr val="lt1"/>
          </a:solidFill>
          <a:ln w="38100">
            <a:solidFill>
              <a:schemeClr val="accent1"/>
            </a:solidFill>
          </a:ln>
        </p:spPr>
      </p:sp>
      <p:sp>
        <p:nvSpPr>
          <p:cNvPr id="6" name="process-timeline-node-four Layout"/>
          <p:cNvSpPr/>
          <p:nvPr/>
        </p:nvSpPr>
        <p:spPr>
          <a:xfrm>
            <a:off x="10210800" y="2324100"/>
            <a:ext cx="228600" cy="228600"/>
          </a:xfrm>
          <a:prstGeom prst="ellipse">
            <a:avLst/>
          </a:prstGeom>
          <a:solidFill>
            <a:schemeClr val="lt1"/>
          </a:solidFill>
          <a:ln w="38100">
            <a:solidFill>
              <a:schemeClr val="accent1"/>
            </a:solidFill>
          </a:ln>
        </p:spPr>
      </p:sp>
      <p:sp>
        <p:nvSpPr>
          <p:cNvPr id="7" name="process-timeline-takeaway-panel Layout"/>
          <p:cNvSpPr/>
          <p:nvPr/>
        </p:nvSpPr>
        <p:spPr>
          <a:xfrm>
            <a:off x="609600" y="5410200"/>
            <a:ext cx="10972800" cy="685800"/>
          </a:xfrm>
          <a:prstGeom prst="roundRect">
            <a:avLst>
              <a:gd name="adj" fmla="val 16667"/>
            </a:avLst>
          </a:prstGeom>
          <a:solidFill>
            <a:schemeClr val="lt2"/>
          </a:solidFill>
          <a:ln w="9525">
            <a:solidFill>
              <a:schemeClr val="accent6"/>
            </a:solidFill>
          </a:ln>
        </p:spPr>
      </p:sp>
      <p:sp>
        <p:nvSpPr>
          <p:cNvPr id="8" name="process-timeline-title-slot Placeholder"/>
          <p:cNvSpPr>
            <a:spLocks noGrp="1"/>
          </p:cNvSpPr>
          <p:nvPr>
            <p:ph type="title"/>
          </p:nvPr>
        </p:nvSpPr>
        <p:spPr>
          <a:xfrm>
            <a:off x="609600" y="381000"/>
            <a:ext cx="10972800" cy="685800"/>
          </a:xfrm>
          <a:prstGeom prst="rect">
            <a:avLst/>
          </a:prstGeom>
          <a:noFill/>
          <a:ln>
            <a:noFill/>
          </a:ln>
        </p:spPr>
        <p:txBody>
          <a:bodyPr wrap="square" lIns="0" tIns="0" rIns="0" bIns="0" anchor="ctr" anchorCtr="0">
            <a:noAutofit/>
          </a:bodyPr>
          <a:lstStyle>
            <a:lvl1pPr>
              <a:defRPr sz="2700" lang="es-AR"/>
            </a:lvl1pPr>
          </a:lstStyle>
          <a:p>
            <a:pPr algn="l"/>
            <a:r>
              <a:rPr lang="es-AR" sz="2700" b="1" dirty="0">
                <a:solidFill>
                  <a:schemeClr val="accent1"/>
                </a:solidFill>
                <a:latin typeface="+mj-lt"/>
                <a:ea typeface="+mj-ea"/>
                <a:cs typeface="+mj-cs"/>
              </a:rPr>
              <a:t>Click to add title</a:t>
            </a:r>
            <a:endParaRPr lang="es-AR"/>
          </a:p>
        </p:txBody>
      </p:sp>
      <p:sp>
        <p:nvSpPr>
          <p:cNvPr id="9" name="process-timeline-one-slot Placeholder"/>
          <p:cNvSpPr>
            <a:spLocks noGrp="1"/>
          </p:cNvSpPr>
          <p:nvPr>
            <p:ph type="obj" idx="1"/>
          </p:nvPr>
        </p:nvSpPr>
        <p:spPr>
          <a:xfrm>
            <a:off x="762000" y="1600200"/>
            <a:ext cx="2209800" cy="3276600"/>
          </a:xfrm>
          <a:prstGeom prst="rect">
            <a:avLst/>
          </a:prstGeom>
          <a:noFill/>
          <a:ln>
            <a:noFill/>
          </a:ln>
        </p:spPr>
        <p:txBody>
          <a:bodyPr wrap="square" lIns="0" tIns="0" rIns="0" bIns="0" anchor="ctr" anchorCtr="0">
            <a:noAutofit/>
          </a:bodyPr>
          <a:lstStyle>
            <a:lvl1pPr>
              <a:defRPr sz="2100" lang="es-AR"/>
            </a:lvl1pPr>
          </a:lstStyle>
          <a:p>
            <a:pPr algn="ctr">
              <a:lnSpc>
                <a:spcPts val="2400"/>
              </a:lnSpc>
            </a:pPr>
            <a:r>
              <a:rPr lang="es-AR" sz="2100" b="1" dirty="0">
                <a:solidFill>
                  <a:schemeClr val="accent1"/>
                </a:solidFill>
                <a:latin typeface="+mn-lt"/>
                <a:ea typeface="+mn-ea"/>
                <a:cs typeface="+mn-cs"/>
              </a:rPr>
              <a:t>Click to add content</a:t>
            </a:r>
            <a:endParaRPr lang="es-AR"/>
          </a:p>
        </p:txBody>
      </p:sp>
      <p:sp>
        <p:nvSpPr>
          <p:cNvPr id="10" name="process-timeline-two-slot Placeholder"/>
          <p:cNvSpPr>
            <a:spLocks noGrp="1"/>
          </p:cNvSpPr>
          <p:nvPr>
            <p:ph type="obj" idx="2"/>
          </p:nvPr>
        </p:nvSpPr>
        <p:spPr>
          <a:xfrm>
            <a:off x="3581400" y="1600200"/>
            <a:ext cx="2209800" cy="3276600"/>
          </a:xfrm>
          <a:prstGeom prst="rect">
            <a:avLst/>
          </a:prstGeom>
          <a:noFill/>
          <a:ln>
            <a:noFill/>
          </a:ln>
        </p:spPr>
        <p:txBody>
          <a:bodyPr wrap="square" lIns="0" tIns="0" rIns="0" bIns="0" anchor="ctr" anchorCtr="0">
            <a:noAutofit/>
          </a:bodyPr>
          <a:lstStyle>
            <a:lvl1pPr>
              <a:defRPr sz="2100" lang="es-AR"/>
            </a:lvl1pPr>
          </a:lstStyle>
          <a:p>
            <a:pPr algn="ctr">
              <a:lnSpc>
                <a:spcPts val="2400"/>
              </a:lnSpc>
            </a:pPr>
            <a:r>
              <a:rPr lang="es-AR" sz="2100" b="1" dirty="0">
                <a:solidFill>
                  <a:schemeClr val="accent1"/>
                </a:solidFill>
                <a:latin typeface="+mn-lt"/>
                <a:ea typeface="+mn-ea"/>
                <a:cs typeface="+mn-cs"/>
              </a:rPr>
              <a:t>Click to add content</a:t>
            </a:r>
            <a:endParaRPr lang="es-AR"/>
          </a:p>
        </p:txBody>
      </p:sp>
      <p:sp>
        <p:nvSpPr>
          <p:cNvPr id="11" name="process-timeline-three-slot Placeholder"/>
          <p:cNvSpPr>
            <a:spLocks noGrp="1"/>
          </p:cNvSpPr>
          <p:nvPr>
            <p:ph type="obj" idx="3"/>
          </p:nvPr>
        </p:nvSpPr>
        <p:spPr>
          <a:xfrm>
            <a:off x="6400800" y="1600200"/>
            <a:ext cx="2209800" cy="3276600"/>
          </a:xfrm>
          <a:prstGeom prst="rect">
            <a:avLst/>
          </a:prstGeom>
          <a:noFill/>
          <a:ln>
            <a:noFill/>
          </a:ln>
        </p:spPr>
        <p:txBody>
          <a:bodyPr wrap="square" lIns="0" tIns="0" rIns="0" bIns="0" anchor="ctr" anchorCtr="0">
            <a:noAutofit/>
          </a:bodyPr>
          <a:lstStyle>
            <a:lvl1pPr>
              <a:defRPr sz="2100" lang="es-AR"/>
            </a:lvl1pPr>
          </a:lstStyle>
          <a:p>
            <a:pPr algn="ctr">
              <a:lnSpc>
                <a:spcPts val="2400"/>
              </a:lnSpc>
            </a:pPr>
            <a:r>
              <a:rPr lang="es-AR" sz="2100" b="1" dirty="0">
                <a:solidFill>
                  <a:schemeClr val="accent1"/>
                </a:solidFill>
                <a:latin typeface="+mn-lt"/>
                <a:ea typeface="+mn-ea"/>
                <a:cs typeface="+mn-cs"/>
              </a:rPr>
              <a:t>Click to add content</a:t>
            </a:r>
            <a:endParaRPr lang="es-AR"/>
          </a:p>
        </p:txBody>
      </p:sp>
      <p:sp>
        <p:nvSpPr>
          <p:cNvPr id="12" name="process-timeline-four-slot Placeholder"/>
          <p:cNvSpPr>
            <a:spLocks noGrp="1"/>
          </p:cNvSpPr>
          <p:nvPr>
            <p:ph type="obj" idx="4"/>
          </p:nvPr>
        </p:nvSpPr>
        <p:spPr>
          <a:xfrm>
            <a:off x="9220200" y="1600200"/>
            <a:ext cx="2209800" cy="3276600"/>
          </a:xfrm>
          <a:prstGeom prst="rect">
            <a:avLst/>
          </a:prstGeom>
          <a:noFill/>
          <a:ln>
            <a:noFill/>
          </a:ln>
        </p:spPr>
        <p:txBody>
          <a:bodyPr wrap="square" lIns="0" tIns="0" rIns="0" bIns="0" anchor="ctr" anchorCtr="0">
            <a:noAutofit/>
          </a:bodyPr>
          <a:lstStyle>
            <a:lvl1pPr>
              <a:defRPr sz="2100" lang="es-AR"/>
            </a:lvl1pPr>
          </a:lstStyle>
          <a:p>
            <a:pPr algn="ctr">
              <a:lnSpc>
                <a:spcPts val="2400"/>
              </a:lnSpc>
            </a:pPr>
            <a:r>
              <a:rPr lang="es-AR" sz="2100" b="1" dirty="0">
                <a:solidFill>
                  <a:schemeClr val="accent1"/>
                </a:solidFill>
                <a:latin typeface="+mn-lt"/>
                <a:ea typeface="+mn-ea"/>
                <a:cs typeface="+mn-cs"/>
              </a:rPr>
              <a:t>Click to add content</a:t>
            </a:r>
            <a:endParaRPr lang="es-AR"/>
          </a:p>
        </p:txBody>
      </p:sp>
      <p:sp>
        <p:nvSpPr>
          <p:cNvPr id="13" name="process-timeline-takeaway-slot Placeholder"/>
          <p:cNvSpPr>
            <a:spLocks noGrp="1"/>
          </p:cNvSpPr>
          <p:nvPr>
            <p:ph type="body" idx="5"/>
          </p:nvPr>
        </p:nvSpPr>
        <p:spPr>
          <a:xfrm>
            <a:off x="838200" y="5562600"/>
            <a:ext cx="10515600" cy="381000"/>
          </a:xfrm>
          <a:prstGeom prst="rect">
            <a:avLst/>
          </a:prstGeom>
          <a:noFill/>
          <a:ln>
            <a:noFill/>
          </a:ln>
        </p:spPr>
        <p:txBody>
          <a:bodyPr wrap="square" lIns="0" tIns="0" rIns="0" bIns="0" anchor="ctr" anchorCtr="0">
            <a:noAutofit/>
          </a:bodyPr>
          <a:lstStyle>
            <a:lvl1pPr marL="0" indent="0">
              <a:buNone/>
              <a:defRPr sz="1500" lang="es-AR"/>
            </a:lvl1pPr>
          </a:lstStyle>
          <a:p>
            <a:pPr algn="ctr" marL="0" indent="0">
              <a:buNone/>
            </a:pPr>
            <a:r>
              <a:rPr lang="es-AR" sz="1500" dirty="0">
                <a:solidFill>
                  <a:schemeClr val="dk1"/>
                </a:solidFill>
                <a:latin typeface="+mn-lt"/>
                <a:ea typeface="+mn-ea"/>
                <a:cs typeface="+mn-cs"/>
              </a:rPr>
              <a:t>Click to add text</a:t>
            </a:r>
            <a:endParaRPr lang="es-AR"/>
          </a:p>
        </p:txBody>
      </p:sp>
    </p:spTree>
    <p:extLst>
      <p:ext uri="{BB962C8B-B14F-4D97-AF65-F5344CB8AC3E}">
        <p14:creationId val="1011739272"/>
      </p:ext>
    </p:extLst>
  </p:cSld>
  <p:clrMapOvr>
    <a:masterClrMapping/>
  </p:clrMapOvr>
</p:sldLayout>
</file>

<file path=ppt/slideLayouts/slideLayout17.xml><?xml version="1.0" encoding="utf-8"?>
<p:sldLayout xmlns:a="http://schemas.openxmlformats.org/drawingml/2006/main" xmlns:p="http://schemas.openxmlformats.org/presentationml/2006/main" xmlns:p14="http://schemas.microsoft.com/office/powerpoint/2010/main" type="cust" preserve="1" showMasterSp="1">
  <p:cSld name="Title and Picture">
    <p:spTree>
      <p:nvGrpSpPr>
        <p:cNvPr id="1" name=""/>
        <p:cNvGrpSpPr/>
        <p:nvPr/>
      </p:nvGrpSpPr>
      <p:grpSpPr>
        <a:xfrm>
          <a:off x="0" y="0"/>
          <a:ext cx="0" cy="0"/>
          <a:chOff x="0" y="0"/>
          <a:chExt cx="0" cy="0"/>
        </a:xfrm>
      </p:grpSpPr>
      <p:sp>
        <p:nvSpPr>
          <p:cNvPr id="2" name="title-picture-rule Layout"/>
          <p:cNvSpPr/>
          <p:nvPr/>
        </p:nvSpPr>
        <p:spPr>
          <a:xfrm>
            <a:off x="609600" y="1143000"/>
            <a:ext cx="914400" cy="38100"/>
          </a:xfrm>
          <a:prstGeom prst="roundRect">
            <a:avLst>
              <a:gd name="adj" fmla="val 50000"/>
            </a:avLst>
          </a:prstGeom>
          <a:solidFill>
            <a:schemeClr val="accent6"/>
          </a:solidFill>
          <a:ln>
            <a:noFill/>
          </a:ln>
        </p:spPr>
      </p:sp>
      <p:sp>
        <p:nvSpPr>
          <p:cNvPr id="3" name="title-picture-image-panel Layout"/>
          <p:cNvSpPr/>
          <p:nvPr/>
        </p:nvSpPr>
        <p:spPr>
          <a:xfrm>
            <a:off x="609600" y="1447800"/>
            <a:ext cx="10972800" cy="4800600"/>
          </a:xfrm>
          <a:prstGeom prst="roundRect">
            <a:avLst>
              <a:gd name="adj" fmla="val 2381"/>
            </a:avLst>
          </a:prstGeom>
          <a:solidFill>
            <a:schemeClr val="lt2"/>
          </a:solidFill>
          <a:ln w="9525">
            <a:solidFill>
              <a:schemeClr val="accent6"/>
            </a:solidFill>
          </a:ln>
        </p:spPr>
      </p:sp>
      <p:sp>
        <p:nvSpPr>
          <p:cNvPr id="4" name="title-picture-title-slot Placeholder"/>
          <p:cNvSpPr>
            <a:spLocks noGrp="1"/>
          </p:cNvSpPr>
          <p:nvPr>
            <p:ph type="title"/>
          </p:nvPr>
        </p:nvSpPr>
        <p:spPr>
          <a:xfrm>
            <a:off x="609600" y="381000"/>
            <a:ext cx="10972800" cy="685800"/>
          </a:xfrm>
          <a:prstGeom prst="rect">
            <a:avLst/>
          </a:prstGeom>
          <a:noFill/>
          <a:ln>
            <a:noFill/>
          </a:ln>
        </p:spPr>
        <p:txBody>
          <a:bodyPr wrap="square" lIns="0" tIns="0" rIns="0" bIns="0" anchor="ctr" anchorCtr="0">
            <a:noAutofit/>
          </a:bodyPr>
          <a:lstStyle>
            <a:lvl1pPr>
              <a:defRPr sz="2700" lang="es-AR"/>
            </a:lvl1pPr>
          </a:lstStyle>
          <a:p>
            <a:pPr algn="l"/>
            <a:r>
              <a:rPr lang="es-AR" sz="2700" b="1" dirty="0">
                <a:solidFill>
                  <a:schemeClr val="accent1"/>
                </a:solidFill>
                <a:latin typeface="+mj-lt"/>
                <a:ea typeface="+mj-ea"/>
                <a:cs typeface="+mj-cs"/>
              </a:rPr>
              <a:t>Click to add title</a:t>
            </a:r>
            <a:endParaRPr lang="es-AR"/>
          </a:p>
        </p:txBody>
      </p:sp>
      <p:sp>
        <p:nvSpPr>
          <p:cNvPr id="5" name="title-picture-picture-slot Placeholder"/>
          <p:cNvSpPr>
            <a:spLocks noGrp="1"/>
          </p:cNvSpPr>
          <p:nvPr>
            <p:ph type="pic" idx="1"/>
          </p:nvPr>
        </p:nvSpPr>
        <p:spPr>
          <a:xfrm>
            <a:off x="609600" y="1447800"/>
            <a:ext cx="10972800" cy="4800600"/>
          </a:xfrm>
          <a:prstGeom prst="rect">
            <a:avLst/>
          </a:prstGeom>
          <a:noFill/>
          <a:ln>
            <a:noFill/>
          </a:ln>
        </p:spPr>
        <p:txBody>
          <a:bodyPr wrap="square" anchor="ctr" anchorCtr="0">
            <a:noAutofit/>
          </a:bodyPr>
          <a:lstStyle/>
          <a:p>
            <a:r>
              <a:rPr lang="es-AR"/>
              <a:t>Click to add picture</a:t>
            </a:r>
            <a:endParaRPr lang="es-AR"/>
          </a:p>
        </p:txBody>
      </p:sp>
    </p:spTree>
    <p:extLst>
      <p:ext uri="{BB962C8B-B14F-4D97-AF65-F5344CB8AC3E}">
        <p14:creationId val="2012023817"/>
      </p:ext>
    </p:extLst>
  </p:cSld>
  <p:clrMapOvr>
    <a:masterClrMapping/>
  </p:clrMapOvr>
</p:sldLayout>
</file>

<file path=ppt/slideLayouts/slideLayout18.xml><?xml version="1.0" encoding="utf-8"?>
<p:sldLayout xmlns:a="http://schemas.openxmlformats.org/drawingml/2006/main" xmlns:p="http://schemas.openxmlformats.org/presentationml/2006/main" xmlns:p14="http://schemas.microsoft.com/office/powerpoint/2010/main" type="cust" preserve="1" showMasterSp="1">
  <p:cSld name="Three-Card Synthesis">
    <p:spTree>
      <p:nvGrpSpPr>
        <p:cNvPr id="1" name=""/>
        <p:cNvGrpSpPr/>
        <p:nvPr/>
      </p:nvGrpSpPr>
      <p:grpSpPr>
        <a:xfrm>
          <a:off x="0" y="0"/>
          <a:ext cx="0" cy="0"/>
          <a:chOff x="0" y="0"/>
          <a:chExt cx="0" cy="0"/>
        </a:xfrm>
      </p:grpSpPr>
      <p:sp>
        <p:nvSpPr>
          <p:cNvPr id="2" name="three-card-panel-one Layout"/>
          <p:cNvSpPr/>
          <p:nvPr/>
        </p:nvSpPr>
        <p:spPr>
          <a:xfrm>
            <a:off x="609600" y="1600200"/>
            <a:ext cx="3505200" cy="4495800"/>
          </a:xfrm>
          <a:prstGeom prst="roundRect">
            <a:avLst>
              <a:gd name="adj" fmla="val 4348"/>
            </a:avLst>
          </a:prstGeom>
          <a:solidFill>
            <a:schemeClr val="lt2"/>
          </a:solidFill>
          <a:ln w="9525">
            <a:solidFill>
              <a:schemeClr val="accent6"/>
            </a:solidFill>
          </a:ln>
        </p:spPr>
      </p:sp>
      <p:sp>
        <p:nvSpPr>
          <p:cNvPr id="3" name="three-card-panel-two Layout"/>
          <p:cNvSpPr/>
          <p:nvPr/>
        </p:nvSpPr>
        <p:spPr>
          <a:xfrm>
            <a:off x="4343400" y="1600200"/>
            <a:ext cx="3505200" cy="4495800"/>
          </a:xfrm>
          <a:prstGeom prst="roundRect">
            <a:avLst>
              <a:gd name="adj" fmla="val 4348"/>
            </a:avLst>
          </a:prstGeom>
          <a:solidFill>
            <a:schemeClr val="lt2"/>
          </a:solidFill>
          <a:ln w="9525">
            <a:solidFill>
              <a:schemeClr val="accent6"/>
            </a:solidFill>
          </a:ln>
        </p:spPr>
      </p:sp>
      <p:sp>
        <p:nvSpPr>
          <p:cNvPr id="4" name="three-card-panel-three Layout"/>
          <p:cNvSpPr/>
          <p:nvPr/>
        </p:nvSpPr>
        <p:spPr>
          <a:xfrm>
            <a:off x="8077200" y="1600200"/>
            <a:ext cx="3505200" cy="4495800"/>
          </a:xfrm>
          <a:prstGeom prst="roundRect">
            <a:avLst>
              <a:gd name="adj" fmla="val 4348"/>
            </a:avLst>
          </a:prstGeom>
          <a:solidFill>
            <a:schemeClr val="lt2"/>
          </a:solidFill>
          <a:ln w="9525">
            <a:solidFill>
              <a:schemeClr val="accent6"/>
            </a:solidFill>
          </a:ln>
        </p:spPr>
      </p:sp>
      <p:sp>
        <p:nvSpPr>
          <p:cNvPr id="5" name="three-card-title-slot Placeholder"/>
          <p:cNvSpPr>
            <a:spLocks noGrp="1"/>
          </p:cNvSpPr>
          <p:nvPr>
            <p:ph type="title"/>
          </p:nvPr>
        </p:nvSpPr>
        <p:spPr>
          <a:xfrm>
            <a:off x="609600" y="457200"/>
            <a:ext cx="10972800" cy="762000"/>
          </a:xfrm>
          <a:prstGeom prst="rect">
            <a:avLst/>
          </a:prstGeom>
          <a:noFill/>
          <a:ln>
            <a:noFill/>
          </a:ln>
        </p:spPr>
        <p:txBody>
          <a:bodyPr wrap="square" lIns="0" tIns="0" rIns="0" bIns="0" anchor="ctr" anchorCtr="0">
            <a:noAutofit/>
          </a:bodyPr>
          <a:lstStyle>
            <a:lvl1pPr>
              <a:defRPr sz="2700" lang="es-AR"/>
            </a:lvl1pPr>
          </a:lstStyle>
          <a:p>
            <a:pPr algn="l"/>
            <a:r>
              <a:rPr lang="es-AR" sz="2700" b="1" dirty="0">
                <a:solidFill>
                  <a:schemeClr val="accent1"/>
                </a:solidFill>
                <a:latin typeface="+mj-lt"/>
                <a:ea typeface="+mj-ea"/>
                <a:cs typeface="+mj-cs"/>
              </a:rPr>
              <a:t>Click to add title</a:t>
            </a:r>
            <a:endParaRPr lang="es-AR"/>
          </a:p>
        </p:txBody>
      </p:sp>
      <p:sp>
        <p:nvSpPr>
          <p:cNvPr id="6" name="three-card-one-slot Placeholder"/>
          <p:cNvSpPr>
            <a:spLocks noGrp="1"/>
          </p:cNvSpPr>
          <p:nvPr>
            <p:ph type="obj" idx="1"/>
          </p:nvPr>
        </p:nvSpPr>
        <p:spPr>
          <a:xfrm>
            <a:off x="838200" y="1828800"/>
            <a:ext cx="3048000" cy="4038600"/>
          </a:xfrm>
          <a:prstGeom prst="rect">
            <a:avLst/>
          </a:prstGeom>
          <a:noFill/>
          <a:ln>
            <a:noFill/>
          </a:ln>
        </p:spPr>
        <p:txBody>
          <a:bodyPr wrap="square" lIns="0" tIns="0" rIns="0" bIns="0" anchor="t" anchorCtr="0">
            <a:noAutofit/>
          </a:bodyPr>
          <a:lstStyle>
            <a:lvl1pPr>
              <a:defRPr sz="2100" lang="es-AR"/>
            </a:lvl1pPr>
          </a:lstStyle>
          <a:p>
            <a:pPr algn="l">
              <a:lnSpc>
                <a:spcPts val="2400"/>
              </a:lnSpc>
            </a:pPr>
            <a:r>
              <a:rPr lang="es-AR" sz="2100" b="1" dirty="0">
                <a:solidFill>
                  <a:schemeClr val="accent1"/>
                </a:solidFill>
                <a:latin typeface="+mn-lt"/>
                <a:ea typeface="+mn-ea"/>
                <a:cs typeface="+mn-cs"/>
              </a:rPr>
              <a:t>Click to add content</a:t>
            </a:r>
            <a:endParaRPr lang="es-AR"/>
          </a:p>
        </p:txBody>
      </p:sp>
      <p:sp>
        <p:nvSpPr>
          <p:cNvPr id="7" name="three-card-two-slot Placeholder"/>
          <p:cNvSpPr>
            <a:spLocks noGrp="1"/>
          </p:cNvSpPr>
          <p:nvPr>
            <p:ph type="obj" idx="2"/>
          </p:nvPr>
        </p:nvSpPr>
        <p:spPr>
          <a:xfrm>
            <a:off x="4572000" y="1828800"/>
            <a:ext cx="3048000" cy="4038600"/>
          </a:xfrm>
          <a:prstGeom prst="rect">
            <a:avLst/>
          </a:prstGeom>
          <a:noFill/>
          <a:ln>
            <a:noFill/>
          </a:ln>
        </p:spPr>
        <p:txBody>
          <a:bodyPr wrap="square" lIns="0" tIns="0" rIns="0" bIns="0" anchor="t" anchorCtr="0">
            <a:noAutofit/>
          </a:bodyPr>
          <a:lstStyle>
            <a:lvl1pPr>
              <a:defRPr sz="2100" lang="es-AR"/>
            </a:lvl1pPr>
          </a:lstStyle>
          <a:p>
            <a:pPr algn="l">
              <a:lnSpc>
                <a:spcPts val="2850"/>
              </a:lnSpc>
            </a:pPr>
            <a:r>
              <a:rPr lang="es-AR" sz="2100" b="1" dirty="0">
                <a:solidFill>
                  <a:schemeClr val="accent3"/>
                </a:solidFill>
                <a:latin typeface="+mn-lt"/>
                <a:ea typeface="+mn-ea"/>
                <a:cs typeface="+mn-cs"/>
              </a:rPr>
              <a:t>Click to add content</a:t>
            </a:r>
            <a:endParaRPr lang="es-AR"/>
          </a:p>
        </p:txBody>
      </p:sp>
      <p:sp>
        <p:nvSpPr>
          <p:cNvPr id="8" name="three-card-three-slot Placeholder"/>
          <p:cNvSpPr>
            <a:spLocks noGrp="1"/>
          </p:cNvSpPr>
          <p:nvPr>
            <p:ph type="obj" idx="3"/>
          </p:nvPr>
        </p:nvSpPr>
        <p:spPr>
          <a:xfrm>
            <a:off x="8305800" y="1828800"/>
            <a:ext cx="3048000" cy="4038600"/>
          </a:xfrm>
          <a:prstGeom prst="rect">
            <a:avLst/>
          </a:prstGeom>
          <a:noFill/>
          <a:ln>
            <a:noFill/>
          </a:ln>
        </p:spPr>
        <p:txBody>
          <a:bodyPr wrap="square" lIns="0" tIns="0" rIns="0" bIns="0" anchor="ctr" anchorCtr="0">
            <a:noAutofit/>
          </a:bodyPr>
          <a:lstStyle>
            <a:lvl1pPr>
              <a:defRPr sz="2100" lang="es-AR"/>
            </a:lvl1pPr>
          </a:lstStyle>
          <a:p>
            <a:pPr algn="l">
              <a:lnSpc>
                <a:spcPts val="2400"/>
              </a:lnSpc>
            </a:pPr>
            <a:r>
              <a:rPr lang="es-AR" sz="2100" b="1" dirty="0">
                <a:solidFill>
                  <a:schemeClr val="accent2"/>
                </a:solidFill>
                <a:latin typeface="+mn-lt"/>
                <a:ea typeface="+mn-ea"/>
                <a:cs typeface="+mn-cs"/>
              </a:rPr>
              <a:t>Click to add content</a:t>
            </a:r>
            <a:endParaRPr lang="es-AR"/>
          </a:p>
        </p:txBody>
      </p:sp>
    </p:spTree>
    <p:extLst>
      <p:ext uri="{BB962C8B-B14F-4D97-AF65-F5344CB8AC3E}">
        <p14:creationId val="6450592"/>
      </p:ext>
    </p:extLst>
  </p:cSld>
  <p:clrMapOvr>
    <a:masterClrMapping/>
  </p:clrMapOvr>
</p:sldLayout>
</file>

<file path=ppt/slideLayouts/slideLayout19.xml><?xml version="1.0" encoding="utf-8"?>
<p:sldLayout xmlns:a="http://schemas.openxmlformats.org/drawingml/2006/main" xmlns:p="http://schemas.openxmlformats.org/presentationml/2006/main" xmlns:p14="http://schemas.microsoft.com/office/powerpoint/2010/main" type="cust" preserve="1" showMasterSp="1">
  <p:cSld name="KPI Dashboard">
    <p:spTree>
      <p:nvGrpSpPr>
        <p:cNvPr id="1" name=""/>
        <p:cNvGrpSpPr/>
        <p:nvPr/>
      </p:nvGrpSpPr>
      <p:grpSpPr>
        <a:xfrm>
          <a:off x="0" y="0"/>
          <a:ext cx="0" cy="0"/>
          <a:chOff x="0" y="0"/>
          <a:chExt cx="0" cy="0"/>
        </a:xfrm>
      </p:grpSpPr>
      <p:sp>
        <p:nvSpPr>
          <p:cNvPr id="2" name="kpi-dashboard-card-one Layout"/>
          <p:cNvSpPr/>
          <p:nvPr/>
        </p:nvSpPr>
        <p:spPr>
          <a:xfrm>
            <a:off x="609600" y="1447800"/>
            <a:ext cx="2514600" cy="1219200"/>
          </a:xfrm>
          <a:prstGeom prst="roundRect">
            <a:avLst>
              <a:gd name="adj" fmla="val 9375"/>
            </a:avLst>
          </a:prstGeom>
          <a:solidFill>
            <a:schemeClr val="lt2"/>
          </a:solidFill>
          <a:ln w="9525">
            <a:solidFill>
              <a:schemeClr val="accent6"/>
            </a:solidFill>
          </a:ln>
        </p:spPr>
      </p:sp>
      <p:sp>
        <p:nvSpPr>
          <p:cNvPr id="3" name="kpi-dashboard-card-two Layout"/>
          <p:cNvSpPr/>
          <p:nvPr/>
        </p:nvSpPr>
        <p:spPr>
          <a:xfrm>
            <a:off x="3429000" y="1447800"/>
            <a:ext cx="2514600" cy="1219200"/>
          </a:xfrm>
          <a:prstGeom prst="roundRect">
            <a:avLst>
              <a:gd name="adj" fmla="val 9375"/>
            </a:avLst>
          </a:prstGeom>
          <a:solidFill>
            <a:schemeClr val="lt2"/>
          </a:solidFill>
          <a:ln w="9525">
            <a:solidFill>
              <a:schemeClr val="accent6"/>
            </a:solidFill>
          </a:ln>
        </p:spPr>
      </p:sp>
      <p:sp>
        <p:nvSpPr>
          <p:cNvPr id="4" name="kpi-dashboard-card-three Layout"/>
          <p:cNvSpPr/>
          <p:nvPr/>
        </p:nvSpPr>
        <p:spPr>
          <a:xfrm>
            <a:off x="6248400" y="1447800"/>
            <a:ext cx="2514600" cy="1219200"/>
          </a:xfrm>
          <a:prstGeom prst="roundRect">
            <a:avLst>
              <a:gd name="adj" fmla="val 9375"/>
            </a:avLst>
          </a:prstGeom>
          <a:solidFill>
            <a:schemeClr val="lt2"/>
          </a:solidFill>
          <a:ln w="9525">
            <a:solidFill>
              <a:schemeClr val="accent6"/>
            </a:solidFill>
          </a:ln>
        </p:spPr>
      </p:sp>
      <p:sp>
        <p:nvSpPr>
          <p:cNvPr id="5" name="kpi-dashboard-card-four Layout"/>
          <p:cNvSpPr/>
          <p:nvPr/>
        </p:nvSpPr>
        <p:spPr>
          <a:xfrm>
            <a:off x="9067800" y="1447800"/>
            <a:ext cx="2514600" cy="1219200"/>
          </a:xfrm>
          <a:prstGeom prst="roundRect">
            <a:avLst>
              <a:gd name="adj" fmla="val 9375"/>
            </a:avLst>
          </a:prstGeom>
          <a:solidFill>
            <a:schemeClr val="lt2"/>
          </a:solidFill>
          <a:ln w="9525">
            <a:solidFill>
              <a:schemeClr val="accent6"/>
            </a:solidFill>
          </a:ln>
        </p:spPr>
      </p:sp>
      <p:sp>
        <p:nvSpPr>
          <p:cNvPr id="6" name="kpi-dashboard-evidence-panel Layout"/>
          <p:cNvSpPr/>
          <p:nvPr/>
        </p:nvSpPr>
        <p:spPr>
          <a:xfrm>
            <a:off x="609600" y="3048000"/>
            <a:ext cx="10972800" cy="3048000"/>
          </a:xfrm>
          <a:prstGeom prst="roundRect">
            <a:avLst>
              <a:gd name="adj" fmla="val 3750"/>
            </a:avLst>
          </a:prstGeom>
          <a:solidFill>
            <a:schemeClr val="lt2"/>
          </a:solidFill>
          <a:ln w="9525">
            <a:solidFill>
              <a:schemeClr val="accent6"/>
            </a:solidFill>
          </a:ln>
        </p:spPr>
      </p:sp>
      <p:sp>
        <p:nvSpPr>
          <p:cNvPr id="7" name="kpi-dashboard-title-slot Placeholder"/>
          <p:cNvSpPr>
            <a:spLocks noGrp="1"/>
          </p:cNvSpPr>
          <p:nvPr>
            <p:ph type="title"/>
          </p:nvPr>
        </p:nvSpPr>
        <p:spPr>
          <a:xfrm>
            <a:off x="609600" y="381000"/>
            <a:ext cx="10972800" cy="685800"/>
          </a:xfrm>
          <a:prstGeom prst="rect">
            <a:avLst/>
          </a:prstGeom>
          <a:noFill/>
          <a:ln>
            <a:noFill/>
          </a:ln>
        </p:spPr>
        <p:txBody>
          <a:bodyPr wrap="square" lIns="0" tIns="0" rIns="0" bIns="0" anchor="ctr" anchorCtr="0">
            <a:noAutofit/>
          </a:bodyPr>
          <a:lstStyle>
            <a:lvl1pPr>
              <a:defRPr sz="2700" lang="es-AR"/>
            </a:lvl1pPr>
          </a:lstStyle>
          <a:p>
            <a:pPr algn="l"/>
            <a:r>
              <a:rPr lang="es-AR" sz="2700" b="1" dirty="0">
                <a:solidFill>
                  <a:schemeClr val="accent1"/>
                </a:solidFill>
                <a:latin typeface="+mj-lt"/>
                <a:ea typeface="+mj-ea"/>
                <a:cs typeface="+mj-cs"/>
              </a:rPr>
              <a:t>Click to add title</a:t>
            </a:r>
            <a:endParaRPr lang="es-AR"/>
          </a:p>
        </p:txBody>
      </p:sp>
      <p:sp>
        <p:nvSpPr>
          <p:cNvPr id="8" name="kpi-dashboard-one-slot Placeholder"/>
          <p:cNvSpPr>
            <a:spLocks noGrp="1"/>
          </p:cNvSpPr>
          <p:nvPr>
            <p:ph type="obj" idx="1"/>
          </p:nvPr>
        </p:nvSpPr>
        <p:spPr>
          <a:xfrm>
            <a:off x="762000" y="1600200"/>
            <a:ext cx="2209800" cy="914400"/>
          </a:xfrm>
          <a:prstGeom prst="rect">
            <a:avLst/>
          </a:prstGeom>
          <a:noFill/>
          <a:ln>
            <a:noFill/>
          </a:ln>
        </p:spPr>
        <p:txBody>
          <a:bodyPr wrap="square" lIns="0" tIns="0" rIns="0" bIns="0" anchor="ctr" anchorCtr="0">
            <a:noAutofit/>
          </a:bodyPr>
          <a:lstStyle>
            <a:lvl1pPr>
              <a:defRPr sz="2700" lang="es-AR"/>
            </a:lvl1pPr>
          </a:lstStyle>
          <a:p>
            <a:pPr algn="l">
              <a:lnSpc>
                <a:spcPts val="1800"/>
              </a:lnSpc>
            </a:pPr>
            <a:r>
              <a:rPr lang="es-AR" sz="2700" b="1" dirty="0">
                <a:solidFill>
                  <a:schemeClr val="accent1"/>
                </a:solidFill>
                <a:latin typeface="+mj-lt"/>
                <a:ea typeface="+mj-ea"/>
                <a:cs typeface="+mj-cs"/>
              </a:rPr>
              <a:t>Click to add content</a:t>
            </a:r>
            <a:endParaRPr lang="es-AR"/>
          </a:p>
        </p:txBody>
      </p:sp>
      <p:sp>
        <p:nvSpPr>
          <p:cNvPr id="9" name="kpi-dashboard-two-slot Placeholder"/>
          <p:cNvSpPr>
            <a:spLocks noGrp="1"/>
          </p:cNvSpPr>
          <p:nvPr>
            <p:ph type="obj" idx="2"/>
          </p:nvPr>
        </p:nvSpPr>
        <p:spPr>
          <a:xfrm>
            <a:off x="3581400" y="1600200"/>
            <a:ext cx="2209800" cy="914400"/>
          </a:xfrm>
          <a:prstGeom prst="rect">
            <a:avLst/>
          </a:prstGeom>
          <a:noFill/>
          <a:ln>
            <a:noFill/>
          </a:ln>
        </p:spPr>
        <p:txBody>
          <a:bodyPr wrap="square" lIns="0" tIns="0" rIns="0" bIns="0" anchor="ctr" anchorCtr="0">
            <a:noAutofit/>
          </a:bodyPr>
          <a:lstStyle>
            <a:lvl1pPr>
              <a:defRPr sz="2700" lang="es-AR"/>
            </a:lvl1pPr>
          </a:lstStyle>
          <a:p>
            <a:pPr algn="l">
              <a:lnSpc>
                <a:spcPts val="1950"/>
              </a:lnSpc>
            </a:pPr>
            <a:r>
              <a:rPr lang="es-AR" sz="2700" b="1" dirty="0">
                <a:solidFill>
                  <a:schemeClr val="accent1"/>
                </a:solidFill>
                <a:latin typeface="+mj-lt"/>
                <a:ea typeface="+mj-ea"/>
                <a:cs typeface="+mj-cs"/>
              </a:rPr>
              <a:t>Click to add content</a:t>
            </a:r>
            <a:endParaRPr lang="es-AR"/>
          </a:p>
        </p:txBody>
      </p:sp>
      <p:sp>
        <p:nvSpPr>
          <p:cNvPr id="10" name="kpi-dashboard-three-slot Placeholder"/>
          <p:cNvSpPr>
            <a:spLocks noGrp="1"/>
          </p:cNvSpPr>
          <p:nvPr>
            <p:ph type="obj" idx="3"/>
          </p:nvPr>
        </p:nvSpPr>
        <p:spPr>
          <a:xfrm>
            <a:off x="6400800" y="1600200"/>
            <a:ext cx="2209800" cy="914400"/>
          </a:xfrm>
          <a:prstGeom prst="rect">
            <a:avLst/>
          </a:prstGeom>
          <a:noFill/>
          <a:ln>
            <a:noFill/>
          </a:ln>
        </p:spPr>
        <p:txBody>
          <a:bodyPr wrap="square" lIns="0" tIns="0" rIns="0" bIns="0" anchor="ctr" anchorCtr="0">
            <a:noAutofit/>
          </a:bodyPr>
          <a:lstStyle>
            <a:lvl1pPr>
              <a:defRPr sz="2700" lang="es-AR"/>
            </a:lvl1pPr>
          </a:lstStyle>
          <a:p>
            <a:pPr algn="l">
              <a:lnSpc>
                <a:spcPts val="1800"/>
              </a:lnSpc>
            </a:pPr>
            <a:r>
              <a:rPr lang="es-AR" sz="2700" b="1" dirty="0">
                <a:solidFill>
                  <a:schemeClr val="accent3"/>
                </a:solidFill>
                <a:latin typeface="+mj-lt"/>
                <a:ea typeface="+mj-ea"/>
                <a:cs typeface="+mj-cs"/>
              </a:rPr>
              <a:t>Click to add content</a:t>
            </a:r>
            <a:endParaRPr lang="es-AR"/>
          </a:p>
        </p:txBody>
      </p:sp>
      <p:sp>
        <p:nvSpPr>
          <p:cNvPr id="11" name="kpi-dashboard-four-slot Placeholder"/>
          <p:cNvSpPr>
            <a:spLocks noGrp="1"/>
          </p:cNvSpPr>
          <p:nvPr>
            <p:ph type="obj" idx="4"/>
          </p:nvPr>
        </p:nvSpPr>
        <p:spPr>
          <a:xfrm>
            <a:off x="9220200" y="1600200"/>
            <a:ext cx="2209800" cy="914400"/>
          </a:xfrm>
          <a:prstGeom prst="rect">
            <a:avLst/>
          </a:prstGeom>
          <a:noFill/>
          <a:ln>
            <a:noFill/>
          </a:ln>
        </p:spPr>
        <p:txBody>
          <a:bodyPr wrap="square" lIns="0" tIns="0" rIns="0" bIns="0" anchor="ctr" anchorCtr="0">
            <a:noAutofit/>
          </a:bodyPr>
          <a:lstStyle>
            <a:lvl1pPr>
              <a:defRPr sz="2700" lang="es-AR"/>
            </a:lvl1pPr>
          </a:lstStyle>
          <a:p>
            <a:pPr algn="l">
              <a:lnSpc>
                <a:spcPts val="1800"/>
              </a:lnSpc>
            </a:pPr>
            <a:r>
              <a:rPr lang="es-AR" sz="2700" b="1" dirty="0">
                <a:solidFill>
                  <a:schemeClr val="accent2"/>
                </a:solidFill>
                <a:latin typeface="+mj-lt"/>
                <a:ea typeface="+mj-ea"/>
                <a:cs typeface="+mj-cs"/>
              </a:rPr>
              <a:t>Click to add content</a:t>
            </a:r>
            <a:endParaRPr lang="es-AR"/>
          </a:p>
        </p:txBody>
      </p:sp>
      <p:sp>
        <p:nvSpPr>
          <p:cNvPr id="12" name="kpi-dashboard-evidence-slot Placeholder"/>
          <p:cNvSpPr>
            <a:spLocks noGrp="1"/>
          </p:cNvSpPr>
          <p:nvPr>
            <p:ph type="obj" idx="5"/>
          </p:nvPr>
        </p:nvSpPr>
        <p:spPr>
          <a:xfrm>
            <a:off x="838200" y="3276600"/>
            <a:ext cx="10515600" cy="2590800"/>
          </a:xfrm>
          <a:prstGeom prst="rect">
            <a:avLst/>
          </a:prstGeom>
          <a:noFill/>
          <a:ln>
            <a:noFill/>
          </a:ln>
        </p:spPr>
        <p:txBody>
          <a:bodyPr wrap="square" lIns="0" tIns="0" rIns="0" bIns="0" anchor="ctr" anchorCtr="0">
            <a:noAutofit/>
          </a:bodyPr>
          <a:lstStyle>
            <a:lvl1pPr>
              <a:defRPr sz="2100" lang="es-AR"/>
            </a:lvl1pPr>
          </a:lstStyle>
          <a:p>
            <a:pPr algn="l">
              <a:lnSpc>
                <a:spcPts val="3150"/>
              </a:lnSpc>
            </a:pPr>
            <a:r>
              <a:rPr lang="es-AR" sz="2100" b="1" dirty="0">
                <a:solidFill>
                  <a:schemeClr val="accent1"/>
                </a:solidFill>
                <a:latin typeface="+mn-lt"/>
                <a:ea typeface="+mn-ea"/>
                <a:cs typeface="+mn-cs"/>
              </a:rPr>
              <a:t>Click to add content</a:t>
            </a:r>
            <a:endParaRPr lang="es-AR"/>
          </a:p>
        </p:txBody>
      </p:sp>
    </p:spTree>
    <p:extLst>
      <p:ext uri="{BB962C8B-B14F-4D97-AF65-F5344CB8AC3E}">
        <p14:creationId val="1142667696"/>
      </p:ext>
    </p:extLst>
  </p:cSld>
  <p:clrMapOvr>
    <a:masterClrMapping/>
  </p:clrMapOvr>
</p:sldLayout>
</file>

<file path=ppt/slideLayouts/slideLayout20.xml><?xml version="1.0" encoding="utf-8"?>
<p:sldLayout xmlns:a="http://schemas.openxmlformats.org/drawingml/2006/main" xmlns:p="http://schemas.openxmlformats.org/presentationml/2006/main" xmlns:p14="http://schemas.microsoft.com/office/powerpoint/2010/main" type="cust" preserve="1" showMasterSp="1">
  <p:cSld name="Table and Summary">
    <p:spTree>
      <p:nvGrpSpPr>
        <p:cNvPr id="1" name=""/>
        <p:cNvGrpSpPr/>
        <p:nvPr/>
      </p:nvGrpSpPr>
      <p:grpSpPr>
        <a:xfrm>
          <a:off x="0" y="0"/>
          <a:ext cx="0" cy="0"/>
          <a:chOff x="0" y="0"/>
          <a:chExt cx="0" cy="0"/>
        </a:xfrm>
      </p:grpSpPr>
      <p:sp>
        <p:nvSpPr>
          <p:cNvPr id="2" name="table-summary-table-panel Layout"/>
          <p:cNvSpPr/>
          <p:nvPr/>
        </p:nvSpPr>
        <p:spPr>
          <a:xfrm>
            <a:off x="609600" y="1447800"/>
            <a:ext cx="7848600" cy="4343400"/>
          </a:xfrm>
          <a:prstGeom prst="roundRect">
            <a:avLst>
              <a:gd name="adj" fmla="val 2632"/>
            </a:avLst>
          </a:prstGeom>
          <a:solidFill>
            <a:schemeClr val="lt2"/>
          </a:solidFill>
          <a:ln w="9525">
            <a:solidFill>
              <a:schemeClr val="accent6"/>
            </a:solidFill>
          </a:ln>
        </p:spPr>
      </p:sp>
      <p:sp>
        <p:nvSpPr>
          <p:cNvPr id="3" name="table-summary-message-panel Layout"/>
          <p:cNvSpPr/>
          <p:nvPr/>
        </p:nvSpPr>
        <p:spPr>
          <a:xfrm>
            <a:off x="8763000" y="1447800"/>
            <a:ext cx="2819400" cy="4343400"/>
          </a:xfrm>
          <a:prstGeom prst="roundRect">
            <a:avLst>
              <a:gd name="adj" fmla="val 4054"/>
            </a:avLst>
          </a:prstGeom>
          <a:solidFill>
            <a:schemeClr val="lt2"/>
          </a:solidFill>
          <a:ln w="9525">
            <a:solidFill>
              <a:schemeClr val="accent6"/>
            </a:solidFill>
          </a:ln>
        </p:spPr>
      </p:sp>
      <p:sp>
        <p:nvSpPr>
          <p:cNvPr id="4" name="table-summary-title-slot Placeholder"/>
          <p:cNvSpPr>
            <a:spLocks noGrp="1"/>
          </p:cNvSpPr>
          <p:nvPr>
            <p:ph type="title"/>
          </p:nvPr>
        </p:nvSpPr>
        <p:spPr>
          <a:xfrm>
            <a:off x="609600" y="381000"/>
            <a:ext cx="10972800" cy="685800"/>
          </a:xfrm>
          <a:prstGeom prst="rect">
            <a:avLst/>
          </a:prstGeom>
          <a:noFill/>
          <a:ln>
            <a:noFill/>
          </a:ln>
        </p:spPr>
        <p:txBody>
          <a:bodyPr wrap="square" lIns="0" tIns="0" rIns="0" bIns="0" anchor="ctr" anchorCtr="0">
            <a:noAutofit/>
          </a:bodyPr>
          <a:lstStyle>
            <a:lvl1pPr>
              <a:defRPr sz="2700" lang="es-AR"/>
            </a:lvl1pPr>
          </a:lstStyle>
          <a:p>
            <a:pPr algn="l"/>
            <a:r>
              <a:rPr lang="es-AR" sz="2700" b="1" dirty="0">
                <a:solidFill>
                  <a:schemeClr val="accent1"/>
                </a:solidFill>
                <a:latin typeface="+mj-lt"/>
                <a:ea typeface="+mj-ea"/>
                <a:cs typeface="+mj-cs"/>
              </a:rPr>
              <a:t>Click to add title</a:t>
            </a:r>
            <a:endParaRPr lang="es-AR"/>
          </a:p>
        </p:txBody>
      </p:sp>
      <p:sp>
        <p:nvSpPr>
          <p:cNvPr id="5" name="table-summary-table-slot Placeholder"/>
          <p:cNvSpPr>
            <a:spLocks noGrp="1"/>
          </p:cNvSpPr>
          <p:nvPr>
            <p:ph type="tbl" idx="1"/>
          </p:nvPr>
        </p:nvSpPr>
        <p:spPr>
          <a:xfrm>
            <a:off x="838200" y="1676400"/>
            <a:ext cx="7391400" cy="3886200"/>
          </a:xfrm>
          <a:prstGeom prst="rect">
            <a:avLst/>
          </a:prstGeom>
          <a:noFill/>
          <a:ln>
            <a:noFill/>
          </a:ln>
        </p:spPr>
        <p:txBody>
          <a:bodyPr wrap="square" anchor="ctr" anchorCtr="0">
            <a:noAutofit/>
          </a:bodyPr>
          <a:lstStyle/>
          <a:p>
            <a:r>
              <a:rPr lang="es-AR"/>
              <a:t>Click to add table</a:t>
            </a:r>
            <a:endParaRPr lang="es-AR"/>
          </a:p>
        </p:txBody>
      </p:sp>
      <p:sp>
        <p:nvSpPr>
          <p:cNvPr id="6" name="table-summary-message-slot Placeholder"/>
          <p:cNvSpPr>
            <a:spLocks noGrp="1"/>
          </p:cNvSpPr>
          <p:nvPr>
            <p:ph type="body" idx="2"/>
          </p:nvPr>
        </p:nvSpPr>
        <p:spPr>
          <a:xfrm>
            <a:off x="9067800" y="1752600"/>
            <a:ext cx="2209800" cy="3276600"/>
          </a:xfrm>
          <a:prstGeom prst="rect">
            <a:avLst/>
          </a:prstGeom>
          <a:noFill/>
          <a:ln>
            <a:noFill/>
          </a:ln>
        </p:spPr>
        <p:txBody>
          <a:bodyPr wrap="square" lIns="0" tIns="0" rIns="0" bIns="0" anchor="ctr" anchorCtr="0">
            <a:noAutofit/>
          </a:bodyPr>
          <a:lstStyle>
            <a:lvl1pPr marL="0" indent="0">
              <a:buNone/>
              <a:defRPr sz="1800" lang="es-AR"/>
            </a:lvl1pPr>
          </a:lstStyle>
          <a:p>
            <a:pPr algn="l" marL="0" indent="0">
              <a:lnSpc>
                <a:spcPts val="1800"/>
              </a:lnSpc>
              <a:buNone/>
            </a:pPr>
            <a:r>
              <a:rPr lang="es-AR" sz="1800" b="1" dirty="0">
                <a:solidFill>
                  <a:schemeClr val="accent1"/>
                </a:solidFill>
                <a:latin typeface="+mn-lt"/>
                <a:ea typeface="+mn-ea"/>
                <a:cs typeface="+mn-cs"/>
              </a:rPr>
              <a:t>Click to add text</a:t>
            </a:r>
            <a:endParaRPr lang="es-AR"/>
          </a:p>
        </p:txBody>
      </p:sp>
      <p:sp>
        <p:nvSpPr>
          <p:cNvPr id="7" name="table-summary-source-slot Placeholder"/>
          <p:cNvSpPr>
            <a:spLocks noGrp="1"/>
          </p:cNvSpPr>
          <p:nvPr>
            <p:ph type="ftr" idx="3"/>
          </p:nvPr>
        </p:nvSpPr>
        <p:spPr>
          <a:xfrm>
            <a:off x="9067800" y="5257800"/>
            <a:ext cx="2209800" cy="304800"/>
          </a:xfrm>
          <a:prstGeom prst="rect">
            <a:avLst/>
          </a:prstGeom>
          <a:noFill/>
          <a:ln>
            <a:noFill/>
          </a:ln>
        </p:spPr>
        <p:txBody>
          <a:bodyPr wrap="square" lIns="0" tIns="0" rIns="0" bIns="0" anchor="ctr" anchorCtr="0">
            <a:noAutofit/>
          </a:bodyPr>
          <a:lstStyle>
            <a:lvl1pPr>
              <a:defRPr sz="1050" lang="es-AR"/>
            </a:lvl1pPr>
          </a:lstStyle>
          <a:p>
            <a:pPr algn="l"/>
            <a:r>
              <a:rPr lang="es-AR" sz="1050" dirty="0">
                <a:solidFill>
                  <a:schemeClr val="accent5"/>
                </a:solidFill>
                <a:latin typeface="+mn-lt"/>
                <a:ea typeface="+mn-ea"/>
                <a:cs typeface="+mn-cs"/>
              </a:rPr>
              <a:t>Footer</a:t>
            </a:r>
            <a:endParaRPr lang="es-AR"/>
          </a:p>
        </p:txBody>
      </p:sp>
    </p:spTree>
    <p:extLst>
      <p:ext uri="{BB962C8B-B14F-4D97-AF65-F5344CB8AC3E}">
        <p14:creationId val="447707945"/>
      </p:ext>
    </p:extLst>
  </p:cSld>
  <p:clrMapOvr>
    <a:masterClrMapping/>
  </p:clrMapOvr>
  <p:hf hdr="0" dt="0" ftr="1" sldNum="0"/>
</p:sldLayout>
</file>

<file path=ppt/slideLayouts/slideLayout21.xml><?xml version="1.0" encoding="utf-8"?>
<p:sldLayout xmlns:a="http://schemas.openxmlformats.org/drawingml/2006/main" xmlns:p="http://schemas.openxmlformats.org/presentationml/2006/main" xmlns:p14="http://schemas.microsoft.com/office/powerpoint/2010/main" type="cust" preserve="1" showMasterSp="1">
  <p:cSld name="Two Pictures with Captions">
    <p:spTree>
      <p:nvGrpSpPr>
        <p:cNvPr id="1" name=""/>
        <p:cNvGrpSpPr/>
        <p:nvPr/>
      </p:nvGrpSpPr>
      <p:grpSpPr>
        <a:xfrm>
          <a:off x="0" y="0"/>
          <a:ext cx="0" cy="0"/>
          <a:chOff x="0" y="0"/>
          <a:chExt cx="0" cy="0"/>
        </a:xfrm>
      </p:grpSpPr>
      <p:sp>
        <p:nvSpPr>
          <p:cNvPr id="2" name="two-picture-left-panel Layout"/>
          <p:cNvSpPr/>
          <p:nvPr/>
        </p:nvSpPr>
        <p:spPr>
          <a:xfrm>
            <a:off x="609600" y="1447800"/>
            <a:ext cx="5257800" cy="3048000"/>
          </a:xfrm>
          <a:prstGeom prst="roundRect">
            <a:avLst>
              <a:gd name="adj" fmla="val 3750"/>
            </a:avLst>
          </a:prstGeom>
          <a:solidFill>
            <a:schemeClr val="lt2"/>
          </a:solidFill>
          <a:ln w="9525">
            <a:solidFill>
              <a:schemeClr val="accent6"/>
            </a:solidFill>
          </a:ln>
        </p:spPr>
      </p:sp>
      <p:sp>
        <p:nvSpPr>
          <p:cNvPr id="3" name="two-picture-right-panel Layout"/>
          <p:cNvSpPr/>
          <p:nvPr/>
        </p:nvSpPr>
        <p:spPr>
          <a:xfrm>
            <a:off x="6324600" y="1447800"/>
            <a:ext cx="5257800" cy="3048000"/>
          </a:xfrm>
          <a:prstGeom prst="roundRect">
            <a:avLst>
              <a:gd name="adj" fmla="val 3750"/>
            </a:avLst>
          </a:prstGeom>
          <a:solidFill>
            <a:schemeClr val="lt2"/>
          </a:solidFill>
          <a:ln w="9525">
            <a:solidFill>
              <a:schemeClr val="accent6"/>
            </a:solidFill>
          </a:ln>
        </p:spPr>
      </p:sp>
      <p:sp>
        <p:nvSpPr>
          <p:cNvPr id="4" name="two-picture-left-caption-panel Layout"/>
          <p:cNvSpPr/>
          <p:nvPr/>
        </p:nvSpPr>
        <p:spPr>
          <a:xfrm>
            <a:off x="609600" y="4724400"/>
            <a:ext cx="5257800" cy="1371600"/>
          </a:xfrm>
          <a:prstGeom prst="roundRect">
            <a:avLst>
              <a:gd name="adj" fmla="val 8333"/>
            </a:avLst>
          </a:prstGeom>
          <a:solidFill>
            <a:schemeClr val="lt2"/>
          </a:solidFill>
          <a:ln w="9525">
            <a:solidFill>
              <a:schemeClr val="accent6"/>
            </a:solidFill>
          </a:ln>
        </p:spPr>
      </p:sp>
      <p:sp>
        <p:nvSpPr>
          <p:cNvPr id="5" name="two-picture-right-caption-panel Layout"/>
          <p:cNvSpPr/>
          <p:nvPr/>
        </p:nvSpPr>
        <p:spPr>
          <a:xfrm>
            <a:off x="6324600" y="4724400"/>
            <a:ext cx="5257800" cy="1371600"/>
          </a:xfrm>
          <a:prstGeom prst="roundRect">
            <a:avLst>
              <a:gd name="adj" fmla="val 8333"/>
            </a:avLst>
          </a:prstGeom>
          <a:solidFill>
            <a:schemeClr val="lt2"/>
          </a:solidFill>
          <a:ln w="9525">
            <a:solidFill>
              <a:schemeClr val="accent6"/>
            </a:solidFill>
          </a:ln>
        </p:spPr>
      </p:sp>
      <p:sp>
        <p:nvSpPr>
          <p:cNvPr id="6" name="two-picture-title-slot Placeholder"/>
          <p:cNvSpPr>
            <a:spLocks noGrp="1"/>
          </p:cNvSpPr>
          <p:nvPr>
            <p:ph type="title"/>
          </p:nvPr>
        </p:nvSpPr>
        <p:spPr>
          <a:xfrm>
            <a:off x="609600" y="381000"/>
            <a:ext cx="10972800" cy="685800"/>
          </a:xfrm>
          <a:prstGeom prst="rect">
            <a:avLst/>
          </a:prstGeom>
          <a:noFill/>
          <a:ln>
            <a:noFill/>
          </a:ln>
        </p:spPr>
        <p:txBody>
          <a:bodyPr wrap="square" lIns="0" tIns="0" rIns="0" bIns="0" anchor="ctr" anchorCtr="0">
            <a:noAutofit/>
          </a:bodyPr>
          <a:lstStyle>
            <a:lvl1pPr>
              <a:defRPr sz="2700" lang="es-AR"/>
            </a:lvl1pPr>
          </a:lstStyle>
          <a:p>
            <a:pPr algn="l"/>
            <a:r>
              <a:rPr lang="es-AR" sz="2700" b="1" dirty="0">
                <a:solidFill>
                  <a:schemeClr val="accent1"/>
                </a:solidFill>
                <a:latin typeface="+mj-lt"/>
                <a:ea typeface="+mj-ea"/>
                <a:cs typeface="+mj-cs"/>
              </a:rPr>
              <a:t>Click to add title</a:t>
            </a:r>
            <a:endParaRPr lang="es-AR"/>
          </a:p>
        </p:txBody>
      </p:sp>
      <p:sp>
        <p:nvSpPr>
          <p:cNvPr id="7" name="two-picture-left-picture-slot Placeholder"/>
          <p:cNvSpPr>
            <a:spLocks noGrp="1"/>
          </p:cNvSpPr>
          <p:nvPr>
            <p:ph type="pic" idx="1"/>
          </p:nvPr>
        </p:nvSpPr>
        <p:spPr>
          <a:xfrm>
            <a:off x="609600" y="1447800"/>
            <a:ext cx="5257800" cy="3048000"/>
          </a:xfrm>
          <a:prstGeom prst="rect">
            <a:avLst/>
          </a:prstGeom>
          <a:noFill/>
          <a:ln>
            <a:noFill/>
          </a:ln>
        </p:spPr>
        <p:txBody>
          <a:bodyPr wrap="square" anchor="ctr" anchorCtr="0">
            <a:noAutofit/>
          </a:bodyPr>
          <a:lstStyle/>
          <a:p>
            <a:r>
              <a:rPr lang="es-AR"/>
              <a:t>Click to add picture</a:t>
            </a:r>
            <a:endParaRPr lang="es-AR"/>
          </a:p>
        </p:txBody>
      </p:sp>
      <p:sp>
        <p:nvSpPr>
          <p:cNvPr id="8" name="two-picture-right-picture-slot Placeholder"/>
          <p:cNvSpPr>
            <a:spLocks noGrp="1"/>
          </p:cNvSpPr>
          <p:nvPr>
            <p:ph type="pic" idx="2"/>
          </p:nvPr>
        </p:nvSpPr>
        <p:spPr>
          <a:xfrm>
            <a:off x="6324600" y="1447800"/>
            <a:ext cx="5257800" cy="3048000"/>
          </a:xfrm>
          <a:prstGeom prst="rect">
            <a:avLst/>
          </a:prstGeom>
          <a:noFill/>
          <a:ln>
            <a:noFill/>
          </a:ln>
        </p:spPr>
        <p:txBody>
          <a:bodyPr wrap="square" anchor="ctr" anchorCtr="0">
            <a:noAutofit/>
          </a:bodyPr>
          <a:lstStyle/>
          <a:p>
            <a:r>
              <a:rPr lang="es-AR"/>
              <a:t>Click to add picture</a:t>
            </a:r>
            <a:endParaRPr lang="es-AR"/>
          </a:p>
        </p:txBody>
      </p:sp>
      <p:sp>
        <p:nvSpPr>
          <p:cNvPr id="9" name="two-picture-left-caption-slot Placeholder"/>
          <p:cNvSpPr>
            <a:spLocks noGrp="1"/>
          </p:cNvSpPr>
          <p:nvPr>
            <p:ph type="body" idx="3"/>
          </p:nvPr>
        </p:nvSpPr>
        <p:spPr>
          <a:xfrm>
            <a:off x="838200" y="4953000"/>
            <a:ext cx="4800600" cy="914400"/>
          </a:xfrm>
          <a:prstGeom prst="rect">
            <a:avLst/>
          </a:prstGeom>
          <a:noFill/>
          <a:ln>
            <a:noFill/>
          </a:ln>
        </p:spPr>
        <p:txBody>
          <a:bodyPr wrap="square" lIns="0" tIns="0" rIns="0" bIns="0" anchor="ctr" anchorCtr="0">
            <a:noAutofit/>
          </a:bodyPr>
          <a:lstStyle>
            <a:lvl1pPr marL="0" indent="0">
              <a:buNone/>
              <a:defRPr sz="1500" lang="es-AR"/>
            </a:lvl1pPr>
          </a:lstStyle>
          <a:p>
            <a:pPr algn="l" marL="0" indent="0">
              <a:lnSpc>
                <a:spcPts val="2025"/>
              </a:lnSpc>
              <a:buNone/>
            </a:pPr>
            <a:r>
              <a:rPr lang="es-AR" sz="1500" dirty="0">
                <a:solidFill>
                  <a:schemeClr val="dk1"/>
                </a:solidFill>
                <a:latin typeface="+mn-lt"/>
                <a:ea typeface="+mn-ea"/>
                <a:cs typeface="+mn-cs"/>
              </a:rPr>
              <a:t>Click to add text</a:t>
            </a:r>
            <a:endParaRPr lang="es-AR"/>
          </a:p>
        </p:txBody>
      </p:sp>
      <p:sp>
        <p:nvSpPr>
          <p:cNvPr id="10" name="two-picture-right-caption-slot Placeholder"/>
          <p:cNvSpPr>
            <a:spLocks noGrp="1"/>
          </p:cNvSpPr>
          <p:nvPr>
            <p:ph type="body" idx="4"/>
          </p:nvPr>
        </p:nvSpPr>
        <p:spPr>
          <a:xfrm>
            <a:off x="6553200" y="4953000"/>
            <a:ext cx="4800600" cy="914400"/>
          </a:xfrm>
          <a:prstGeom prst="rect">
            <a:avLst/>
          </a:prstGeom>
          <a:noFill/>
          <a:ln>
            <a:noFill/>
          </a:ln>
        </p:spPr>
        <p:txBody>
          <a:bodyPr wrap="square" lIns="0" tIns="0" rIns="0" bIns="0" anchor="ctr" anchorCtr="0">
            <a:noAutofit/>
          </a:bodyPr>
          <a:lstStyle>
            <a:lvl1pPr marL="0" indent="0">
              <a:buNone/>
              <a:defRPr sz="1500" lang="es-AR"/>
            </a:lvl1pPr>
          </a:lstStyle>
          <a:p>
            <a:pPr algn="l" marL="0" indent="0">
              <a:lnSpc>
                <a:spcPts val="2025"/>
              </a:lnSpc>
              <a:buNone/>
            </a:pPr>
            <a:r>
              <a:rPr lang="es-AR" sz="1500" dirty="0">
                <a:solidFill>
                  <a:schemeClr val="dk1"/>
                </a:solidFill>
                <a:latin typeface="+mn-lt"/>
                <a:ea typeface="+mn-ea"/>
                <a:cs typeface="+mn-cs"/>
              </a:rPr>
              <a:t>Click to add text</a:t>
            </a:r>
            <a:endParaRPr lang="es-AR"/>
          </a:p>
        </p:txBody>
      </p:sp>
    </p:spTree>
    <p:extLst>
      <p:ext uri="{BB962C8B-B14F-4D97-AF65-F5344CB8AC3E}">
        <p14:creationId val="3104286262"/>
      </p:ext>
    </p:extLst>
  </p:cSld>
  <p:clrMapOvr>
    <a:masterClrMapping/>
  </p:clrMapOvr>
</p:sldLayout>
</file>

<file path=ppt/slideLayouts/slideLayout22.xml><?xml version="1.0" encoding="utf-8"?>
<p:sldLayout xmlns:a="http://schemas.openxmlformats.org/drawingml/2006/main" xmlns:p="http://schemas.openxmlformats.org/presentationml/2006/main" xmlns:p14="http://schemas.microsoft.com/office/powerpoint/2010/main" type="cust" preserve="1" showMasterSp="1">
  <p:cSld name="Chart and Insight">
    <p:spTree>
      <p:nvGrpSpPr>
        <p:cNvPr id="1" name=""/>
        <p:cNvGrpSpPr/>
        <p:nvPr/>
      </p:nvGrpSpPr>
      <p:grpSpPr>
        <a:xfrm>
          <a:off x="0" y="0"/>
          <a:ext cx="0" cy="0"/>
          <a:chOff x="0" y="0"/>
          <a:chExt cx="0" cy="0"/>
        </a:xfrm>
      </p:grpSpPr>
      <p:sp>
        <p:nvSpPr>
          <p:cNvPr id="2" name="chart-insight-chart-panel Layout"/>
          <p:cNvSpPr/>
          <p:nvPr/>
        </p:nvSpPr>
        <p:spPr>
          <a:xfrm>
            <a:off x="609600" y="1447800"/>
            <a:ext cx="7239000" cy="4343400"/>
          </a:xfrm>
          <a:prstGeom prst="roundRect">
            <a:avLst>
              <a:gd name="adj" fmla="val 2632"/>
            </a:avLst>
          </a:prstGeom>
          <a:solidFill>
            <a:schemeClr val="lt2"/>
          </a:solidFill>
          <a:ln w="9525">
            <a:solidFill>
              <a:schemeClr val="accent6"/>
            </a:solidFill>
          </a:ln>
        </p:spPr>
      </p:sp>
      <p:sp>
        <p:nvSpPr>
          <p:cNvPr id="3" name="chart-insight-message-panel Layout"/>
          <p:cNvSpPr/>
          <p:nvPr/>
        </p:nvSpPr>
        <p:spPr>
          <a:xfrm>
            <a:off x="8153400" y="1447800"/>
            <a:ext cx="3429000" cy="4343400"/>
          </a:xfrm>
          <a:prstGeom prst="roundRect">
            <a:avLst>
              <a:gd name="adj" fmla="val 3333"/>
            </a:avLst>
          </a:prstGeom>
          <a:solidFill>
            <a:schemeClr val="lt2"/>
          </a:solidFill>
          <a:ln w="9525">
            <a:solidFill>
              <a:schemeClr val="accent6"/>
            </a:solidFill>
          </a:ln>
        </p:spPr>
      </p:sp>
      <p:sp>
        <p:nvSpPr>
          <p:cNvPr id="4" name="chart-insight-title-slot Placeholder"/>
          <p:cNvSpPr>
            <a:spLocks noGrp="1"/>
          </p:cNvSpPr>
          <p:nvPr>
            <p:ph type="title"/>
          </p:nvPr>
        </p:nvSpPr>
        <p:spPr>
          <a:xfrm>
            <a:off x="609600" y="381000"/>
            <a:ext cx="10972800" cy="685800"/>
          </a:xfrm>
          <a:prstGeom prst="rect">
            <a:avLst/>
          </a:prstGeom>
          <a:noFill/>
          <a:ln>
            <a:noFill/>
          </a:ln>
        </p:spPr>
        <p:txBody>
          <a:bodyPr wrap="square" lIns="0" tIns="0" rIns="0" bIns="0" anchor="ctr" anchorCtr="0">
            <a:noAutofit/>
          </a:bodyPr>
          <a:lstStyle>
            <a:lvl1pPr>
              <a:defRPr sz="2700" lang="es-AR"/>
            </a:lvl1pPr>
          </a:lstStyle>
          <a:p>
            <a:pPr algn="l"/>
            <a:r>
              <a:rPr lang="es-AR" sz="2700" b="1" dirty="0">
                <a:solidFill>
                  <a:schemeClr val="accent1"/>
                </a:solidFill>
                <a:latin typeface="+mj-lt"/>
                <a:ea typeface="+mj-ea"/>
                <a:cs typeface="+mj-cs"/>
              </a:rPr>
              <a:t>Click to add title</a:t>
            </a:r>
            <a:endParaRPr lang="es-AR"/>
          </a:p>
        </p:txBody>
      </p:sp>
      <p:sp>
        <p:nvSpPr>
          <p:cNvPr id="5" name="chart-insight-chart-slot Placeholder"/>
          <p:cNvSpPr>
            <a:spLocks noGrp="1"/>
          </p:cNvSpPr>
          <p:nvPr>
            <p:ph type="chart" idx="1"/>
          </p:nvPr>
        </p:nvSpPr>
        <p:spPr>
          <a:xfrm>
            <a:off x="838200" y="1676400"/>
            <a:ext cx="6781800" cy="3886200"/>
          </a:xfrm>
          <a:prstGeom prst="rect">
            <a:avLst/>
          </a:prstGeom>
          <a:noFill/>
          <a:ln>
            <a:noFill/>
          </a:ln>
        </p:spPr>
        <p:txBody>
          <a:bodyPr wrap="square" anchor="ctr" anchorCtr="0">
            <a:noAutofit/>
          </a:bodyPr>
          <a:lstStyle/>
          <a:p>
            <a:r>
              <a:rPr lang="es-AR"/>
              <a:t>Click to add chart</a:t>
            </a:r>
            <a:endParaRPr lang="es-AR"/>
          </a:p>
        </p:txBody>
      </p:sp>
      <p:sp>
        <p:nvSpPr>
          <p:cNvPr id="6" name="chart-insight-message-slot Placeholder"/>
          <p:cNvSpPr>
            <a:spLocks noGrp="1"/>
          </p:cNvSpPr>
          <p:nvPr>
            <p:ph type="body" idx="2"/>
          </p:nvPr>
        </p:nvSpPr>
        <p:spPr>
          <a:xfrm>
            <a:off x="8458200" y="1752600"/>
            <a:ext cx="2819400" cy="3429000"/>
          </a:xfrm>
          <a:prstGeom prst="rect">
            <a:avLst/>
          </a:prstGeom>
          <a:noFill/>
          <a:ln>
            <a:noFill/>
          </a:ln>
        </p:spPr>
        <p:txBody>
          <a:bodyPr wrap="square" lIns="0" tIns="0" rIns="0" bIns="0" anchor="ctr" anchorCtr="0">
            <a:noAutofit/>
          </a:bodyPr>
          <a:lstStyle>
            <a:lvl1pPr marL="0" indent="0">
              <a:buNone/>
              <a:defRPr sz="1800" lang="es-AR"/>
            </a:lvl1pPr>
          </a:lstStyle>
          <a:p>
            <a:pPr algn="l" marL="0" indent="0">
              <a:lnSpc>
                <a:spcPts val="2250"/>
              </a:lnSpc>
              <a:buNone/>
            </a:pPr>
            <a:r>
              <a:rPr lang="es-AR" sz="1800" b="1" dirty="0">
                <a:solidFill>
                  <a:schemeClr val="accent1"/>
                </a:solidFill>
                <a:latin typeface="+mn-lt"/>
                <a:ea typeface="+mn-ea"/>
                <a:cs typeface="+mn-cs"/>
              </a:rPr>
              <a:t>Click to add text</a:t>
            </a:r>
            <a:endParaRPr lang="es-AR"/>
          </a:p>
        </p:txBody>
      </p:sp>
      <p:sp>
        <p:nvSpPr>
          <p:cNvPr id="7" name="chart-insight-source-slot Placeholder"/>
          <p:cNvSpPr>
            <a:spLocks noGrp="1"/>
          </p:cNvSpPr>
          <p:nvPr>
            <p:ph type="ftr" idx="3"/>
          </p:nvPr>
        </p:nvSpPr>
        <p:spPr>
          <a:xfrm>
            <a:off x="8458200" y="5257800"/>
            <a:ext cx="2819400" cy="304800"/>
          </a:xfrm>
          <a:prstGeom prst="rect">
            <a:avLst/>
          </a:prstGeom>
          <a:noFill/>
          <a:ln>
            <a:noFill/>
          </a:ln>
        </p:spPr>
        <p:txBody>
          <a:bodyPr wrap="square" lIns="0" tIns="0" rIns="0" bIns="0" anchor="ctr" anchorCtr="0">
            <a:noAutofit/>
          </a:bodyPr>
          <a:lstStyle>
            <a:lvl1pPr>
              <a:defRPr sz="1050" lang="es-AR"/>
            </a:lvl1pPr>
          </a:lstStyle>
          <a:p>
            <a:pPr algn="l"/>
            <a:r>
              <a:rPr lang="es-AR" sz="1050" dirty="0">
                <a:solidFill>
                  <a:schemeClr val="accent5"/>
                </a:solidFill>
                <a:latin typeface="+mn-lt"/>
                <a:ea typeface="+mn-ea"/>
                <a:cs typeface="+mn-cs"/>
              </a:rPr>
              <a:t>Footer</a:t>
            </a:r>
            <a:endParaRPr lang="es-AR"/>
          </a:p>
        </p:txBody>
      </p:sp>
    </p:spTree>
    <p:extLst>
      <p:ext uri="{BB962C8B-B14F-4D97-AF65-F5344CB8AC3E}">
        <p14:creationId val="3744561990"/>
      </p:ext>
    </p:extLst>
  </p:cSld>
  <p:clrMapOvr>
    <a:masterClrMapping/>
  </p:clrMapOvr>
  <p:hf hdr="0" dt="0" ftr="1" sldNum="0"/>
</p:sldLayout>
</file>

<file path=ppt/slideLayouts/slideLayout23.xml><?xml version="1.0" encoding="utf-8"?>
<p:sldLayout xmlns:a="http://schemas.openxmlformats.org/drawingml/2006/main" xmlns:p="http://schemas.openxmlformats.org/presentationml/2006/main" xmlns:p14="http://schemas.microsoft.com/office/powerpoint/2010/main" type="cust" preserve="1" showMasterSp="1">
  <p:cSld name="Screenshot Focus">
    <p:spTree>
      <p:nvGrpSpPr>
        <p:cNvPr id="1" name=""/>
        <p:cNvGrpSpPr/>
        <p:nvPr/>
      </p:nvGrpSpPr>
      <p:grpSpPr>
        <a:xfrm>
          <a:off x="0" y="0"/>
          <a:ext cx="0" cy="0"/>
          <a:chOff x="0" y="0"/>
          <a:chExt cx="0" cy="0"/>
        </a:xfrm>
      </p:grpSpPr>
      <p:sp>
        <p:nvSpPr>
          <p:cNvPr id="2" name="screenshot-focus-frame Layout"/>
          <p:cNvSpPr/>
          <p:nvPr/>
        </p:nvSpPr>
        <p:spPr>
          <a:xfrm>
            <a:off x="609600" y="1447800"/>
            <a:ext cx="7848600" cy="4419600"/>
          </a:xfrm>
          <a:prstGeom prst="roundRect">
            <a:avLst>
              <a:gd name="adj" fmla="val 2586"/>
            </a:avLst>
          </a:prstGeom>
          <a:solidFill>
            <a:schemeClr val="lt2"/>
          </a:solidFill>
          <a:ln w="9525">
            <a:solidFill>
              <a:schemeClr val="accent6"/>
            </a:solidFill>
          </a:ln>
        </p:spPr>
      </p:sp>
      <p:sp>
        <p:nvSpPr>
          <p:cNvPr id="3" name="screenshot-focus-browser-bar Layout"/>
          <p:cNvSpPr/>
          <p:nvPr/>
        </p:nvSpPr>
        <p:spPr>
          <a:xfrm>
            <a:off x="609600" y="1447800"/>
            <a:ext cx="7848600" cy="419100"/>
          </a:xfrm>
          <a:prstGeom prst="roundRect">
            <a:avLst>
              <a:gd name="adj" fmla="val 27273"/>
            </a:avLst>
          </a:prstGeom>
          <a:solidFill>
            <a:schemeClr val="accent6"/>
          </a:solidFill>
          <a:ln>
            <a:noFill/>
          </a:ln>
        </p:spPr>
      </p:sp>
      <p:sp>
        <p:nvSpPr>
          <p:cNvPr id="4" name="screenshot-focus-browser-dot-one Layout"/>
          <p:cNvSpPr/>
          <p:nvPr/>
        </p:nvSpPr>
        <p:spPr>
          <a:xfrm>
            <a:off x="819150" y="1600200"/>
            <a:ext cx="114300" cy="114300"/>
          </a:xfrm>
          <a:prstGeom prst="ellipse">
            <a:avLst/>
          </a:prstGeom>
          <a:solidFill>
            <a:srgbClr val="5B6472"/>
          </a:solidFill>
          <a:ln>
            <a:noFill/>
          </a:ln>
        </p:spPr>
      </p:sp>
      <p:sp>
        <p:nvSpPr>
          <p:cNvPr id="5" name="screenshot-focus-browser-dot-two Layout"/>
          <p:cNvSpPr/>
          <p:nvPr/>
        </p:nvSpPr>
        <p:spPr>
          <a:xfrm>
            <a:off x="1047750" y="1600200"/>
            <a:ext cx="114300" cy="114300"/>
          </a:xfrm>
          <a:prstGeom prst="ellipse">
            <a:avLst/>
          </a:prstGeom>
          <a:solidFill>
            <a:srgbClr val="5B6472"/>
          </a:solidFill>
          <a:ln>
            <a:noFill/>
          </a:ln>
        </p:spPr>
      </p:sp>
      <p:sp>
        <p:nvSpPr>
          <p:cNvPr id="6" name="screenshot-focus-browser-dot-three Layout"/>
          <p:cNvSpPr/>
          <p:nvPr/>
        </p:nvSpPr>
        <p:spPr>
          <a:xfrm>
            <a:off x="1276350" y="1600200"/>
            <a:ext cx="114300" cy="114300"/>
          </a:xfrm>
          <a:prstGeom prst="ellipse">
            <a:avLst/>
          </a:prstGeom>
          <a:solidFill>
            <a:srgbClr val="5B6472"/>
          </a:solidFill>
          <a:ln>
            <a:noFill/>
          </a:ln>
        </p:spPr>
      </p:sp>
      <p:sp>
        <p:nvSpPr>
          <p:cNvPr id="7" name="screenshot-focus-note-panel Layout"/>
          <p:cNvSpPr/>
          <p:nvPr/>
        </p:nvSpPr>
        <p:spPr>
          <a:xfrm>
            <a:off x="8763000" y="1447800"/>
            <a:ext cx="2819400" cy="4419600"/>
          </a:xfrm>
          <a:prstGeom prst="roundRect">
            <a:avLst>
              <a:gd name="adj" fmla="val 4054"/>
            </a:avLst>
          </a:prstGeom>
          <a:solidFill>
            <a:schemeClr val="lt2"/>
          </a:solidFill>
          <a:ln w="9525">
            <a:solidFill>
              <a:schemeClr val="accent6"/>
            </a:solidFill>
          </a:ln>
        </p:spPr>
      </p:sp>
      <p:sp>
        <p:nvSpPr>
          <p:cNvPr id="8" name="screenshot-focus-note-accent Layout"/>
          <p:cNvSpPr/>
          <p:nvPr/>
        </p:nvSpPr>
        <p:spPr>
          <a:xfrm>
            <a:off x="8991600" y="1752600"/>
            <a:ext cx="38100" cy="762000"/>
          </a:xfrm>
          <a:prstGeom prst="roundRect">
            <a:avLst>
              <a:gd name="adj" fmla="val 50000"/>
            </a:avLst>
          </a:prstGeom>
          <a:solidFill>
            <a:schemeClr val="accent1"/>
          </a:solidFill>
          <a:ln>
            <a:noFill/>
          </a:ln>
        </p:spPr>
      </p:sp>
      <p:sp>
        <p:nvSpPr>
          <p:cNvPr id="9" name="screenshot-focus-source-rule Layout"/>
          <p:cNvSpPr/>
          <p:nvPr/>
        </p:nvSpPr>
        <p:spPr>
          <a:xfrm>
            <a:off x="9067800" y="4953000"/>
            <a:ext cx="2209800" cy="19050"/>
          </a:xfrm>
          <a:prstGeom prst="rect">
            <a:avLst/>
          </a:prstGeom>
          <a:solidFill>
            <a:schemeClr val="accent6"/>
          </a:solidFill>
          <a:ln>
            <a:noFill/>
          </a:ln>
        </p:spPr>
      </p:sp>
      <p:sp>
        <p:nvSpPr>
          <p:cNvPr id="10" name="screenshot-focus-title-slot Placeholder"/>
          <p:cNvSpPr>
            <a:spLocks noGrp="1"/>
          </p:cNvSpPr>
          <p:nvPr>
            <p:ph type="title"/>
          </p:nvPr>
        </p:nvSpPr>
        <p:spPr>
          <a:xfrm>
            <a:off x="609600" y="381000"/>
            <a:ext cx="10972800" cy="685800"/>
          </a:xfrm>
          <a:prstGeom prst="rect">
            <a:avLst/>
          </a:prstGeom>
          <a:noFill/>
          <a:ln>
            <a:noFill/>
          </a:ln>
        </p:spPr>
        <p:txBody>
          <a:bodyPr wrap="square" lIns="0" tIns="0" rIns="0" bIns="0" anchor="ctr" anchorCtr="0">
            <a:noAutofit/>
          </a:bodyPr>
          <a:lstStyle>
            <a:lvl1pPr>
              <a:defRPr sz="2700" lang="es-AR"/>
            </a:lvl1pPr>
          </a:lstStyle>
          <a:p>
            <a:pPr algn="l"/>
            <a:r>
              <a:rPr lang="es-AR" sz="2700" b="1" dirty="0">
                <a:solidFill>
                  <a:schemeClr val="accent1"/>
                </a:solidFill>
                <a:latin typeface="+mj-lt"/>
                <a:ea typeface="+mj-ea"/>
                <a:cs typeface="+mj-cs"/>
              </a:rPr>
              <a:t>Click to add title</a:t>
            </a:r>
            <a:endParaRPr lang="es-AR"/>
          </a:p>
        </p:txBody>
      </p:sp>
      <p:sp>
        <p:nvSpPr>
          <p:cNvPr id="11" name="screenshot-focus-picture-slot Placeholder"/>
          <p:cNvSpPr>
            <a:spLocks noGrp="1"/>
          </p:cNvSpPr>
          <p:nvPr>
            <p:ph type="pic" idx="1"/>
          </p:nvPr>
        </p:nvSpPr>
        <p:spPr>
          <a:xfrm>
            <a:off x="609600" y="1866900"/>
            <a:ext cx="7848600" cy="4000500"/>
          </a:xfrm>
          <a:prstGeom prst="rect">
            <a:avLst/>
          </a:prstGeom>
          <a:noFill/>
          <a:ln>
            <a:noFill/>
          </a:ln>
        </p:spPr>
        <p:txBody>
          <a:bodyPr wrap="square" anchor="ctr" anchorCtr="0">
            <a:noAutofit/>
          </a:bodyPr>
          <a:lstStyle/>
          <a:p>
            <a:r>
              <a:rPr lang="es-AR"/>
              <a:t>Click to add picture</a:t>
            </a:r>
            <a:endParaRPr lang="es-AR"/>
          </a:p>
        </p:txBody>
      </p:sp>
      <p:sp>
        <p:nvSpPr>
          <p:cNvPr id="12" name="screenshot-focus-annotation-slot Placeholder"/>
          <p:cNvSpPr>
            <a:spLocks noGrp="1"/>
          </p:cNvSpPr>
          <p:nvPr>
            <p:ph type="body" idx="2"/>
          </p:nvPr>
        </p:nvSpPr>
        <p:spPr>
          <a:xfrm>
            <a:off x="9220200" y="1752600"/>
            <a:ext cx="2057400" cy="2895600"/>
          </a:xfrm>
          <a:prstGeom prst="rect">
            <a:avLst/>
          </a:prstGeom>
          <a:noFill/>
          <a:ln>
            <a:noFill/>
          </a:ln>
        </p:spPr>
        <p:txBody>
          <a:bodyPr wrap="square" lIns="0" tIns="0" rIns="0" bIns="0" anchor="ctr" anchorCtr="0">
            <a:noAutofit/>
          </a:bodyPr>
          <a:lstStyle>
            <a:lvl1pPr marL="0" indent="0">
              <a:buNone/>
              <a:defRPr sz="1800" lang="es-AR"/>
            </a:lvl1pPr>
          </a:lstStyle>
          <a:p>
            <a:pPr algn="l" marL="0" indent="0">
              <a:lnSpc>
                <a:spcPts val="2025"/>
              </a:lnSpc>
              <a:buNone/>
            </a:pPr>
            <a:r>
              <a:rPr lang="es-AR" sz="1800" b="1" dirty="0">
                <a:solidFill>
                  <a:schemeClr val="accent1"/>
                </a:solidFill>
                <a:latin typeface="+mn-lt"/>
                <a:ea typeface="+mn-ea"/>
                <a:cs typeface="+mn-cs"/>
              </a:rPr>
              <a:t>Click to add text</a:t>
            </a:r>
            <a:endParaRPr lang="es-AR"/>
          </a:p>
        </p:txBody>
      </p:sp>
      <p:sp>
        <p:nvSpPr>
          <p:cNvPr id="13" name="screenshot-focus-source-slot Placeholder"/>
          <p:cNvSpPr>
            <a:spLocks noGrp="1"/>
          </p:cNvSpPr>
          <p:nvPr>
            <p:ph type="ftr" idx="3"/>
          </p:nvPr>
        </p:nvSpPr>
        <p:spPr>
          <a:xfrm>
            <a:off x="9067800" y="5105400"/>
            <a:ext cx="2209800" cy="381000"/>
          </a:xfrm>
          <a:prstGeom prst="rect">
            <a:avLst/>
          </a:prstGeom>
          <a:noFill/>
          <a:ln>
            <a:noFill/>
          </a:ln>
        </p:spPr>
        <p:txBody>
          <a:bodyPr wrap="square" lIns="0" tIns="0" rIns="0" bIns="0" anchor="ctr" anchorCtr="0">
            <a:noAutofit/>
          </a:bodyPr>
          <a:lstStyle>
            <a:lvl1pPr>
              <a:defRPr sz="1050" lang="es-AR"/>
            </a:lvl1pPr>
          </a:lstStyle>
          <a:p>
            <a:pPr algn="l"/>
            <a:r>
              <a:rPr lang="es-AR" sz="1050" dirty="0">
                <a:solidFill>
                  <a:schemeClr val="accent5"/>
                </a:solidFill>
                <a:latin typeface="+mn-lt"/>
                <a:ea typeface="+mn-ea"/>
                <a:cs typeface="+mn-cs"/>
              </a:rPr>
              <a:t>Footer</a:t>
            </a:r>
            <a:endParaRPr lang="es-AR"/>
          </a:p>
        </p:txBody>
      </p:sp>
    </p:spTree>
    <p:extLst>
      <p:ext uri="{BB962C8B-B14F-4D97-AF65-F5344CB8AC3E}">
        <p14:creationId val="598584555"/>
      </p:ext>
    </p:extLst>
  </p:cSld>
  <p:clrMapOvr>
    <a:masterClrMapping/>
  </p:clrMapOvr>
  <p:hf hdr="0" dt="0" ftr="1" sldNum="0"/>
</p:sldLayout>
</file>

<file path=ppt/slideLayouts/slideLayout24.xml><?xml version="1.0" encoding="utf-8"?>
<p:sldLayout xmlns:a="http://schemas.openxmlformats.org/drawingml/2006/main" xmlns:p="http://schemas.openxmlformats.org/presentationml/2006/main" xmlns:p14="http://schemas.microsoft.com/office/powerpoint/2010/main" type="cust" preserve="1" showMasterSp="1">
  <p:cSld name="Hero Statement">
    <p:spTree>
      <p:nvGrpSpPr>
        <p:cNvPr id="1" name=""/>
        <p:cNvGrpSpPr/>
        <p:nvPr/>
      </p:nvGrpSpPr>
      <p:grpSpPr>
        <a:xfrm>
          <a:off x="0" y="0"/>
          <a:ext cx="0" cy="0"/>
          <a:chOff x="0" y="0"/>
          <a:chExt cx="0" cy="0"/>
        </a:xfrm>
      </p:grpSpPr>
      <p:sp>
        <p:nvSpPr>
          <p:cNvPr id="2" name="hero-statement-field Layout"/>
          <p:cNvSpPr/>
          <p:nvPr/>
        </p:nvSpPr>
        <p:spPr>
          <a:xfrm>
            <a:off x="609600" y="914400"/>
            <a:ext cx="10972800" cy="5029200"/>
          </a:xfrm>
          <a:prstGeom prst="roundRect">
            <a:avLst>
              <a:gd name="adj" fmla="val 3788"/>
            </a:avLst>
          </a:prstGeom>
          <a:solidFill>
            <a:schemeClr val="lt2"/>
          </a:solidFill>
          <a:ln>
            <a:noFill/>
          </a:ln>
        </p:spPr>
      </p:sp>
      <p:sp>
        <p:nvSpPr>
          <p:cNvPr id="3" name="hero-statement-accent Layout"/>
          <p:cNvSpPr/>
          <p:nvPr/>
        </p:nvSpPr>
        <p:spPr>
          <a:xfrm>
            <a:off x="914400" y="1371600"/>
            <a:ext cx="1524000" cy="57150"/>
          </a:xfrm>
          <a:prstGeom prst="roundRect">
            <a:avLst>
              <a:gd name="adj" fmla="val 50000"/>
            </a:avLst>
          </a:prstGeom>
          <a:solidFill>
            <a:schemeClr val="accent1"/>
          </a:solidFill>
          <a:ln>
            <a:noFill/>
          </a:ln>
        </p:spPr>
      </p:sp>
      <p:sp>
        <p:nvSpPr>
          <p:cNvPr id="4" name="hero-statement-title-slot Placeholder"/>
          <p:cNvSpPr>
            <a:spLocks noGrp="1"/>
          </p:cNvSpPr>
          <p:nvPr>
            <p:ph type="title"/>
          </p:nvPr>
        </p:nvSpPr>
        <p:spPr>
          <a:xfrm>
            <a:off x="914400" y="1752600"/>
            <a:ext cx="10363200" cy="1981200"/>
          </a:xfrm>
          <a:prstGeom prst="rect">
            <a:avLst/>
          </a:prstGeom>
          <a:noFill/>
          <a:ln>
            <a:noFill/>
          </a:ln>
        </p:spPr>
        <p:txBody>
          <a:bodyPr wrap="square" lIns="0" tIns="0" rIns="0" bIns="0" anchor="ctr" anchorCtr="0">
            <a:noAutofit/>
          </a:bodyPr>
          <a:lstStyle>
            <a:lvl1pPr>
              <a:defRPr sz="4200" lang="es-AR"/>
            </a:lvl1pPr>
          </a:lstStyle>
          <a:p>
            <a:pPr algn="l">
              <a:lnSpc>
                <a:spcPts val="5100"/>
              </a:lnSpc>
            </a:pPr>
            <a:r>
              <a:rPr lang="es-AR" sz="4200" b="1" dirty="0">
                <a:solidFill>
                  <a:schemeClr val="accent1"/>
                </a:solidFill>
                <a:latin typeface="+mj-lt"/>
                <a:ea typeface="+mj-ea"/>
                <a:cs typeface="+mj-cs"/>
              </a:rPr>
              <a:t>Click to add title</a:t>
            </a:r>
            <a:endParaRPr lang="es-AR"/>
          </a:p>
        </p:txBody>
      </p:sp>
      <p:sp>
        <p:nvSpPr>
          <p:cNvPr id="5" name="hero-statement-subtitle-slot Placeholder"/>
          <p:cNvSpPr>
            <a:spLocks noGrp="1"/>
          </p:cNvSpPr>
          <p:nvPr>
            <p:ph type="subTitle" idx="1"/>
          </p:nvPr>
        </p:nvSpPr>
        <p:spPr>
          <a:xfrm>
            <a:off x="914400" y="4038600"/>
            <a:ext cx="7239000" cy="685800"/>
          </a:xfrm>
          <a:prstGeom prst="rect">
            <a:avLst/>
          </a:prstGeom>
          <a:noFill/>
          <a:ln>
            <a:noFill/>
          </a:ln>
        </p:spPr>
        <p:txBody>
          <a:bodyPr wrap="square" lIns="0" tIns="0" rIns="0" bIns="0" anchor="ctr" anchorCtr="0">
            <a:noAutofit/>
          </a:bodyPr>
          <a:lstStyle>
            <a:lvl1pPr marL="0" indent="0">
              <a:buNone/>
              <a:defRPr sz="2100" lang="es-AR"/>
            </a:lvl1pPr>
          </a:lstStyle>
          <a:p>
            <a:pPr algn="l" marL="0" indent="0">
              <a:buNone/>
            </a:pPr>
            <a:r>
              <a:rPr lang="es-AR" sz="2100" dirty="0">
                <a:solidFill>
                  <a:schemeClr val="accent3"/>
                </a:solidFill>
                <a:latin typeface="+mn-lt"/>
                <a:ea typeface="+mn-ea"/>
                <a:cs typeface="+mn-cs"/>
              </a:rPr>
              <a:t>Click to add subtitle</a:t>
            </a:r>
            <a:endParaRPr lang="es-AR"/>
          </a:p>
        </p:txBody>
      </p:sp>
    </p:spTree>
    <p:extLst>
      <p:ext uri="{BB962C8B-B14F-4D97-AF65-F5344CB8AC3E}">
        <p14:creationId val="542359507"/>
      </p:ext>
    </p:extLst>
  </p:cSld>
  <p:clrMapOvr>
    <a:masterClrMapping/>
  </p:clrMapOvr>
</p:sldLayout>
</file>

<file path=ppt/slideMasters/_rels/slideMaster1.xml.rels><?xml version='1.0' encoding='UTF-8' standalone='yes'?>
<Relationships xmlns="http://schemas.openxmlformats.org/package/2006/relationships"><Relationship Id="rId12" Type="http://schemas.openxmlformats.org/officeDocument/2006/relationships/theme" Target="../theme/theme1.xml"/>  <Relationship Id="rId13" Type="http://schemas.openxmlformats.org/officeDocument/2006/relationships/slideLayout" Target="../slideLayouts/slideLayout12.xml"/>
  <Relationship Id="rId14" Type="http://schemas.openxmlformats.org/officeDocument/2006/relationships/slideLayout" Target="../slideLayouts/slideLayout13.xml"/>
  <Relationship Id="rId15" Type="http://schemas.openxmlformats.org/officeDocument/2006/relationships/slideLayout" Target="../slideLayouts/slideLayout14.xml"/>
  <Relationship Id="rId16" Type="http://schemas.openxmlformats.org/officeDocument/2006/relationships/slideLayout" Target="../slideLayouts/slideLayout15.xml"/>
  <Relationship Id="rId17" Type="http://schemas.openxmlformats.org/officeDocument/2006/relationships/slideLayout" Target="../slideLayouts/slideLayout16.xml"/>
  <Relationship Id="rId18" Type="http://schemas.openxmlformats.org/officeDocument/2006/relationships/slideLayout" Target="../slideLayouts/slideLayout17.xml"/>
  <Relationship Id="rId19" Type="http://schemas.openxmlformats.org/officeDocument/2006/relationships/slideLayout" Target="../slideLayouts/slideLayout18.xml"/>
  <Relationship Id="rId20" Type="http://schemas.openxmlformats.org/officeDocument/2006/relationships/slideLayout" Target="../slideLayouts/slideLayout19.xml"/>
  <Relationship Id="rId21" Type="http://schemas.openxmlformats.org/officeDocument/2006/relationships/slideLayout" Target="../slideLayouts/slideLayout20.xml"/>
  <Relationship Id="rId22" Type="http://schemas.openxmlformats.org/officeDocument/2006/relationships/slideLayout" Target="../slideLayouts/slideLayout21.xml"/>
  <Relationship Id="rId23" Type="http://schemas.openxmlformats.org/officeDocument/2006/relationships/slideLayout" Target="../slideLayouts/slideLayout22.xml"/>
  <Relationship Id="rId24" Type="http://schemas.openxmlformats.org/officeDocument/2006/relationships/slideLayout" Target="../slideLayouts/slideLayout23.xml"/>
  <Relationship Id="rId25" Type="http://schemas.openxmlformats.org/officeDocument/2006/relationships/slideLayout" Target="../slideLayouts/slideLayout24.xml"/>
</Relationships>
</file>

<file path=ppt/slideMasters/slideMaster1.xml><?xml version="1.0" encoding="utf-8"?>
<p:sldMaster xmlns:a="http://schemas.openxmlformats.org/drawingml/2006/main" xmlns:p="http://schemas.openxmlformats.org/presentationml/2006/main" xmlns:p14="http://schemas.microsoft.com/office/powerpoint/2010/main" xmlns:r="http://schemas.openxmlformats.org/officeDocument/2006/relationships">
  <p:cSld name="Presentation Core">
    <p:bg>
      <p:bgPr>
        <a:solidFill>
          <a:schemeClr val="lt1"/>
        </a:solidFill>
        <a:effectLst/>
      </p:bgPr>
    </p:bg>
    <p:spTree>
      <p:nvGrpSpPr>
        <p:cNvPr id="1" name=""/>
        <p:cNvGrpSpPr/>
        <p:nvPr/>
      </p:nvGrpSpPr>
      <p:grpSpPr>
        <a:xfrm>
          <a:off x="0" y="0"/>
          <a:ext cx="0" cy="0"/>
          <a:chOff x="0" y="0"/>
          <a:chExt cx="0" cy="0"/>
        </a:xfrm>
      </p:grpSpPr>
    </p:spTree>
    <p:extLst>
      <p:ext uri="{BB962C8B-B14F-4D97-AF65-F5344CB8AC3E}">
        <p14:creationId val="2209977519"/>
      </p:ext>
    </p:extLst>
  </p:cSld>
  <p:clrMap bg1="lt1" tx1="dk1" bg2="lt2" tx2="dk2" accent1="accent1" accent2="accent2" accent3="accent3" accent4="accent4" accent5="accent5" accent6="accent6" hlink="hlink" folHlink="folHlink"/>
  <p:sldLayoutIdLst>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Lst>
  <p:txStyles>
    <p:titleStyle>
      <a:lvl1pPr algn="ctr" defTabSz="457200" rtl="0" eaLnBrk="1" latinLnBrk="0" hangingPunct="1">
        <a:spcBef>
          <a:spcPct val="0"/>
        </a:spcBef>
        <a:buNone/>
        <a:defRPr sz="2700" kern="1200" lang="es-AR">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800" kern="1200" lang="es-AR">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700" kern="1200" lang="es-AR">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600" kern="1200" lang="es-AR">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450" kern="1200" lang="es-AR">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350" kern="1200" lang="es-AR">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250" kern="1200" lang="es-AR">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100" kern="1200" lang="es-AR">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000" kern="1200" lang="es-AR">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900" kern="1200" lang="es-AR">
          <a:solidFill>
            <a:schemeClr val="tx1"/>
          </a:solidFill>
          <a:latin typeface="+mn-lt"/>
          <a:ea typeface="+mn-ea"/>
          <a:cs typeface="+mn-cs"/>
        </a:defRPr>
      </a:lvl9pPr>
    </p:bodyStyle>
    <p:otherStyle>
      <a:defPPr>
        <a:defRPr lang="es-AR"/>
      </a:defPPr>
      <a:lvl1pPr marL="0" algn="l" defTabSz="457200" rtl="0" eaLnBrk="1" latinLnBrk="0" hangingPunct="1">
        <a:defRPr sz="1800" kern="1200" lang="es-AR">
          <a:solidFill>
            <a:schemeClr val="tx1"/>
          </a:solidFill>
          <a:latin typeface="+mn-lt"/>
          <a:ea typeface="+mn-ea"/>
          <a:cs typeface="+mn-cs"/>
        </a:defRPr>
      </a:lvl1pPr>
      <a:lvl2pPr marL="457200" algn="l" defTabSz="457200" rtl="0" eaLnBrk="1" latinLnBrk="0" hangingPunct="1">
        <a:defRPr sz="1700" kern="1200" lang="es-AR">
          <a:solidFill>
            <a:schemeClr val="tx1"/>
          </a:solidFill>
          <a:latin typeface="+mn-lt"/>
          <a:ea typeface="+mn-ea"/>
          <a:cs typeface="+mn-cs"/>
        </a:defRPr>
      </a:lvl2pPr>
      <a:lvl3pPr marL="914400" algn="l" defTabSz="457200" rtl="0" eaLnBrk="1" latinLnBrk="0" hangingPunct="1">
        <a:defRPr sz="1600" kern="1200" lang="es-AR">
          <a:solidFill>
            <a:schemeClr val="tx1"/>
          </a:solidFill>
          <a:latin typeface="+mn-lt"/>
          <a:ea typeface="+mn-ea"/>
          <a:cs typeface="+mn-cs"/>
        </a:defRPr>
      </a:lvl3pPr>
      <a:lvl4pPr marL="1371600" algn="l" defTabSz="457200" rtl="0" eaLnBrk="1" latinLnBrk="0" hangingPunct="1">
        <a:defRPr sz="1450" kern="1200" lang="es-AR">
          <a:solidFill>
            <a:schemeClr val="tx1"/>
          </a:solidFill>
          <a:latin typeface="+mn-lt"/>
          <a:ea typeface="+mn-ea"/>
          <a:cs typeface="+mn-cs"/>
        </a:defRPr>
      </a:lvl4pPr>
      <a:lvl5pPr marL="1828800" algn="l" defTabSz="457200" rtl="0" eaLnBrk="1" latinLnBrk="0" hangingPunct="1">
        <a:defRPr sz="1350" kern="1200" lang="es-AR">
          <a:solidFill>
            <a:schemeClr val="tx1"/>
          </a:solidFill>
          <a:latin typeface="+mn-lt"/>
          <a:ea typeface="+mn-ea"/>
          <a:cs typeface="+mn-cs"/>
        </a:defRPr>
      </a:lvl5pPr>
      <a:lvl6pPr marL="2286000" algn="l" defTabSz="457200" rtl="0" eaLnBrk="1" latinLnBrk="0" hangingPunct="1">
        <a:defRPr sz="1250" kern="1200" lang="es-AR">
          <a:solidFill>
            <a:schemeClr val="tx1"/>
          </a:solidFill>
          <a:latin typeface="+mn-lt"/>
          <a:ea typeface="+mn-ea"/>
          <a:cs typeface="+mn-cs"/>
        </a:defRPr>
      </a:lvl6pPr>
      <a:lvl7pPr marL="2743200" algn="l" defTabSz="457200" rtl="0" eaLnBrk="1" latinLnBrk="0" hangingPunct="1">
        <a:defRPr sz="1100" kern="1200" lang="es-AR">
          <a:solidFill>
            <a:schemeClr val="tx1"/>
          </a:solidFill>
          <a:latin typeface="+mn-lt"/>
          <a:ea typeface="+mn-ea"/>
          <a:cs typeface="+mn-cs"/>
        </a:defRPr>
      </a:lvl7pPr>
      <a:lvl8pPr marL="3200400" algn="l" defTabSz="457200" rtl="0" eaLnBrk="1" latinLnBrk="0" hangingPunct="1">
        <a:defRPr sz="1000" kern="1200" lang="es-AR">
          <a:solidFill>
            <a:schemeClr val="tx1"/>
          </a:solidFill>
          <a:latin typeface="+mn-lt"/>
          <a:ea typeface="+mn-ea"/>
          <a:cs typeface="+mn-cs"/>
        </a:defRPr>
      </a:lvl8pPr>
      <a:lvl9pPr marL="3657600" algn="l" defTabSz="457200" rtl="0" eaLnBrk="1" latinLnBrk="0" hangingPunct="1">
        <a:defRPr sz="900" kern="1200" lang="es-AR">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2.xml"/>
  <Relationship Id="rId2" Type="http://schemas.openxmlformats.org/officeDocument/2006/relationships/image" Target="../media/image_1de79ead606c448f.png"/>
  <Relationship Id="rId3" Type="http://schemas.openxmlformats.org/officeDocument/2006/relationships/image" Target="../media/image_4e092245a1198765.png"/>
  <Relationship Id="rId4"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3.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4.xml"/>
  <Relationship Id="rId2" Type="http://schemas.openxmlformats.org/officeDocument/2006/relationships/image" Target="../media/image_3588b6e7a0d0d17c.png"/>
  <Relationship Id="rId3"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5.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6.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15.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17.xml"/>
  <Relationship Id="rId2" Type="http://schemas.openxmlformats.org/officeDocument/2006/relationships/image" Target="../media/image_6cfa9bb30c364433.png"/>
  <Relationship Id="rId3"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14.xml"/>
  <Relationship Id="rId2" Type="http://schemas.openxmlformats.org/officeDocument/2006/relationships/image" Target="../media/image_c785d4bd50b79110.png"/>
  <Relationship Id="rId3"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14.xml"/>
  <Relationship Id="rId2" Type="http://schemas.openxmlformats.org/officeDocument/2006/relationships/image" Target="../media/image_59366d55db20eae2.png"/>
  <Relationship Id="rId3"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18.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19.xml"/>
  <Relationship Id="rId2"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14.xml"/>
  <Relationship Id="rId2" Type="http://schemas.openxmlformats.org/officeDocument/2006/relationships/image" Target="../media/image_a70116a4d1cf85eb.png"/>
  <Relationship Id="rId3"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14.xml"/>
  <Relationship Id="rId2" Type="http://schemas.openxmlformats.org/officeDocument/2006/relationships/image" Target="../media/image_68237477fdd1ce2f.png"/>
  <Relationship Id="rId3"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20.xml"/>
  <Relationship Id="rId2"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21.xml"/>
  <Relationship Id="rId2" Type="http://schemas.openxmlformats.org/officeDocument/2006/relationships/image" Target="../media/image_c940d441ae55aac1.png"/>
  <Relationship Id="rId3" Type="http://schemas.openxmlformats.org/officeDocument/2006/relationships/image" Target="../media/image_eac12220dac6fde0.png"/>
  <Relationship Id="rId4" Type="http://schemas.openxmlformats.org/officeDocument/2006/relationships/notesSlide" Target="../notesSlides/notesSlide15.xml"/>
</Relationships>
</file>

<file path=ppt/slides/_rels/slide16.xml.rels><?xml version="1.0" encoding="UTF-8" standalone="yes"?>
<Relationships xmlns="http://schemas.openxmlformats.org/package/2006/relationships">
  <Relationship Id="rId1"
                Type="http://schemas.openxmlformats.org/officeDocument/2006/relationships/slideLayout"
                Target="../slideLayouts/slideLayout22.xml"/>
  <Relationship Id="rId2" Type="http://schemas.openxmlformats.org/officeDocument/2006/relationships/chart" Target="../charts/chart1601.xml"/>
  <Relationship Id="rId3" Type="http://schemas.openxmlformats.org/officeDocument/2006/relationships/notesSlide" Target="../notesSlides/notesSlide16.xml"/>
</Relationships>
</file>

<file path=ppt/slides/_rels/slide17.xml.rels><?xml version="1.0" encoding="UTF-8" standalone="yes"?>
<Relationships xmlns="http://schemas.openxmlformats.org/package/2006/relationships">
  <Relationship Id="rId1"
                Type="http://schemas.openxmlformats.org/officeDocument/2006/relationships/slideLayout"
                Target="../slideLayouts/slideLayout23.xml"/>
  <Relationship Id="rId2" Type="http://schemas.openxmlformats.org/officeDocument/2006/relationships/image" Target="../media/image_86709552130a3079.png"/>
  <Relationship Id="rId3" Type="http://schemas.openxmlformats.org/officeDocument/2006/relationships/notesSlide" Target="../notesSlides/notesSlide17.xml"/>
</Relationships>
</file>

<file path=ppt/slides/_rels/slide18.xml.rels><?xml version="1.0" encoding="UTF-8" standalone="yes"?>
<Relationships xmlns="http://schemas.openxmlformats.org/package/2006/relationships">
  <Relationship Id="rId1"
                Type="http://schemas.openxmlformats.org/officeDocument/2006/relationships/slideLayout"
                Target="../slideLayouts/slideLayout18.xml"/>
  <Relationship Id="rId2" Type="http://schemas.openxmlformats.org/officeDocument/2006/relationships/notesSlide" Target="../notesSlides/notesSlide18.xml"/>
</Relationships>
</file>

<file path=ppt/slides/_rels/slide19.xml.rels><?xml version="1.0" encoding="UTF-8" standalone="yes"?>
<Relationships xmlns="http://schemas.openxmlformats.org/package/2006/relationships">
  <Relationship Id="rId1"
                Type="http://schemas.openxmlformats.org/officeDocument/2006/relationships/slideLayout"
                Target="../slideLayouts/slideLayout24.xml"/>
  <Relationship Id="rId2" Type="http://schemas.openxmlformats.org/officeDocument/2006/relationships/notesSlide" Target="../notesSlides/notesSlide19.xml"/>
</Relationships>
</file>

<file path=ppt/slides/slide1.xml><?xml version="1.0" encoding="utf-8"?>
<p:sld xmlns:a="http://schemas.openxmlformats.org/drawingml/2006/main" xmlns:p="http://schemas.openxmlformats.org/presentationml/2006/main" xmlns:p14="http://schemas.microsoft.com/office/powerpoint/2010/main" xmlns:r="http://schemas.openxmlformats.org/officeDocument/2006/relationships" showMasterSp="1">
  <p:cSld>
    <p:spTree>
      <p:nvGrpSpPr>
        <p:cNvPr id="1" name=""/>
        <p:cNvGrpSpPr/>
        <p:nvPr/>
      </p:nvGrpSpPr>
      <p:grpSpPr>
        <a:xfrm>
          <a:off x="0" y="0"/>
          <a:ext cx="0" cy="0"/>
          <a:chOff x="0" y="0"/>
          <a:chExt cx="0" cy="0"/>
        </a:xfrm>
      </p:grpSpPr>
      <p:sp>
        <p:nvSpPr>
          <p:cNvPr id="4" name="title-slide-title-slot Placeholder Carrier"/>
          <p:cNvSpPr txBox="1"/>
          <p:nvPr>
            <p:ph type="title"/>
          </p:nvPr>
        </p:nvSpPr>
        <p:spPr>
          <a:xfrm>
            <a:off x="1047750" y="2260600"/>
            <a:ext cx="6040624" cy="819150"/>
          </a:xfrm>
          <a:prstGeom prst="rect">
            <a:avLst/>
          </a:prstGeom>
          <a:noFill/>
          <a:ln>
            <a:noFill/>
          </a:ln>
        </p:spPr>
        <p:txBody>
          <a:bodyPr wrap="none" lIns="0" tIns="0" rIns="0" bIns="0" anchor="t" anchorCtr="0">
            <a:spAutoFit/>
          </a:bodyPr>
          <a:lstStyle/>
          <a:p>
            <a:pPr algn="l"/>
            <a:r>
              <a:rPr lang="es-AR" sz="4200" b="1" dirty="0">
                <a:solidFill>
                  <a:schemeClr val="accent1"/>
                </a:solidFill>
                <a:latin typeface="+mj-lt"/>
                <a:ea typeface="+mj-ea"/>
                <a:cs typeface="+mj-cs"/>
              </a:rPr>
              <a:t>Cinco detalles ocultos</a:t>
            </a:r>
          </a:p>
        </p:txBody>
      </p:sp>
      <p:sp>
        <p:nvSpPr>
          <p:cNvPr id="5" name="title-slide-subtitle-slot Placeholder Carrier"/>
          <p:cNvSpPr txBox="1"/>
          <p:nvPr>
            <p:ph type="subTitle" idx="1"/>
          </p:nvPr>
        </p:nvSpPr>
        <p:spPr>
          <a:xfrm>
            <a:off x="1055370" y="3463925"/>
            <a:ext cx="4049987" cy="440055"/>
          </a:xfrm>
          <a:prstGeom prst="rect">
            <a:avLst/>
          </a:prstGeom>
          <a:noFill/>
          <a:ln>
            <a:noFill/>
          </a:ln>
        </p:spPr>
        <p:txBody>
          <a:bodyPr wrap="none" lIns="0" tIns="0" rIns="0" bIns="0" anchor="t" anchorCtr="0">
            <a:spAutoFit/>
          </a:bodyPr>
          <a:lstStyle/>
          <a:p>
            <a:pPr algn="l" marL="0" indent="0">
              <a:buNone/>
            </a:pPr>
            <a:r>
              <a:rPr lang="es-AR" sz="2250" dirty="0">
                <a:solidFill>
                  <a:schemeClr val="accent3"/>
                </a:solidFill>
                <a:latin typeface="+mj-lt"/>
                <a:ea typeface="+mj-ea"/>
                <a:cs typeface="+mj-cs"/>
              </a:rPr>
              <a:t>que el histograma no deja ver</a:t>
            </a:r>
          </a:p>
        </p:txBody>
      </p:sp>
      <p:grpSp>
        <p:nvGrpSpPr>
          <p:cNvPr id="8" name="cover-logos"/>
          <p:cNvGrpSpPr/>
          <p:nvPr/>
        </p:nvGrpSpPr>
        <p:grpSpPr>
          <a:xfrm>
            <a:off x="609600" y="533400"/>
            <a:ext cx="1902564" cy="685800"/>
            <a:chOff x="609600" y="533400"/>
            <a:chExt cx="1902564" cy="685800"/>
          </a:xfrm>
        </p:grpSpPr>
        <p:pic>
          <p:nvPicPr>
            <p:cNvPr id="6" name="logo-unr"/>
            <p:cNvPicPr>
              <a:picLocks noChangeAspect="1"/>
            </p:cNvPicPr>
            <p:nvPr/>
          </p:nvPicPr>
          <p:blipFill>
            <a:blip r:embed="rId2"/>
            <a:stretch>
              <a:fillRect/>
            </a:stretch>
          </p:blipFill>
          <p:spPr>
            <a:xfrm>
              <a:off x="609600" y="533400"/>
              <a:ext cx="704850" cy="685800"/>
            </a:xfrm>
            <a:prstGeom prst="rect">
              <a:avLst/>
            </a:prstGeom>
          </p:spPr>
        </p:pic>
        <p:pic>
          <p:nvPicPr>
            <p:cNvPr id="7" name="logo-fceia"/>
            <p:cNvPicPr>
              <a:picLocks noChangeAspect="1"/>
            </p:cNvPicPr>
            <p:nvPr/>
          </p:nvPicPr>
          <p:blipFill>
            <a:blip r:embed="rId3"/>
            <a:stretch>
              <a:fillRect/>
            </a:stretch>
          </p:blipFill>
          <p:spPr>
            <a:xfrm>
              <a:off x="1507387" y="533400"/>
              <a:ext cx="1004777" cy="685800"/>
            </a:xfrm>
            <a:prstGeom prst="rect">
              <a:avLst/>
            </a:prstGeom>
          </p:spPr>
        </p:pic>
      </p:grpSp>
      <p:grpSp>
        <p:nvGrpSpPr>
          <p:cNvPr id="11" name="cover-info"/>
          <p:cNvGrpSpPr/>
          <p:nvPr/>
        </p:nvGrpSpPr>
        <p:grpSpPr>
          <a:xfrm>
            <a:off x="1057656" y="4260850"/>
            <a:ext cx="7642115" cy="949833"/>
            <a:chOff x="1057656" y="4260850"/>
            <a:chExt cx="7642115" cy="949833"/>
          </a:xfrm>
        </p:grpSpPr>
        <p:sp>
          <p:nvSpPr>
            <p:cNvPr id="9" name="TextBox 9"/>
            <p:cNvSpPr txBox="1"/>
            <p:nvPr/>
          </p:nvSpPr>
          <p:spPr>
            <a:xfrm>
              <a:off x="1057656" y="4260850"/>
              <a:ext cx="6756180" cy="352044"/>
            </a:xfrm>
            <a:prstGeom prst="rect">
              <a:avLst/>
            </a:prstGeom>
            <a:noFill/>
            <a:ln>
              <a:noFill/>
            </a:ln>
          </p:spPr>
          <p:txBody>
            <a:bodyPr wrap="none" lIns="0" tIns="0" rIns="0" bIns="0" anchor="t" anchorCtr="0">
              <a:spAutoFit/>
            </a:bodyPr>
            <a:lstStyle/>
            <a:p>
              <a:pPr algn="l"/>
              <a:r>
                <a:rPr lang="es-AR" sz="1800" b="1" dirty="0">
                  <a:solidFill>
                    <a:schemeClr val="dk1"/>
                  </a:solidFill>
                  <a:latin typeface="+mn-lt"/>
                  <a:ea typeface="+mn-ea"/>
                  <a:cs typeface="+mn-cs"/>
                </a:rPr>
                <a:t>TP1 PDI – Ecualización local de histograma y validación de planillas</a:t>
              </a:r>
            </a:p>
          </p:txBody>
        </p:sp>
        <p:sp>
          <p:nvSpPr>
            <p:cNvPr id="10" name="TextBox 10"/>
            <p:cNvSpPr txBox="1"/>
            <p:nvPr/>
          </p:nvSpPr>
          <p:spPr>
            <a:xfrm>
              <a:off x="1059942" y="4622800"/>
              <a:ext cx="7639829" cy="587883"/>
            </a:xfrm>
            <a:prstGeom prst="rect">
              <a:avLst/>
            </a:prstGeom>
            <a:noFill/>
            <a:ln>
              <a:noFill/>
            </a:ln>
          </p:spPr>
          <p:txBody>
            <a:bodyPr wrap="none" lIns="0" tIns="0" rIns="0" bIns="0" anchor="t" anchorCtr="0">
              <a:spAutoFit/>
            </a:bodyPr>
            <a:lstStyle/>
            <a:p>
              <a:pPr algn="l">
                <a:lnSpc>
                  <a:spcPts val="2550"/>
                </a:lnSpc>
              </a:pPr>
              <a:r>
                <a:rPr lang="es-AR" sz="1350" dirty="0">
                  <a:solidFill>
                    <a:schemeClr val="accent5"/>
                  </a:solidFill>
                  <a:latin typeface="+mn-lt"/>
                  <a:ea typeface="+mn-ea"/>
                  <a:cs typeface="+mn-cs"/>
                </a:rPr>
                <a:t>IA 4.4 Procesamiento de Imágenes I · Tecnicatura Universitaria en Inteligencia Artificial · FCEIA, UNR · Grupo 8</a:t>
              </a:r>
              <a:br>
                <a:rPr lang="es-AR" sz="1350" dirty="0">
                  <a:solidFill>
                    <a:schemeClr val="accent5"/>
                  </a:solidFill>
                  <a:latin typeface="+mn-lt"/>
                  <a:ea typeface="+mn-ea"/>
                  <a:cs typeface="+mn-cs"/>
                </a:rPr>
              </a:br>
              <a:r>
                <a:rPr lang="es-AR" sz="1350" dirty="0">
                  <a:solidFill>
                    <a:schemeClr val="accent5"/>
                  </a:solidFill>
                  <a:latin typeface="+mn-lt"/>
                  <a:ea typeface="+mn-ea"/>
                  <a:cs typeface="+mn-cs"/>
                </a:rPr>
                <a:t>Integrantes: Civetta, Valentino · Frank, Maximiliano · Fucci, Milagros · Winter, Federico</a:t>
              </a:r>
            </a:p>
          </p:txBody>
        </p:sp>
      </p:grpSp>
    </p:spTree>
  </p:cSld>
  <p:clrMapOvr>
    <a:masterClrMapping/>
  </p:clrMapOvr>
  <p:transition p14:dur="400">
    <p:fade/>
  </p:transition>
</p:sld>
</file>

<file path=ppt/slides/slide2.xml><?xml version="1.0" encoding="utf-8"?>
<p:sld xmlns:a="http://schemas.openxmlformats.org/drawingml/2006/main" xmlns:p="http://schemas.openxmlformats.org/presentationml/2006/main" xmlns:p14="http://schemas.microsoft.com/office/powerpoint/2010/main" showMasterSp="1">
  <p:cSld>
    <p:spTree>
      <p:nvGrpSpPr>
        <p:cNvPr id="1" name=""/>
        <p:cNvGrpSpPr/>
        <p:nvPr/>
      </p:nvGrpSpPr>
      <p:grpSpPr>
        <a:xfrm>
          <a:off x="0" y="0"/>
          <a:ext cx="0" cy="0"/>
          <a:chOff x="0" y="0"/>
          <a:chExt cx="0" cy="0"/>
        </a:xfrm>
      </p:grpSpPr>
      <p:sp>
        <p:nvSpPr>
          <p:cNvPr id="5" name="two-content-title-slot Placeholder Carrier"/>
          <p:cNvSpPr txBox="1"/>
          <p:nvPr>
            <p:ph type="title"/>
          </p:nvPr>
        </p:nvSpPr>
        <p:spPr>
          <a:xfrm>
            <a:off x="595884" y="527050"/>
            <a:ext cx="4804369" cy="528066"/>
          </a:xfrm>
          <a:prstGeom prst="rect">
            <a:avLst/>
          </a:prstGeom>
          <a:noFill/>
          <a:ln>
            <a:noFill/>
          </a:ln>
        </p:spPr>
        <p:txBody>
          <a:bodyPr wrap="none" lIns="0" tIns="0" rIns="0" bIns="0" anchor="t" anchorCtr="0">
            <a:spAutoFit/>
          </a:bodyPr>
          <a:lstStyle/>
          <a:p>
            <a:pPr algn="l"/>
            <a:r>
              <a:rPr lang="es-AR" sz="2700" b="1" dirty="0">
                <a:solidFill>
                  <a:schemeClr val="accent1"/>
                </a:solidFill>
                <a:latin typeface="+mj-lt"/>
                <a:ea typeface="+mj-ea"/>
                <a:cs typeface="+mj-cs"/>
              </a:rPr>
              <a:t>Dos problemas, dos scripts</a:t>
            </a:r>
          </a:p>
        </p:txBody>
      </p:sp>
      <p:sp>
        <p:nvSpPr>
          <p:cNvPr id="6" name="title-rule"/>
          <p:cNvSpPr/>
          <p:nvPr/>
        </p:nvSpPr>
        <p:spPr>
          <a:xfrm>
            <a:off x="609600" y="1123950"/>
            <a:ext cx="685800" cy="28575"/>
          </a:xfrm>
          <a:prstGeom prst="rect">
            <a:avLst/>
          </a:prstGeom>
          <a:solidFill>
            <a:schemeClr val="accent1"/>
          </a:solidFill>
          <a:ln>
            <a:noFill/>
          </a:ln>
        </p:spPr>
      </p:sp>
      <p:sp>
        <p:nvSpPr>
          <p:cNvPr id="7" name="two-content-left-slot Placeholder Carrier"/>
          <p:cNvSpPr txBox="1"/>
          <p:nvPr>
            <p:ph idx="1"/>
          </p:nvPr>
        </p:nvSpPr>
        <p:spPr>
          <a:xfrm>
            <a:off x="829056" y="1790700"/>
            <a:ext cx="4158760" cy="2866644"/>
          </a:xfrm>
          <a:prstGeom prst="rect">
            <a:avLst/>
          </a:prstGeom>
          <a:noFill/>
          <a:ln>
            <a:noFill/>
          </a:ln>
        </p:spPr>
        <p:txBody>
          <a:bodyPr wrap="none" lIns="0" tIns="0" rIns="0" bIns="0" anchor="t" anchorCtr="0">
            <a:noAutofit/>
          </a:bodyPr>
          <a:lstStyle/>
          <a:p>
            <a:pPr algn="l" marL="0" indent="0">
              <a:lnSpc>
                <a:spcPts val="2400"/>
              </a:lnSpc>
              <a:buNone/>
            </a:pPr>
            <a:r>
              <a:rPr lang="es-AR" sz="2100" b="1" dirty="0">
                <a:solidFill>
                  <a:schemeClr val="accent1"/>
                </a:solidFill>
                <a:latin typeface="+mn-lt"/>
                <a:ea typeface="+mn-ea"/>
                <a:cs typeface="+mn-cs"/>
              </a:rPr>
              <a:t>Problema 1 · Ecualización local de</a:t>
            </a:r>
          </a:p>
          <a:p>
            <a:pPr algn="l" marL="0" indent="0">
              <a:lnSpc>
                <a:spcPts val="2400"/>
              </a:lnSpc>
              <a:spcBef>
                <a:spcPts val="150"/>
              </a:spcBef>
              <a:buNone/>
            </a:pPr>
            <a:r>
              <a:rPr lang="es-AR" sz="2100" b="1" dirty="0">
                <a:solidFill>
                  <a:schemeClr val="accent1"/>
                </a:solidFill>
                <a:latin typeface="+mn-lt"/>
                <a:ea typeface="+mn-ea"/>
                <a:cs typeface="+mn-cs"/>
              </a:rPr>
              <a:t>histograma</a:t>
            </a:r>
          </a:p>
          <a:p>
            <a:pPr algn="l" marL="0" indent="0">
              <a:lnSpc>
                <a:spcPts val="2400"/>
              </a:lnSpc>
              <a:spcBef>
                <a:spcPts val="1650"/>
              </a:spcBef>
              <a:buNone/>
            </a:pPr>
            <a:r>
              <a:rPr lang="es-AR" sz="1800" dirty="0">
                <a:solidFill>
                  <a:schemeClr val="dk1"/>
                </a:solidFill>
                <a:latin typeface="+mn-lt"/>
                <a:ea typeface="+mn-ea"/>
                <a:cs typeface="+mn-cs"/>
              </a:rPr>
              <a:t>Ventana de MxN que recorre la imagen píxel</a:t>
            </a:r>
            <a:br>
              <a:rPr lang="es-AR" sz="1800" dirty="0">
                <a:solidFill>
                  <a:schemeClr val="dk1"/>
                </a:solidFill>
                <a:latin typeface="+mn-lt"/>
                <a:ea typeface="+mn-ea"/>
                <a:cs typeface="+mn-cs"/>
              </a:rPr>
            </a:br>
            <a:r>
              <a:rPr lang="es-AR" sz="1800" dirty="0">
                <a:solidFill>
                  <a:schemeClr val="dk1"/>
                </a:solidFill>
                <a:latin typeface="+mn-lt"/>
                <a:ea typeface="+mn-ea"/>
                <a:cs typeface="+mn-cs"/>
              </a:rPr>
              <a:t>a píxel</a:t>
            </a:r>
          </a:p>
          <a:p>
            <a:pPr algn="l" marL="0" indent="0">
              <a:lnSpc>
                <a:spcPts val="2400"/>
              </a:lnSpc>
              <a:spcBef>
                <a:spcPts val="1800"/>
              </a:spcBef>
              <a:buNone/>
            </a:pPr>
            <a:r>
              <a:rPr lang="es-AR" sz="1800" dirty="0">
                <a:solidFill>
                  <a:schemeClr val="dk1"/>
                </a:solidFill>
                <a:latin typeface="+mn-lt"/>
                <a:ea typeface="+mn-ea"/>
                <a:cs typeface="+mn-cs"/>
              </a:rPr>
              <a:t>Encontrar los detalles ocultos en cada zona</a:t>
            </a:r>
          </a:p>
          <a:p>
            <a:pPr algn="l" marL="0" indent="0">
              <a:lnSpc>
                <a:spcPts val="2400"/>
              </a:lnSpc>
              <a:spcBef>
                <a:spcPts val="1800"/>
              </a:spcBef>
              <a:buNone/>
            </a:pPr>
            <a:r>
              <a:rPr lang="es-AR" sz="1800" dirty="0">
                <a:solidFill>
                  <a:schemeClr val="dk1"/>
                </a:solidFill>
                <a:latin typeface="+mn-lt"/>
                <a:ea typeface="+mn-ea"/>
                <a:cs typeface="+mn-cs"/>
              </a:rPr>
              <a:t>Analizar cómo cambia el resultado con el</a:t>
            </a:r>
            <a:br>
              <a:rPr lang="es-AR" sz="1800" dirty="0">
                <a:solidFill>
                  <a:schemeClr val="dk1"/>
                </a:solidFill>
                <a:latin typeface="+mn-lt"/>
                <a:ea typeface="+mn-ea"/>
                <a:cs typeface="+mn-cs"/>
              </a:rPr>
            </a:br>
            <a:r>
              <a:rPr lang="es-AR" sz="1800" dirty="0">
                <a:solidFill>
                  <a:schemeClr val="dk1"/>
                </a:solidFill>
                <a:latin typeface="+mn-lt"/>
                <a:ea typeface="+mn-ea"/>
                <a:cs typeface="+mn-cs"/>
              </a:rPr>
              <a:t>tamaño de ventana</a:t>
            </a:r>
          </a:p>
        </p:txBody>
      </p:sp>
      <p:sp>
        <p:nvSpPr>
          <p:cNvPr id="8" name="two-content-right-slot Placeholder Carrier"/>
          <p:cNvSpPr txBox="1"/>
          <p:nvPr>
            <p:ph idx="2"/>
          </p:nvPr>
        </p:nvSpPr>
        <p:spPr>
          <a:xfrm>
            <a:off x="6544056" y="1790700"/>
            <a:ext cx="4289702" cy="3095244"/>
          </a:xfrm>
          <a:prstGeom prst="rect">
            <a:avLst/>
          </a:prstGeom>
          <a:noFill/>
          <a:ln>
            <a:noFill/>
          </a:ln>
        </p:spPr>
        <p:txBody>
          <a:bodyPr wrap="none" lIns="0" tIns="0" rIns="0" bIns="0" anchor="t" anchorCtr="0">
            <a:noAutofit/>
          </a:bodyPr>
          <a:lstStyle/>
          <a:p>
            <a:pPr algn="l" marL="0" indent="0">
              <a:lnSpc>
                <a:spcPts val="2400"/>
              </a:lnSpc>
              <a:buNone/>
            </a:pPr>
            <a:r>
              <a:rPr lang="es-AR" sz="2100" b="1" dirty="0">
                <a:solidFill>
                  <a:schemeClr val="accent1"/>
                </a:solidFill>
                <a:latin typeface="+mn-lt"/>
                <a:ea typeface="+mn-ea"/>
                <a:cs typeface="+mn-cs"/>
              </a:rPr>
              <a:t>Problema 2 · Validación de planillas de</a:t>
            </a:r>
          </a:p>
          <a:p>
            <a:pPr algn="l" marL="0" indent="0">
              <a:lnSpc>
                <a:spcPts val="2400"/>
              </a:lnSpc>
              <a:spcBef>
                <a:spcPts val="150"/>
              </a:spcBef>
              <a:buNone/>
            </a:pPr>
            <a:r>
              <a:rPr lang="es-AR" sz="2100" b="1" dirty="0">
                <a:solidFill>
                  <a:schemeClr val="accent1"/>
                </a:solidFill>
                <a:latin typeface="+mn-lt"/>
                <a:ea typeface="+mn-ea"/>
                <a:cs typeface="+mn-cs"/>
              </a:rPr>
              <a:t>calificaciones</a:t>
            </a:r>
          </a:p>
          <a:p>
            <a:pPr algn="l" marL="0" indent="0">
              <a:lnSpc>
                <a:spcPts val="2400"/>
              </a:lnSpc>
              <a:spcBef>
                <a:spcPts val="1650"/>
              </a:spcBef>
              <a:buNone/>
            </a:pPr>
            <a:r>
              <a:rPr lang="es-AR" sz="1800" dirty="0">
                <a:solidFill>
                  <a:schemeClr val="dk1"/>
                </a:solidFill>
                <a:latin typeface="+mn-lt"/>
                <a:ea typeface="+mn-ea"/>
                <a:cs typeface="+mn-cs"/>
              </a:rPr>
              <a:t>Informar qué campos están OK y cuáles MAL</a:t>
            </a:r>
          </a:p>
          <a:p>
            <a:pPr algn="l" marL="0" indent="0">
              <a:lnSpc>
                <a:spcPts val="2400"/>
              </a:lnSpc>
              <a:spcBef>
                <a:spcPts val="1800"/>
              </a:spcBef>
              <a:buNone/>
            </a:pPr>
            <a:r>
              <a:rPr lang="es-AR" sz="1800" dirty="0">
                <a:solidFill>
                  <a:schemeClr val="dk1"/>
                </a:solidFill>
                <a:latin typeface="+mn-lt"/>
                <a:ea typeface="+mn-ea"/>
                <a:cs typeface="+mn-cs"/>
              </a:rPr>
              <a:t>Imagen con los alumnos que no aprobaron</a:t>
            </a:r>
            <a:br>
              <a:rPr lang="es-AR" sz="1800" dirty="0">
                <a:solidFill>
                  <a:schemeClr val="dk1"/>
                </a:solidFill>
                <a:latin typeface="+mn-lt"/>
                <a:ea typeface="+mn-ea"/>
                <a:cs typeface="+mn-cs"/>
              </a:rPr>
            </a:br>
            <a:r>
              <a:rPr lang="es-AR" sz="1800" dirty="0">
                <a:solidFill>
                  <a:schemeClr val="dk1"/>
                </a:solidFill>
                <a:latin typeface="+mn-lt"/>
                <a:ea typeface="+mn-ea"/>
                <a:cs typeface="+mn-cs"/>
              </a:rPr>
              <a:t>(condición L o R)</a:t>
            </a:r>
          </a:p>
          <a:p>
            <a:pPr algn="l" marL="0" indent="0">
              <a:lnSpc>
                <a:spcPts val="2400"/>
              </a:lnSpc>
              <a:spcBef>
                <a:spcPts val="1800"/>
              </a:spcBef>
              <a:buNone/>
            </a:pPr>
            <a:r>
              <a:rPr lang="es-AR" sz="1800" dirty="0">
                <a:solidFill>
                  <a:schemeClr val="dk1"/>
                </a:solidFill>
                <a:latin typeface="+mn-lt"/>
                <a:ea typeface="+mn-ea"/>
                <a:cs typeface="+mn-cs"/>
              </a:rPr>
              <a:t>Archivo CSV con una fila por registro</a:t>
            </a:r>
          </a:p>
          <a:p>
            <a:pPr algn="l" marL="0" indent="0">
              <a:lnSpc>
                <a:spcPts val="2400"/>
              </a:lnSpc>
              <a:spcBef>
                <a:spcPts val="1800"/>
              </a:spcBef>
              <a:buNone/>
            </a:pPr>
            <a:r>
              <a:rPr lang="es-AR" sz="1800" dirty="0">
                <a:solidFill>
                  <a:schemeClr val="dk1"/>
                </a:solidFill>
                <a:latin typeface="+mn-lt"/>
                <a:ea typeface="+mn-ea"/>
                <a:cs typeface="+mn-cs"/>
              </a:rPr>
              <a:t>Repetir el proceso con las cuatro planillas</a:t>
            </a:r>
          </a:p>
        </p:txBody>
      </p:sp>
      <p:grpSp>
        <p:nvGrpSpPr>
          <p:cNvPr id="10" name="stack-note"/>
          <p:cNvGrpSpPr/>
          <p:nvPr/>
        </p:nvGrpSpPr>
        <p:grpSpPr>
          <a:xfrm>
            <a:off x="602742" y="6407150"/>
            <a:ext cx="5471045" cy="264033"/>
            <a:chOff x="602742" y="6407150"/>
            <a:chExt cx="5471045" cy="264033"/>
          </a:xfrm>
        </p:grpSpPr>
        <p:sp>
          <p:nvSpPr>
            <p:cNvPr id="9" name="TextBox 9"/>
            <p:cNvSpPr txBox="1"/>
            <p:nvPr/>
          </p:nvSpPr>
          <p:spPr>
            <a:xfrm>
              <a:off x="602742" y="6407150"/>
              <a:ext cx="5471045" cy="264033"/>
            </a:xfrm>
            <a:prstGeom prst="rect">
              <a:avLst/>
            </a:prstGeom>
            <a:noFill/>
            <a:ln>
              <a:noFill/>
            </a:ln>
          </p:spPr>
          <p:txBody>
            <a:bodyPr wrap="none" lIns="0" tIns="0" rIns="0" bIns="0" anchor="t" anchorCtr="0">
              <a:spAutoFit/>
            </a:bodyPr>
            <a:lstStyle/>
            <a:p>
              <a:pPr algn="l"/>
              <a:r>
                <a:rPr lang="es-AR" sz="1350" dirty="0">
                  <a:solidFill>
                    <a:schemeClr val="accent5"/>
                  </a:solidFill>
                  <a:latin typeface="+mn-lt"/>
                  <a:ea typeface="+mn-ea"/>
                  <a:cs typeface="+mn-cs"/>
                </a:rPr>
                <a:t>Python 3.13.16 · numpy 2.5.3 · opencv-python 5.0.0.93 · matplotlib 3.11.2</a:t>
              </a:r>
            </a:p>
          </p:txBody>
        </p:sp>
      </p:grpSp>
    </p:spTree>
  </p:cSld>
  <p:clrMapOvr>
    <a:masterClrMapping/>
  </p:clrMapOvr>
  <p:transition p14:dur="400">
    <p:fade/>
  </p:transition>
</p:sld>
</file>

<file path=ppt/slides/slide3.xml><?xml version="1.0" encoding="utf-8"?>
<p:sld xmlns:a="http://schemas.openxmlformats.org/drawingml/2006/main" xmlns:p="http://schemas.openxmlformats.org/presentationml/2006/main" xmlns:p14="http://schemas.microsoft.com/office/powerpoint/2010/main" xmlns:r="http://schemas.openxmlformats.org/officeDocument/2006/relationships" showMasterSp="1">
  <p:cSld>
    <p:spTree>
      <p:nvGrpSpPr>
        <p:cNvPr id="1" name=""/>
        <p:cNvGrpSpPr/>
        <p:nvPr/>
      </p:nvGrpSpPr>
      <p:grpSpPr>
        <a:xfrm>
          <a:off x="0" y="0"/>
          <a:ext cx="0" cy="0"/>
          <a:chOff x="0" y="0"/>
          <a:chExt cx="0" cy="0"/>
        </a:xfrm>
      </p:grpSpPr>
      <p:sp>
        <p:nvSpPr>
          <p:cNvPr id="6" name="data-story-title-slot Placeholder Carrier"/>
          <p:cNvSpPr txBox="1"/>
          <p:nvPr>
            <p:ph type="title"/>
          </p:nvPr>
        </p:nvSpPr>
        <p:spPr>
          <a:xfrm>
            <a:off x="595884" y="527050"/>
            <a:ext cx="6910191" cy="528066"/>
          </a:xfrm>
          <a:prstGeom prst="rect">
            <a:avLst/>
          </a:prstGeom>
          <a:noFill/>
          <a:ln>
            <a:noFill/>
          </a:ln>
        </p:spPr>
        <p:txBody>
          <a:bodyPr wrap="none" lIns="0" tIns="0" rIns="0" bIns="0" anchor="t" anchorCtr="0">
            <a:spAutoFit/>
          </a:bodyPr>
          <a:lstStyle/>
          <a:p>
            <a:pPr algn="l"/>
            <a:r>
              <a:rPr lang="es-AR" sz="2700" b="1" dirty="0">
                <a:solidFill>
                  <a:schemeClr val="accent1"/>
                </a:solidFill>
                <a:latin typeface="+mj-lt"/>
                <a:ea typeface="+mj-ea"/>
                <a:cs typeface="+mj-cs"/>
              </a:rPr>
              <a:t>Los detalles no se ven en el histograma</a:t>
            </a:r>
          </a:p>
        </p:txBody>
      </p:sp>
      <p:sp>
        <p:nvSpPr>
          <p:cNvPr id="7" name="title-rule"/>
          <p:cNvSpPr/>
          <p:nvPr/>
        </p:nvSpPr>
        <p:spPr>
          <a:xfrm>
            <a:off x="609600" y="1123950"/>
            <a:ext cx="685800" cy="28575"/>
          </a:xfrm>
          <a:prstGeom prst="rect">
            <a:avLst/>
          </a:prstGeom>
          <a:solidFill>
            <a:schemeClr val="accent1"/>
          </a:solidFill>
          <a:ln>
            <a:noFill/>
          </a:ln>
        </p:spPr>
      </p:sp>
      <p:grpSp>
        <p:nvGrpSpPr>
          <p:cNvPr id="9" name="fig01-group"/>
          <p:cNvGrpSpPr/>
          <p:nvPr/>
        </p:nvGrpSpPr>
        <p:grpSpPr>
          <a:xfrm>
            <a:off x="838200" y="1809750"/>
            <a:ext cx="6781800" cy="2600325"/>
            <a:chOff x="838200" y="1809750"/>
            <a:chExt cx="6781800" cy="2600325"/>
          </a:xfrm>
        </p:grpSpPr>
        <p:pic>
          <p:nvPicPr>
            <p:cNvPr id="8" name="fig01-imagen"/>
            <p:cNvPicPr>
              <a:picLocks noChangeAspect="1"/>
            </p:cNvPicPr>
            <p:nvPr/>
          </p:nvPicPr>
          <p:blipFill>
            <a:blip r:embed="rId2"/>
            <a:stretch>
              <a:fillRect/>
            </a:stretch>
          </p:blipFill>
          <p:spPr>
            <a:xfrm>
              <a:off x="838200" y="1809750"/>
              <a:ext cx="6781800" cy="2600325"/>
            </a:xfrm>
            <a:prstGeom prst="rect">
              <a:avLst/>
            </a:prstGeom>
          </p:spPr>
        </p:pic>
      </p:grpSp>
      <p:sp>
        <p:nvSpPr>
          <p:cNvPr id="10" name="data-story-evidence-slot Placeholder Carrier"/>
          <p:cNvSpPr txBox="1"/>
          <p:nvPr>
            <p:ph idx="1"/>
          </p:nvPr>
        </p:nvSpPr>
        <p:spPr>
          <a:xfrm>
            <a:off x="831342" y="4502150"/>
            <a:ext cx="2366844" cy="264033"/>
          </a:xfrm>
          <a:prstGeom prst="rect">
            <a:avLst/>
          </a:prstGeom>
          <a:noFill/>
          <a:ln>
            <a:noFill/>
          </a:ln>
        </p:spPr>
        <p:txBody>
          <a:bodyPr wrap="none" lIns="0" tIns="0" rIns="0" bIns="0" anchor="t" anchorCtr="0">
            <a:spAutoFit/>
          </a:bodyPr>
          <a:lstStyle/>
          <a:p>
            <a:pPr algn="l" marL="0" indent="0">
              <a:buNone/>
            </a:pPr>
            <a:r>
              <a:rPr lang="es-AR" sz="1350" dirty="0">
                <a:solidFill>
                  <a:schemeClr val="accent5"/>
                </a:solidFill>
                <a:latin typeface="+mn-lt"/>
                <a:ea typeface="+mn-ea"/>
                <a:cs typeface="+mn-cs"/>
              </a:rPr>
              <a:t>Imagen original y su histograma</a:t>
            </a:r>
          </a:p>
        </p:txBody>
      </p:sp>
      <p:grpSp>
        <p:nvGrpSpPr>
          <p:cNvPr id="17" name="stats-row"/>
          <p:cNvGrpSpPr/>
          <p:nvPr/>
        </p:nvGrpSpPr>
        <p:grpSpPr>
          <a:xfrm>
            <a:off x="827532" y="4813300"/>
            <a:ext cx="6482416" cy="898144"/>
            <a:chOff x="827532" y="4813300"/>
            <a:chExt cx="6482416" cy="898144"/>
          </a:xfrm>
        </p:grpSpPr>
        <p:sp>
          <p:nvSpPr>
            <p:cNvPr id="11" name="TextBox 11"/>
            <p:cNvSpPr txBox="1"/>
            <p:nvPr/>
          </p:nvSpPr>
          <p:spPr>
            <a:xfrm>
              <a:off x="827532" y="4813300"/>
              <a:ext cx="1239809" cy="410718"/>
            </a:xfrm>
            <a:prstGeom prst="rect">
              <a:avLst/>
            </a:prstGeom>
            <a:noFill/>
            <a:ln>
              <a:noFill/>
            </a:ln>
          </p:spPr>
          <p:txBody>
            <a:bodyPr wrap="none" lIns="0" tIns="0" rIns="0" bIns="0" anchor="t" anchorCtr="0">
              <a:spAutoFit/>
            </a:bodyPr>
            <a:lstStyle/>
            <a:p>
              <a:pPr algn="l"/>
              <a:r>
                <a:rPr lang="es-AR" sz="2100" b="1" dirty="0">
                  <a:solidFill>
                    <a:schemeClr val="accent1"/>
                  </a:solidFill>
                  <a:latin typeface="+mj-lt"/>
                  <a:ea typeface="+mj-ea"/>
                  <a:cs typeface="+mj-cs"/>
                </a:rPr>
                <a:t>256x256</a:t>
              </a:r>
            </a:p>
          </p:txBody>
        </p:sp>
        <p:sp>
          <p:nvSpPr>
            <p:cNvPr id="12" name="TextBox 12"/>
            <p:cNvSpPr txBox="1"/>
            <p:nvPr/>
          </p:nvSpPr>
          <p:spPr>
            <a:xfrm>
              <a:off x="3151632" y="4813300"/>
              <a:ext cx="375181" cy="410718"/>
            </a:xfrm>
            <a:prstGeom prst="rect">
              <a:avLst/>
            </a:prstGeom>
            <a:noFill/>
            <a:ln>
              <a:noFill/>
            </a:ln>
          </p:spPr>
          <p:txBody>
            <a:bodyPr wrap="none" lIns="0" tIns="0" rIns="0" bIns="0" anchor="t" anchorCtr="0">
              <a:spAutoFit/>
            </a:bodyPr>
            <a:lstStyle/>
            <a:p>
              <a:pPr algn="l"/>
              <a:r>
                <a:rPr lang="es-AR" sz="2100" b="1" dirty="0">
                  <a:solidFill>
                    <a:schemeClr val="accent1"/>
                  </a:solidFill>
                  <a:latin typeface="+mj-lt"/>
                  <a:ea typeface="+mj-ea"/>
                  <a:cs typeface="+mj-cs"/>
                </a:rPr>
                <a:t>15</a:t>
              </a:r>
            </a:p>
          </p:txBody>
        </p:sp>
        <p:sp>
          <p:nvSpPr>
            <p:cNvPr id="13" name="TextBox 13"/>
            <p:cNvSpPr txBox="1"/>
            <p:nvPr/>
          </p:nvSpPr>
          <p:spPr>
            <a:xfrm>
              <a:off x="5475732" y="4813300"/>
              <a:ext cx="912788" cy="410718"/>
            </a:xfrm>
            <a:prstGeom prst="rect">
              <a:avLst/>
            </a:prstGeom>
            <a:noFill/>
            <a:ln>
              <a:noFill/>
            </a:ln>
          </p:spPr>
          <p:txBody>
            <a:bodyPr wrap="none" lIns="0" tIns="0" rIns="0" bIns="0" anchor="t" anchorCtr="0">
              <a:spAutoFit/>
            </a:bodyPr>
            <a:lstStyle/>
            <a:p>
              <a:pPr algn="l"/>
              <a:r>
                <a:rPr lang="es-AR" sz="2100" b="1" dirty="0">
                  <a:solidFill>
                    <a:schemeClr val="accent2"/>
                  </a:solidFill>
                  <a:latin typeface="+mj-lt"/>
                  <a:ea typeface="+mj-ea"/>
                  <a:cs typeface="+mj-cs"/>
                </a:rPr>
                <a:t>29,3%</a:t>
              </a:r>
            </a:p>
          </p:txBody>
        </p:sp>
        <p:sp>
          <p:nvSpPr>
            <p:cNvPr id="14" name="TextBox 14"/>
            <p:cNvSpPr txBox="1"/>
            <p:nvPr/>
          </p:nvSpPr>
          <p:spPr>
            <a:xfrm>
              <a:off x="831342" y="5149850"/>
              <a:ext cx="1012052" cy="264033"/>
            </a:xfrm>
            <a:prstGeom prst="rect">
              <a:avLst/>
            </a:prstGeom>
            <a:noFill/>
            <a:ln>
              <a:noFill/>
            </a:ln>
          </p:spPr>
          <p:txBody>
            <a:bodyPr wrap="none" lIns="0" tIns="0" rIns="0" bIns="0" anchor="t" anchorCtr="0">
              <a:spAutoFit/>
            </a:bodyPr>
            <a:lstStyle/>
            <a:p>
              <a:pPr algn="l"/>
              <a:r>
                <a:rPr lang="es-AR" sz="1350" dirty="0">
                  <a:solidFill>
                    <a:schemeClr val="accent5"/>
                  </a:solidFill>
                  <a:latin typeface="+mn-lt"/>
                  <a:ea typeface="+mn-ea"/>
                  <a:cs typeface="+mn-cs"/>
                </a:rPr>
                <a:t>píxeles, 8 bits</a:t>
              </a:r>
            </a:p>
          </p:txBody>
        </p:sp>
        <p:sp>
          <p:nvSpPr>
            <p:cNvPr id="15" name="TextBox 15"/>
            <p:cNvSpPr txBox="1"/>
            <p:nvPr/>
          </p:nvSpPr>
          <p:spPr>
            <a:xfrm>
              <a:off x="3153156" y="5149850"/>
              <a:ext cx="1837475" cy="561594"/>
            </a:xfrm>
            <a:prstGeom prst="rect">
              <a:avLst/>
            </a:prstGeom>
            <a:noFill/>
            <a:ln>
              <a:noFill/>
            </a:ln>
          </p:spPr>
          <p:txBody>
            <a:bodyPr wrap="none" lIns="0" tIns="0" rIns="0" bIns="0" anchor="t" anchorCtr="0">
              <a:spAutoFit/>
            </a:bodyPr>
            <a:lstStyle/>
            <a:p>
              <a:pPr algn="l">
                <a:lnSpc>
                  <a:spcPts val="1650"/>
                </a:lnSpc>
              </a:pPr>
              <a:r>
                <a:rPr lang="es-AR" sz="1350" dirty="0">
                  <a:solidFill>
                    <a:schemeClr val="accent5"/>
                  </a:solidFill>
                  <a:latin typeface="+mn-lt"/>
                  <a:ea typeface="+mn-ea"/>
                  <a:cs typeface="+mn-cs"/>
                </a:rPr>
                <a:t>niveles de gris en dos</a:t>
              </a:r>
              <a:br>
                <a:rPr lang="es-AR" sz="1350" dirty="0">
                  <a:solidFill>
                    <a:schemeClr val="accent5"/>
                  </a:solidFill>
                  <a:latin typeface="+mn-lt"/>
                  <a:ea typeface="+mn-ea"/>
                  <a:cs typeface="+mn-cs"/>
                </a:rPr>
              </a:br>
              <a:r>
                <a:rPr lang="es-AR" sz="1350" dirty="0">
                  <a:solidFill>
                    <a:schemeClr val="accent5"/>
                  </a:solidFill>
                  <a:latin typeface="+mn-lt"/>
                  <a:ea typeface="+mn-ea"/>
                  <a:cs typeface="+mn-cs"/>
                </a:rPr>
                <a:t>grupos: 0 a 11 y 226 a 228</a:t>
              </a:r>
            </a:p>
          </p:txBody>
        </p:sp>
        <p:sp>
          <p:nvSpPr>
            <p:cNvPr id="16" name="TextBox 16"/>
            <p:cNvSpPr txBox="1"/>
            <p:nvPr/>
          </p:nvSpPr>
          <p:spPr>
            <a:xfrm>
              <a:off x="5477256" y="5149850"/>
              <a:ext cx="1832692" cy="561594"/>
            </a:xfrm>
            <a:prstGeom prst="rect">
              <a:avLst/>
            </a:prstGeom>
            <a:noFill/>
            <a:ln>
              <a:noFill/>
            </a:ln>
          </p:spPr>
          <p:txBody>
            <a:bodyPr wrap="none" lIns="0" tIns="0" rIns="0" bIns="0" anchor="t" anchorCtr="0">
              <a:spAutoFit/>
            </a:bodyPr>
            <a:lstStyle/>
            <a:p>
              <a:pPr algn="l">
                <a:lnSpc>
                  <a:spcPts val="1650"/>
                </a:lnSpc>
              </a:pPr>
              <a:r>
                <a:rPr lang="es-AR" sz="1350" dirty="0">
                  <a:solidFill>
                    <a:schemeClr val="accent5"/>
                  </a:solidFill>
                  <a:latin typeface="+mn-lt"/>
                  <a:ea typeface="+mn-ea"/>
                  <a:cs typeface="+mn-cs"/>
                </a:rPr>
                <a:t>de la imagen son los cinco</a:t>
              </a:r>
              <a:br>
                <a:rPr lang="es-AR" sz="1350" dirty="0">
                  <a:solidFill>
                    <a:schemeClr val="accent5"/>
                  </a:solidFill>
                  <a:latin typeface="+mn-lt"/>
                  <a:ea typeface="+mn-ea"/>
                  <a:cs typeface="+mn-cs"/>
                </a:rPr>
              </a:br>
              <a:r>
                <a:rPr lang="es-AR" sz="1350" dirty="0">
                  <a:solidFill>
                    <a:schemeClr val="accent5"/>
                  </a:solidFill>
                  <a:latin typeface="+mn-lt"/>
                  <a:ea typeface="+mn-ea"/>
                  <a:cs typeface="+mn-cs"/>
                </a:rPr>
                <a:t>cuadrados oscuros</a:t>
              </a:r>
            </a:p>
          </p:txBody>
        </p:sp>
      </p:grpSp>
      <p:sp>
        <p:nvSpPr>
          <p:cNvPr id="18" name="data-story-insight-slot Placeholder Carrier"/>
          <p:cNvSpPr txBox="1"/>
          <p:nvPr>
            <p:ph type="body" idx="2"/>
          </p:nvPr>
        </p:nvSpPr>
        <p:spPr>
          <a:xfrm>
            <a:off x="8449056" y="1981200"/>
            <a:ext cx="2517755" cy="2599944"/>
          </a:xfrm>
          <a:prstGeom prst="rect">
            <a:avLst/>
          </a:prstGeom>
          <a:noFill/>
          <a:ln>
            <a:noFill/>
          </a:ln>
        </p:spPr>
        <p:txBody>
          <a:bodyPr wrap="none" lIns="0" tIns="0" rIns="0" bIns="0" anchor="t" anchorCtr="0">
            <a:noAutofit/>
          </a:bodyPr>
          <a:lstStyle/>
          <a:p>
            <a:pPr algn="l" marL="0" indent="0">
              <a:lnSpc>
                <a:spcPts val="2400"/>
              </a:lnSpc>
              <a:buNone/>
            </a:pPr>
            <a:r>
              <a:rPr lang="es-AR" sz="1800" b="1" dirty="0">
                <a:solidFill>
                  <a:schemeClr val="accent1"/>
                </a:solidFill>
                <a:latin typeface="+mn-lt"/>
                <a:ea typeface="+mn-ea"/>
                <a:cs typeface="+mn-cs"/>
              </a:rPr>
              <a:t>Los detalles pesan poco</a:t>
            </a:r>
          </a:p>
          <a:p>
            <a:pPr algn="l" marL="0" indent="0">
              <a:lnSpc>
                <a:spcPts val="2400"/>
              </a:lnSpc>
              <a:spcBef>
                <a:spcPts val="900"/>
              </a:spcBef>
              <a:buNone/>
            </a:pPr>
            <a:r>
              <a:rPr lang="es-AR" sz="1800" dirty="0">
                <a:solidFill>
                  <a:schemeClr val="dk1"/>
                </a:solidFill>
                <a:latin typeface="+mn-lt"/>
                <a:ea typeface="+mn-ea"/>
                <a:cs typeface="+mn-cs"/>
              </a:rPr>
              <a:t>Son cinco cuadrados</a:t>
            </a:r>
            <a:br>
              <a:rPr lang="es-AR" sz="1800" dirty="0">
                <a:solidFill>
                  <a:schemeClr val="dk1"/>
                </a:solidFill>
                <a:latin typeface="+mn-lt"/>
                <a:ea typeface="+mn-ea"/>
                <a:cs typeface="+mn-cs"/>
              </a:rPr>
            </a:br>
            <a:r>
              <a:rPr lang="es-AR" sz="1800" dirty="0">
                <a:solidFill>
                  <a:schemeClr val="dk1"/>
                </a:solidFill>
                <a:latin typeface="+mn-lt"/>
                <a:ea typeface="+mn-ea"/>
                <a:cs typeface="+mn-cs"/>
              </a:rPr>
              <a:t>oscuros de 62x62 píxeles.</a:t>
            </a:r>
            <a:br>
              <a:rPr lang="es-AR" sz="1800" dirty="0">
                <a:solidFill>
                  <a:schemeClr val="dk1"/>
                </a:solidFill>
                <a:latin typeface="+mn-lt"/>
                <a:ea typeface="+mn-ea"/>
                <a:cs typeface="+mn-cs"/>
              </a:rPr>
            </a:br>
            <a:r>
              <a:rPr lang="es-AR" sz="1800" dirty="0">
                <a:solidFill>
                  <a:schemeClr val="dk1"/>
                </a:solidFill>
                <a:latin typeface="+mn-lt"/>
                <a:ea typeface="+mn-ea"/>
                <a:cs typeface="+mn-cs"/>
              </a:rPr>
              <a:t>Dentro de cada uno, los</a:t>
            </a:r>
            <a:br>
              <a:rPr lang="es-AR" sz="1800" dirty="0">
                <a:solidFill>
                  <a:schemeClr val="dk1"/>
                </a:solidFill>
                <a:latin typeface="+mn-lt"/>
                <a:ea typeface="+mn-ea"/>
                <a:cs typeface="+mn-cs"/>
              </a:rPr>
            </a:br>
            <a:r>
              <a:rPr lang="es-AR" sz="1800" dirty="0">
                <a:solidFill>
                  <a:schemeClr val="dk1"/>
                </a:solidFill>
                <a:latin typeface="+mn-lt"/>
                <a:ea typeface="+mn-ea"/>
                <a:cs typeface="+mn-cs"/>
              </a:rPr>
              <a:t>niveles van de 0 a 11 como</a:t>
            </a:r>
            <a:br>
              <a:rPr lang="es-AR" sz="1800" dirty="0">
                <a:solidFill>
                  <a:schemeClr val="dk1"/>
                </a:solidFill>
                <a:latin typeface="+mn-lt"/>
                <a:ea typeface="+mn-ea"/>
                <a:cs typeface="+mn-cs"/>
              </a:rPr>
            </a:br>
            <a:r>
              <a:rPr lang="es-AR" sz="1800" dirty="0">
                <a:solidFill>
                  <a:schemeClr val="dk1"/>
                </a:solidFill>
                <a:latin typeface="+mn-lt"/>
                <a:ea typeface="+mn-ea"/>
                <a:cs typeface="+mn-cs"/>
              </a:rPr>
              <a:t>máximo y el detalle difiere</a:t>
            </a:r>
            <a:br>
              <a:rPr lang="es-AR" sz="1800" dirty="0">
                <a:solidFill>
                  <a:schemeClr val="dk1"/>
                </a:solidFill>
                <a:latin typeface="+mn-lt"/>
                <a:ea typeface="+mn-ea"/>
                <a:cs typeface="+mn-cs"/>
              </a:rPr>
            </a:br>
            <a:r>
              <a:rPr lang="es-AR" sz="1800" dirty="0">
                <a:solidFill>
                  <a:schemeClr val="dk1"/>
                </a:solidFill>
                <a:latin typeface="+mn-lt"/>
                <a:ea typeface="+mn-ea"/>
                <a:cs typeface="+mn-cs"/>
              </a:rPr>
              <a:t>del fondo en pocos niveles</a:t>
            </a:r>
            <a:br>
              <a:rPr lang="es-AR" sz="1800" dirty="0">
                <a:solidFill>
                  <a:schemeClr val="dk1"/>
                </a:solidFill>
                <a:latin typeface="+mn-lt"/>
                <a:ea typeface="+mn-ea"/>
                <a:cs typeface="+mn-cs"/>
              </a:rPr>
            </a:br>
            <a:r>
              <a:rPr lang="es-AR" sz="1800" dirty="0">
                <a:solidFill>
                  <a:schemeClr val="dk1"/>
                </a:solidFill>
                <a:latin typeface="+mn-lt"/>
                <a:ea typeface="+mn-ea"/>
                <a:cs typeface="+mn-cs"/>
              </a:rPr>
              <a:t>de gris.</a:t>
            </a:r>
          </a:p>
        </p:txBody>
      </p:sp>
      <p:sp>
        <p:nvSpPr>
          <p:cNvPr id="19" name="data-story-source-slot Placeholder Carrier"/>
          <p:cNvSpPr txBox="1"/>
          <p:nvPr>
            <p:ph type="ftr" idx="3"/>
          </p:nvPr>
        </p:nvSpPr>
        <p:spPr>
          <a:xfrm>
            <a:off x="604266" y="6254750"/>
            <a:ext cx="1620915" cy="205359"/>
          </a:xfrm>
          <a:prstGeom prst="rect">
            <a:avLst/>
          </a:prstGeom>
          <a:noFill/>
          <a:ln>
            <a:noFill/>
          </a:ln>
        </p:spPr>
        <p:txBody>
          <a:bodyPr wrap="none" lIns="0" tIns="0" rIns="0" bIns="0" anchor="t" anchorCtr="0">
            <a:spAutoFit/>
          </a:bodyPr>
          <a:lstStyle/>
          <a:p>
            <a:pPr algn="l"/>
            <a:r>
              <a:rPr lang="es-AR" sz="1050" dirty="0">
                <a:solidFill>
                  <a:schemeClr val="accent5"/>
                </a:solidFill>
                <a:latin typeface="+mn-lt"/>
                <a:ea typeface="+mn-ea"/>
                <a:cs typeface="+mn-cs"/>
              </a:rPr>
              <a:t>Fuente: figura 1 del informe</a:t>
            </a:r>
          </a:p>
        </p:txBody>
      </p:sp>
    </p:spTree>
  </p:cSld>
  <p:clrMapOvr>
    <a:masterClrMapping/>
  </p:clrMapOvr>
  <p:transition p14:dur="400">
    <p:fade/>
  </p:transition>
</p:sld>
</file>

<file path=ppt/slides/slide4.xml><?xml version="1.0" encoding="utf-8"?>
<p:sld xmlns:a="http://schemas.openxmlformats.org/drawingml/2006/main" xmlns:p="http://schemas.openxmlformats.org/presentationml/2006/main" xmlns:p14="http://schemas.microsoft.com/office/powerpoint/2010/main" showMasterSp="1">
  <p:cSld>
    <p:spTree>
      <p:nvGrpSpPr>
        <p:cNvPr id="1" name=""/>
        <p:cNvGrpSpPr/>
        <p:nvPr/>
      </p:nvGrpSpPr>
      <p:grpSpPr>
        <a:xfrm>
          <a:off x="0" y="0"/>
          <a:ext cx="0" cy="0"/>
          <a:chOff x="0" y="0"/>
          <a:chExt cx="0" cy="0"/>
        </a:xfrm>
      </p:grpSpPr>
      <p:sp>
        <p:nvSpPr>
          <p:cNvPr id="6" name="comparison-title-slot Placeholder Carrier"/>
          <p:cNvSpPr txBox="1"/>
          <p:nvPr>
            <p:ph type="title"/>
          </p:nvPr>
        </p:nvSpPr>
        <p:spPr>
          <a:xfrm>
            <a:off x="595884" y="527050"/>
            <a:ext cx="8396112" cy="528066"/>
          </a:xfrm>
          <a:prstGeom prst="rect">
            <a:avLst/>
          </a:prstGeom>
          <a:noFill/>
          <a:ln>
            <a:noFill/>
          </a:ln>
        </p:spPr>
        <p:txBody>
          <a:bodyPr wrap="none" lIns="0" tIns="0" rIns="0" bIns="0" anchor="t" anchorCtr="0">
            <a:spAutoFit/>
          </a:bodyPr>
          <a:lstStyle/>
          <a:p>
            <a:pPr algn="l"/>
            <a:r>
              <a:rPr lang="es-AR" sz="2700" b="1" dirty="0">
                <a:solidFill>
                  <a:schemeClr val="accent1"/>
                </a:solidFill>
                <a:latin typeface="+mj-lt"/>
                <a:ea typeface="+mj-ea"/>
                <a:cs typeface="+mj-cs"/>
              </a:rPr>
              <a:t>Global y local: qué píxeles entran al histograma</a:t>
            </a:r>
          </a:p>
        </p:txBody>
      </p:sp>
      <p:sp>
        <p:nvSpPr>
          <p:cNvPr id="7" name="title-rule"/>
          <p:cNvSpPr/>
          <p:nvPr/>
        </p:nvSpPr>
        <p:spPr>
          <a:xfrm>
            <a:off x="609600" y="1123950"/>
            <a:ext cx="685800" cy="28575"/>
          </a:xfrm>
          <a:prstGeom prst="rect">
            <a:avLst/>
          </a:prstGeom>
          <a:solidFill>
            <a:schemeClr val="accent1"/>
          </a:solidFill>
          <a:ln>
            <a:noFill/>
          </a:ln>
        </p:spPr>
      </p:sp>
      <p:sp>
        <p:nvSpPr>
          <p:cNvPr id="8" name="comparison-left-title-slot Placeholder Carrier"/>
          <p:cNvSpPr txBox="1"/>
          <p:nvPr>
            <p:ph type="body" idx="1"/>
          </p:nvPr>
        </p:nvSpPr>
        <p:spPr>
          <a:xfrm>
            <a:off x="829056" y="1809750"/>
            <a:ext cx="2879181" cy="352044"/>
          </a:xfrm>
          <a:prstGeom prst="rect">
            <a:avLst/>
          </a:prstGeom>
          <a:noFill/>
          <a:ln>
            <a:noFill/>
          </a:ln>
        </p:spPr>
        <p:txBody>
          <a:bodyPr wrap="none" lIns="0" tIns="0" rIns="0" bIns="0" anchor="t" anchorCtr="0">
            <a:spAutoFit/>
          </a:bodyPr>
          <a:lstStyle/>
          <a:p>
            <a:pPr algn="l" marL="0" indent="0">
              <a:buNone/>
            </a:pPr>
            <a:r>
              <a:rPr lang="es-AR" sz="1800" b="1" dirty="0">
                <a:solidFill>
                  <a:schemeClr val="accent1"/>
                </a:solidFill>
                <a:latin typeface="+mj-lt"/>
                <a:ea typeface="+mj-ea"/>
                <a:cs typeface="+mj-cs"/>
              </a:rPr>
              <a:t>Global: todos los píxeles</a:t>
            </a:r>
          </a:p>
        </p:txBody>
      </p:sp>
      <p:sp>
        <p:nvSpPr>
          <p:cNvPr id="9" name="comparison-left-content-slot Placeholder Carrier"/>
          <p:cNvSpPr txBox="1"/>
          <p:nvPr>
            <p:ph idx="2"/>
          </p:nvPr>
        </p:nvSpPr>
        <p:spPr>
          <a:xfrm>
            <a:off x="829056" y="2495550"/>
            <a:ext cx="4529663" cy="2942844"/>
          </a:xfrm>
          <a:prstGeom prst="rect">
            <a:avLst/>
          </a:prstGeom>
          <a:noFill/>
          <a:ln>
            <a:noFill/>
          </a:ln>
        </p:spPr>
        <p:txBody>
          <a:bodyPr wrap="none" lIns="0" tIns="0" rIns="0" bIns="0" anchor="t" anchorCtr="0">
            <a:noAutofit/>
          </a:bodyPr>
          <a:lstStyle/>
          <a:p>
            <a:pPr algn="l" marL="0" indent="0">
              <a:lnSpc>
                <a:spcPts val="2400"/>
              </a:lnSpc>
              <a:buNone/>
            </a:pPr>
            <a:r>
              <a:rPr lang="es-AR" sz="1350" b="1" dirty="0">
                <a:solidFill>
                  <a:schemeClr val="accent5"/>
                </a:solidFill>
                <a:latin typeface="+mn-lt"/>
                <a:ea typeface="+mn-ea"/>
                <a:cs typeface="+mn-cs"/>
              </a:rPr>
              <a:t>QUÉ PÍXELES USA</a:t>
            </a:r>
          </a:p>
          <a:p>
            <a:pPr algn="l" marL="0" indent="0">
              <a:lnSpc>
                <a:spcPts val="2400"/>
              </a:lnSpc>
              <a:buNone/>
            </a:pPr>
            <a:r>
              <a:rPr lang="es-AR" sz="1800" dirty="0">
                <a:solidFill>
                  <a:schemeClr val="dk1"/>
                </a:solidFill>
                <a:latin typeface="+mn-lt"/>
                <a:ea typeface="+mn-ea"/>
                <a:cs typeface="+mn-cs"/>
              </a:rPr>
              <a:t>Todos los de la imagen.</a:t>
            </a:r>
          </a:p>
          <a:p>
            <a:pPr algn="l" marL="0" indent="0">
              <a:lnSpc>
                <a:spcPts val="2400"/>
              </a:lnSpc>
              <a:spcBef>
                <a:spcPts val="2400"/>
              </a:spcBef>
              <a:buNone/>
            </a:pPr>
            <a:r>
              <a:rPr lang="es-AR" sz="1350" b="1" dirty="0">
                <a:solidFill>
                  <a:schemeClr val="accent5"/>
                </a:solidFill>
                <a:latin typeface="+mn-lt"/>
                <a:ea typeface="+mn-ea"/>
                <a:cs typeface="+mn-cs"/>
              </a:rPr>
              <a:t>CÓMO TRANSFORMA</a:t>
            </a:r>
          </a:p>
          <a:p>
            <a:pPr algn="l" marL="0" indent="0">
              <a:lnSpc>
                <a:spcPts val="2400"/>
              </a:lnSpc>
              <a:buNone/>
            </a:pPr>
            <a:r>
              <a:rPr lang="es-AR" sz="1800" dirty="0">
                <a:solidFill>
                  <a:schemeClr val="dk1"/>
                </a:solidFill>
                <a:latin typeface="+mn-lt"/>
                <a:ea typeface="+mn-ea"/>
                <a:cs typeface="+mn-cs"/>
              </a:rPr>
              <a:t>Acumula la fracción de píxeles de cada nivel y la</a:t>
            </a:r>
            <a:br>
              <a:rPr lang="es-AR" sz="1800" dirty="0">
                <a:solidFill>
                  <a:schemeClr val="dk1"/>
                </a:solidFill>
                <a:latin typeface="+mn-lt"/>
                <a:ea typeface="+mn-ea"/>
                <a:cs typeface="+mn-cs"/>
              </a:rPr>
            </a:br>
            <a:r>
              <a:rPr lang="es-AR" sz="1800" dirty="0">
                <a:solidFill>
                  <a:schemeClr val="dk1"/>
                </a:solidFill>
                <a:latin typeface="+mn-lt"/>
                <a:ea typeface="+mn-ea"/>
                <a:cs typeface="+mn-cs"/>
              </a:rPr>
              <a:t>escala al rango 0 a 255.</a:t>
            </a:r>
          </a:p>
          <a:p>
            <a:pPr algn="l" marL="0" indent="0">
              <a:lnSpc>
                <a:spcPts val="2400"/>
              </a:lnSpc>
              <a:spcBef>
                <a:spcPts val="1200"/>
              </a:spcBef>
              <a:buNone/>
            </a:pPr>
            <a:r>
              <a:rPr lang="es-AR" sz="1350" b="1" dirty="0">
                <a:solidFill>
                  <a:schemeClr val="accent5"/>
                </a:solidFill>
                <a:latin typeface="+mn-lt"/>
                <a:ea typeface="+mn-ea"/>
                <a:cs typeface="+mn-cs"/>
              </a:rPr>
              <a:t>QUÉ PASA CON UN DETALLE CHICO</a:t>
            </a:r>
          </a:p>
          <a:p>
            <a:pPr algn="l" marL="0" indent="0">
              <a:lnSpc>
                <a:spcPts val="2400"/>
              </a:lnSpc>
              <a:buNone/>
            </a:pPr>
            <a:r>
              <a:rPr lang="es-AR" sz="1800" dirty="0">
                <a:solidFill>
                  <a:schemeClr val="dk1"/>
                </a:solidFill>
                <a:latin typeface="+mn-lt"/>
                <a:ea typeface="+mn-ea"/>
                <a:cs typeface="+mn-cs"/>
              </a:rPr>
              <a:t>Un detalle chico y casi igual a su fondo pesa muy</a:t>
            </a:r>
            <a:br>
              <a:rPr lang="es-AR" sz="1800" dirty="0">
                <a:solidFill>
                  <a:schemeClr val="dk1"/>
                </a:solidFill>
                <a:latin typeface="+mn-lt"/>
                <a:ea typeface="+mn-ea"/>
                <a:cs typeface="+mn-cs"/>
              </a:rPr>
            </a:br>
            <a:r>
              <a:rPr lang="es-AR" sz="1800" dirty="0">
                <a:solidFill>
                  <a:schemeClr val="dk1"/>
                </a:solidFill>
                <a:latin typeface="+mn-lt"/>
                <a:ea typeface="+mn-ea"/>
                <a:cs typeface="+mn-cs"/>
              </a:rPr>
              <a:t>poco: no se resalta.</a:t>
            </a:r>
          </a:p>
        </p:txBody>
      </p:sp>
      <p:sp>
        <p:nvSpPr>
          <p:cNvPr id="10" name="comparison-right-title-slot Placeholder Carrier"/>
          <p:cNvSpPr txBox="1"/>
          <p:nvPr>
            <p:ph type="body" idx="3"/>
          </p:nvPr>
        </p:nvSpPr>
        <p:spPr>
          <a:xfrm>
            <a:off x="6544056" y="1809750"/>
            <a:ext cx="2563956" cy="352044"/>
          </a:xfrm>
          <a:prstGeom prst="rect">
            <a:avLst/>
          </a:prstGeom>
          <a:noFill/>
          <a:ln>
            <a:noFill/>
          </a:ln>
        </p:spPr>
        <p:txBody>
          <a:bodyPr wrap="none" lIns="0" tIns="0" rIns="0" bIns="0" anchor="t" anchorCtr="0">
            <a:spAutoFit/>
          </a:bodyPr>
          <a:lstStyle/>
          <a:p>
            <a:pPr algn="l" marL="0" indent="0">
              <a:buNone/>
            </a:pPr>
            <a:r>
              <a:rPr lang="es-AR" sz="1800" b="1" dirty="0">
                <a:solidFill>
                  <a:schemeClr val="accent3"/>
                </a:solidFill>
                <a:latin typeface="+mj-lt"/>
                <a:ea typeface="+mj-ea"/>
                <a:cs typeface="+mj-cs"/>
              </a:rPr>
              <a:t>Local: solo la ventana</a:t>
            </a:r>
          </a:p>
        </p:txBody>
      </p:sp>
      <p:sp>
        <p:nvSpPr>
          <p:cNvPr id="11" name="comparison-right-content-slot Placeholder Carrier"/>
          <p:cNvSpPr txBox="1"/>
          <p:nvPr>
            <p:ph idx="4"/>
          </p:nvPr>
        </p:nvSpPr>
        <p:spPr>
          <a:xfrm>
            <a:off x="6544056" y="2495550"/>
            <a:ext cx="4522280" cy="2638044"/>
          </a:xfrm>
          <a:prstGeom prst="rect">
            <a:avLst/>
          </a:prstGeom>
          <a:noFill/>
          <a:ln>
            <a:noFill/>
          </a:ln>
        </p:spPr>
        <p:txBody>
          <a:bodyPr wrap="none" lIns="0" tIns="0" rIns="0" bIns="0" anchor="t" anchorCtr="0">
            <a:noAutofit/>
          </a:bodyPr>
          <a:lstStyle/>
          <a:p>
            <a:pPr algn="l" marL="0" indent="0">
              <a:lnSpc>
                <a:spcPts val="2400"/>
              </a:lnSpc>
              <a:buNone/>
            </a:pPr>
            <a:r>
              <a:rPr lang="es-AR" sz="1350" b="1" dirty="0">
                <a:solidFill>
                  <a:schemeClr val="accent5"/>
                </a:solidFill>
                <a:latin typeface="+mn-lt"/>
                <a:ea typeface="+mn-ea"/>
                <a:cs typeface="+mn-cs"/>
              </a:rPr>
              <a:t>QUÉ PÍXELES USA</a:t>
            </a:r>
          </a:p>
          <a:p>
            <a:pPr algn="l" marL="0" indent="0">
              <a:lnSpc>
                <a:spcPts val="2400"/>
              </a:lnSpc>
              <a:buNone/>
            </a:pPr>
            <a:r>
              <a:rPr lang="es-AR" sz="1800" dirty="0">
                <a:solidFill>
                  <a:schemeClr val="dk1"/>
                </a:solidFill>
                <a:latin typeface="+mn-lt"/>
                <a:ea typeface="+mn-ea"/>
                <a:cs typeface="+mn-cs"/>
              </a:rPr>
              <a:t>Solo los de una ventana alrededor de cada píxel.</a:t>
            </a:r>
          </a:p>
          <a:p>
            <a:pPr algn="l" marL="0" indent="0">
              <a:lnSpc>
                <a:spcPts val="2400"/>
              </a:lnSpc>
              <a:spcBef>
                <a:spcPts val="2400"/>
              </a:spcBef>
              <a:buNone/>
            </a:pPr>
            <a:r>
              <a:rPr lang="es-AR" sz="1350" b="1" dirty="0">
                <a:solidFill>
                  <a:schemeClr val="accent5"/>
                </a:solidFill>
                <a:latin typeface="+mn-lt"/>
                <a:ea typeface="+mn-ea"/>
                <a:cs typeface="+mn-cs"/>
              </a:rPr>
              <a:t>CÓMO TRANSFORMA</a:t>
            </a:r>
          </a:p>
          <a:p>
            <a:pPr algn="l" marL="0" indent="0">
              <a:lnSpc>
                <a:spcPts val="2400"/>
              </a:lnSpc>
              <a:buNone/>
            </a:pPr>
            <a:r>
              <a:rPr lang="es-AR" sz="1800" dirty="0">
                <a:solidFill>
                  <a:schemeClr val="dk1"/>
                </a:solidFill>
                <a:latin typeface="+mn-lt"/>
                <a:ea typeface="+mn-ea"/>
                <a:cs typeface="+mn-cs"/>
              </a:rPr>
              <a:t>El histograma de la ventana define la</a:t>
            </a:r>
            <a:br>
              <a:rPr lang="es-AR" sz="1800" dirty="0">
                <a:solidFill>
                  <a:schemeClr val="dk1"/>
                </a:solidFill>
                <a:latin typeface="+mn-lt"/>
                <a:ea typeface="+mn-ea"/>
                <a:cs typeface="+mn-cs"/>
              </a:rPr>
            </a:br>
            <a:r>
              <a:rPr lang="es-AR" sz="1800" dirty="0">
                <a:solidFill>
                  <a:schemeClr val="dk1"/>
                </a:solidFill>
                <a:latin typeface="+mn-lt"/>
                <a:ea typeface="+mn-ea"/>
                <a:cs typeface="+mn-cs"/>
              </a:rPr>
              <a:t>transformación, que se aplica al píxel central.</a:t>
            </a:r>
          </a:p>
          <a:p>
            <a:pPr algn="l" marL="0" indent="0">
              <a:lnSpc>
                <a:spcPts val="2400"/>
              </a:lnSpc>
              <a:spcBef>
                <a:spcPts val="1200"/>
              </a:spcBef>
              <a:buNone/>
            </a:pPr>
            <a:r>
              <a:rPr lang="es-AR" sz="1350" b="1" dirty="0">
                <a:solidFill>
                  <a:schemeClr val="accent5"/>
                </a:solidFill>
                <a:latin typeface="+mn-lt"/>
                <a:ea typeface="+mn-ea"/>
                <a:cs typeface="+mn-cs"/>
              </a:rPr>
              <a:t>QUÉ PASA CON UN DETALLE CHICO</a:t>
            </a:r>
          </a:p>
          <a:p>
            <a:pPr algn="l" marL="0" indent="0">
              <a:lnSpc>
                <a:spcPts val="2400"/>
              </a:lnSpc>
              <a:buNone/>
            </a:pPr>
            <a:r>
              <a:rPr lang="es-AR" sz="1800" dirty="0">
                <a:solidFill>
                  <a:schemeClr val="dk1"/>
                </a:solidFill>
                <a:latin typeface="+mn-lt"/>
                <a:ea typeface="+mn-ea"/>
                <a:cs typeface="+mn-cs"/>
              </a:rPr>
              <a:t>El detalle pesa en su propio entorno y se resalta.</a:t>
            </a:r>
          </a:p>
        </p:txBody>
      </p:sp>
    </p:spTree>
  </p:cSld>
  <p:clrMapOvr>
    <a:masterClrMapping/>
  </p:clrMapOvr>
  <p:transition p14:dur="400">
    <p:fade/>
  </p:transition>
</p:sld>
</file>

<file path=ppt/slides/slide5.xml><?xml version="1.0" encoding="utf-8"?>
<p:sld xmlns:a="http://schemas.openxmlformats.org/drawingml/2006/main" xmlns:p="http://schemas.openxmlformats.org/presentationml/2006/main" xmlns:p14="http://schemas.microsoft.com/office/powerpoint/2010/main" showMasterSp="1">
  <p:cSld>
    <p:spTree>
      <p:nvGrpSpPr>
        <p:cNvPr id="1" name=""/>
        <p:cNvGrpSpPr/>
        <p:nvPr/>
      </p:nvGrpSpPr>
      <p:grpSpPr>
        <a:xfrm>
          <a:off x="0" y="0"/>
          <a:ext cx="0" cy="0"/>
          <a:chOff x="0" y="0"/>
          <a:chExt cx="0" cy="0"/>
        </a:xfrm>
      </p:grpSpPr>
      <p:sp>
        <p:nvSpPr>
          <p:cNvPr id="9" name="process-timeline-title-slot Placeholder Carrier"/>
          <p:cNvSpPr txBox="1"/>
          <p:nvPr>
            <p:ph type="title"/>
          </p:nvPr>
        </p:nvSpPr>
        <p:spPr>
          <a:xfrm>
            <a:off x="595884" y="527050"/>
            <a:ext cx="7423154" cy="528066"/>
          </a:xfrm>
          <a:prstGeom prst="rect">
            <a:avLst/>
          </a:prstGeom>
          <a:noFill/>
          <a:ln>
            <a:noFill/>
          </a:ln>
        </p:spPr>
        <p:txBody>
          <a:bodyPr wrap="none" lIns="0" tIns="0" rIns="0" bIns="0" anchor="t" anchorCtr="0">
            <a:spAutoFit/>
          </a:bodyPr>
          <a:lstStyle/>
          <a:p>
            <a:pPr algn="l"/>
            <a:r>
              <a:rPr lang="es-AR" sz="2700" b="1" dirty="0">
                <a:solidFill>
                  <a:schemeClr val="accent1"/>
                </a:solidFill>
                <a:latin typeface="+mj-lt"/>
                <a:ea typeface="+mj-ea"/>
                <a:cs typeface="+mj-cs"/>
              </a:rPr>
              <a:t>La ventana recorre la imagen píxel a píxel</a:t>
            </a:r>
          </a:p>
        </p:txBody>
      </p:sp>
      <p:sp>
        <p:nvSpPr>
          <p:cNvPr id="10" name="title-rule"/>
          <p:cNvSpPr/>
          <p:nvPr/>
        </p:nvSpPr>
        <p:spPr>
          <a:xfrm>
            <a:off x="609600" y="1123950"/>
            <a:ext cx="685800" cy="28575"/>
          </a:xfrm>
          <a:prstGeom prst="rect">
            <a:avLst/>
          </a:prstGeom>
          <a:solidFill>
            <a:schemeClr val="accent1"/>
          </a:solidFill>
          <a:ln>
            <a:noFill/>
          </a:ln>
        </p:spPr>
      </p:sp>
      <p:grpSp>
        <p:nvGrpSpPr>
          <p:cNvPr id="12" name="step-1-label"/>
          <p:cNvGrpSpPr/>
          <p:nvPr/>
        </p:nvGrpSpPr>
        <p:grpSpPr>
          <a:xfrm>
            <a:off x="1570076" y="1854200"/>
            <a:ext cx="593648" cy="264033"/>
            <a:chOff x="1570076" y="1854200"/>
            <a:chExt cx="593648" cy="264033"/>
          </a:xfrm>
        </p:grpSpPr>
        <p:sp>
          <p:nvSpPr>
            <p:cNvPr id="11" name="TextBox 11"/>
            <p:cNvSpPr txBox="1"/>
            <p:nvPr/>
          </p:nvSpPr>
          <p:spPr>
            <a:xfrm>
              <a:off x="1570076" y="1854200"/>
              <a:ext cx="593648" cy="264033"/>
            </a:xfrm>
            <a:prstGeom prst="rect">
              <a:avLst/>
            </a:prstGeom>
            <a:noFill/>
            <a:ln>
              <a:noFill/>
            </a:ln>
          </p:spPr>
          <p:txBody>
            <a:bodyPr wrap="none" lIns="0" tIns="0" rIns="0" bIns="0" anchor="t" anchorCtr="0">
              <a:spAutoFit/>
            </a:bodyPr>
            <a:lstStyle/>
            <a:p>
              <a:pPr algn="ctr"/>
              <a:r>
                <a:rPr lang="es-AR" sz="1350" b="1" dirty="0">
                  <a:solidFill>
                    <a:schemeClr val="accent5"/>
                  </a:solidFill>
                  <a:latin typeface="+mn-lt"/>
                  <a:ea typeface="+mn-ea"/>
                  <a:cs typeface="+mn-cs"/>
                </a:rPr>
                <a:t>PASO 1</a:t>
              </a:r>
            </a:p>
          </p:txBody>
        </p:sp>
      </p:grpSp>
      <p:sp>
        <p:nvSpPr>
          <p:cNvPr id="13" name="process-timeline-one-slot Placeholder Carrier"/>
          <p:cNvSpPr txBox="1"/>
          <p:nvPr>
            <p:ph idx="1"/>
          </p:nvPr>
        </p:nvSpPr>
        <p:spPr>
          <a:xfrm>
            <a:off x="869793" y="2743200"/>
            <a:ext cx="1994215" cy="1171194"/>
          </a:xfrm>
          <a:prstGeom prst="rect">
            <a:avLst/>
          </a:prstGeom>
          <a:noFill/>
          <a:ln>
            <a:noFill/>
          </a:ln>
        </p:spPr>
        <p:txBody>
          <a:bodyPr wrap="none" lIns="0" tIns="0" rIns="0" bIns="0" anchor="t" anchorCtr="0">
            <a:noAutofit/>
          </a:bodyPr>
          <a:lstStyle/>
          <a:p>
            <a:pPr algn="ctr" marL="0" indent="0">
              <a:lnSpc>
                <a:spcPts val="2400"/>
              </a:lnSpc>
              <a:buNone/>
            </a:pPr>
            <a:r>
              <a:rPr lang="es-AR" sz="2100" b="1" dirty="0">
                <a:solidFill>
                  <a:schemeClr val="accent1"/>
                </a:solidFill>
                <a:latin typeface="+mn-lt"/>
                <a:ea typeface="+mn-ea"/>
                <a:cs typeface="+mn-cs"/>
              </a:rPr>
              <a:t>Definir la ventana</a:t>
            </a:r>
          </a:p>
          <a:p>
            <a:pPr algn="ctr" marL="0" indent="0">
              <a:lnSpc>
                <a:spcPts val="2400"/>
              </a:lnSpc>
              <a:spcBef>
                <a:spcPts val="1650"/>
              </a:spcBef>
              <a:buNone/>
            </a:pPr>
            <a:r>
              <a:rPr lang="es-AR" sz="1800" dirty="0">
                <a:solidFill>
                  <a:schemeClr val="dk1"/>
                </a:solidFill>
                <a:latin typeface="+mn-lt"/>
                <a:ea typeface="+mn-ea"/>
                <a:cs typeface="+mn-cs"/>
              </a:rPr>
              <a:t>De MxN píxeles, con</a:t>
            </a:r>
            <a:br>
              <a:rPr lang="es-AR" sz="1800" dirty="0">
                <a:solidFill>
                  <a:schemeClr val="dk1"/>
                </a:solidFill>
                <a:latin typeface="+mn-lt"/>
                <a:ea typeface="+mn-ea"/>
                <a:cs typeface="+mn-cs"/>
              </a:rPr>
            </a:br>
            <a:r>
              <a:rPr lang="es-AR" sz="1800" dirty="0">
                <a:solidFill>
                  <a:schemeClr val="dk1"/>
                </a:solidFill>
                <a:latin typeface="+mn-lt"/>
                <a:ea typeface="+mn-ea"/>
                <a:cs typeface="+mn-cs"/>
              </a:rPr>
              <a:t>M y N impares.</a:t>
            </a:r>
          </a:p>
        </p:txBody>
      </p:sp>
      <p:grpSp>
        <p:nvGrpSpPr>
          <p:cNvPr id="15" name="step-2-label"/>
          <p:cNvGrpSpPr/>
          <p:nvPr/>
        </p:nvGrpSpPr>
        <p:grpSpPr>
          <a:xfrm>
            <a:off x="4389476" y="1854200"/>
            <a:ext cx="593648" cy="264033"/>
            <a:chOff x="4389476" y="1854200"/>
            <a:chExt cx="593648" cy="264033"/>
          </a:xfrm>
        </p:grpSpPr>
        <p:sp>
          <p:nvSpPr>
            <p:cNvPr id="14" name="TextBox 14"/>
            <p:cNvSpPr txBox="1"/>
            <p:nvPr/>
          </p:nvSpPr>
          <p:spPr>
            <a:xfrm>
              <a:off x="4389476" y="1854200"/>
              <a:ext cx="593648" cy="264033"/>
            </a:xfrm>
            <a:prstGeom prst="rect">
              <a:avLst/>
            </a:prstGeom>
            <a:noFill/>
            <a:ln>
              <a:noFill/>
            </a:ln>
          </p:spPr>
          <p:txBody>
            <a:bodyPr wrap="none" lIns="0" tIns="0" rIns="0" bIns="0" anchor="t" anchorCtr="0">
              <a:spAutoFit/>
            </a:bodyPr>
            <a:lstStyle/>
            <a:p>
              <a:pPr algn="ctr"/>
              <a:r>
                <a:rPr lang="es-AR" sz="1350" b="1" dirty="0">
                  <a:solidFill>
                    <a:schemeClr val="accent5"/>
                  </a:solidFill>
                  <a:latin typeface="+mn-lt"/>
                  <a:ea typeface="+mn-ea"/>
                  <a:cs typeface="+mn-cs"/>
                </a:rPr>
                <a:t>PASO 2</a:t>
              </a:r>
            </a:p>
          </p:txBody>
        </p:sp>
      </p:grpSp>
      <p:sp>
        <p:nvSpPr>
          <p:cNvPr id="16" name="process-timeline-two-slot Placeholder Carrier"/>
          <p:cNvSpPr txBox="1"/>
          <p:nvPr>
            <p:ph idx="2"/>
          </p:nvPr>
        </p:nvSpPr>
        <p:spPr>
          <a:xfrm>
            <a:off x="3810956" y="2743200"/>
            <a:ext cx="1750687" cy="1171194"/>
          </a:xfrm>
          <a:prstGeom prst="rect">
            <a:avLst/>
          </a:prstGeom>
          <a:noFill/>
          <a:ln>
            <a:noFill/>
          </a:ln>
        </p:spPr>
        <p:txBody>
          <a:bodyPr wrap="none" lIns="0" tIns="0" rIns="0" bIns="0" anchor="t" anchorCtr="0">
            <a:noAutofit/>
          </a:bodyPr>
          <a:lstStyle/>
          <a:p>
            <a:pPr algn="ctr" marL="0" indent="0">
              <a:lnSpc>
                <a:spcPts val="2400"/>
              </a:lnSpc>
              <a:buNone/>
            </a:pPr>
            <a:r>
              <a:rPr lang="es-AR" sz="2100" b="1" dirty="0">
                <a:solidFill>
                  <a:schemeClr val="accent1"/>
                </a:solidFill>
                <a:latin typeface="+mn-lt"/>
                <a:ea typeface="+mn-ea"/>
                <a:cs typeface="+mn-cs"/>
              </a:rPr>
              <a:t>Centrarla</a:t>
            </a:r>
          </a:p>
          <a:p>
            <a:pPr algn="ctr" marL="0" indent="0">
              <a:lnSpc>
                <a:spcPts val="2400"/>
              </a:lnSpc>
              <a:spcBef>
                <a:spcPts val="1650"/>
              </a:spcBef>
              <a:buNone/>
            </a:pPr>
            <a:r>
              <a:rPr lang="es-AR" sz="1800" dirty="0">
                <a:solidFill>
                  <a:schemeClr val="dk1"/>
                </a:solidFill>
                <a:latin typeface="+mn-lt"/>
                <a:ea typeface="+mn-ea"/>
                <a:cs typeface="+mn-cs"/>
              </a:rPr>
              <a:t>Se apoya sobre un</a:t>
            </a:r>
            <a:br>
              <a:rPr lang="es-AR" sz="1800" dirty="0">
                <a:solidFill>
                  <a:schemeClr val="dk1"/>
                </a:solidFill>
                <a:latin typeface="+mn-lt"/>
                <a:ea typeface="+mn-ea"/>
                <a:cs typeface="+mn-cs"/>
              </a:rPr>
            </a:br>
            <a:r>
              <a:rPr lang="es-AR" sz="1800" dirty="0">
                <a:solidFill>
                  <a:schemeClr val="dk1"/>
                </a:solidFill>
                <a:latin typeface="+mn-lt"/>
                <a:ea typeface="+mn-ea"/>
                <a:cs typeface="+mn-cs"/>
              </a:rPr>
              <a:t>píxel de la imagen.</a:t>
            </a:r>
          </a:p>
        </p:txBody>
      </p:sp>
      <p:grpSp>
        <p:nvGrpSpPr>
          <p:cNvPr id="18" name="step-3-label"/>
          <p:cNvGrpSpPr/>
          <p:nvPr/>
        </p:nvGrpSpPr>
        <p:grpSpPr>
          <a:xfrm>
            <a:off x="7208876" y="1854200"/>
            <a:ext cx="593648" cy="264033"/>
            <a:chOff x="7208876" y="1854200"/>
            <a:chExt cx="593648" cy="264033"/>
          </a:xfrm>
        </p:grpSpPr>
        <p:sp>
          <p:nvSpPr>
            <p:cNvPr id="17" name="TextBox 17"/>
            <p:cNvSpPr txBox="1"/>
            <p:nvPr/>
          </p:nvSpPr>
          <p:spPr>
            <a:xfrm>
              <a:off x="7208876" y="1854200"/>
              <a:ext cx="593648" cy="264033"/>
            </a:xfrm>
            <a:prstGeom prst="rect">
              <a:avLst/>
            </a:prstGeom>
            <a:noFill/>
            <a:ln>
              <a:noFill/>
            </a:ln>
          </p:spPr>
          <p:txBody>
            <a:bodyPr wrap="none" lIns="0" tIns="0" rIns="0" bIns="0" anchor="t" anchorCtr="0">
              <a:spAutoFit/>
            </a:bodyPr>
            <a:lstStyle/>
            <a:p>
              <a:pPr algn="ctr"/>
              <a:r>
                <a:rPr lang="es-AR" sz="1350" b="1" dirty="0">
                  <a:solidFill>
                    <a:schemeClr val="accent5"/>
                  </a:solidFill>
                  <a:latin typeface="+mn-lt"/>
                  <a:ea typeface="+mn-ea"/>
                  <a:cs typeface="+mn-cs"/>
                </a:rPr>
                <a:t>PASO 3</a:t>
              </a:r>
            </a:p>
          </p:txBody>
        </p:sp>
      </p:grpSp>
      <p:sp>
        <p:nvSpPr>
          <p:cNvPr id="19" name="process-timeline-three-slot Placeholder Carrier"/>
          <p:cNvSpPr txBox="1"/>
          <p:nvPr>
            <p:ph idx="3"/>
          </p:nvPr>
        </p:nvSpPr>
        <p:spPr>
          <a:xfrm>
            <a:off x="6754120" y="2743200"/>
            <a:ext cx="1503159" cy="1799844"/>
          </a:xfrm>
          <a:prstGeom prst="rect">
            <a:avLst/>
          </a:prstGeom>
          <a:noFill/>
          <a:ln>
            <a:noFill/>
          </a:ln>
        </p:spPr>
        <p:txBody>
          <a:bodyPr wrap="none" lIns="0" tIns="0" rIns="0" bIns="0" anchor="t" anchorCtr="0">
            <a:noAutofit/>
          </a:bodyPr>
          <a:lstStyle/>
          <a:p>
            <a:pPr algn="ctr" marL="0" indent="0">
              <a:lnSpc>
                <a:spcPts val="2400"/>
              </a:lnSpc>
              <a:buNone/>
            </a:pPr>
            <a:r>
              <a:rPr lang="es-AR" sz="2100" b="1" dirty="0">
                <a:solidFill>
                  <a:schemeClr val="accent1"/>
                </a:solidFill>
                <a:latin typeface="+mn-lt"/>
                <a:ea typeface="+mn-ea"/>
                <a:cs typeface="+mn-cs"/>
              </a:rPr>
              <a:t>Ecualizar la</a:t>
            </a:r>
          </a:p>
          <a:p>
            <a:pPr algn="ctr" marL="0" indent="0">
              <a:lnSpc>
                <a:spcPts val="2400"/>
              </a:lnSpc>
              <a:spcBef>
                <a:spcPts val="150"/>
              </a:spcBef>
              <a:buNone/>
            </a:pPr>
            <a:r>
              <a:rPr lang="es-AR" sz="2100" b="1" dirty="0">
                <a:solidFill>
                  <a:schemeClr val="accent1"/>
                </a:solidFill>
                <a:latin typeface="+mn-lt"/>
                <a:ea typeface="+mn-ea"/>
                <a:cs typeface="+mn-cs"/>
              </a:rPr>
              <a:t>ventana</a:t>
            </a:r>
          </a:p>
          <a:p>
            <a:pPr algn="ctr" marL="0" indent="0">
              <a:lnSpc>
                <a:spcPts val="2400"/>
              </a:lnSpc>
              <a:spcBef>
                <a:spcPts val="1650"/>
              </a:spcBef>
              <a:buNone/>
            </a:pPr>
            <a:r>
              <a:rPr lang="es-AR" sz="1800" dirty="0">
                <a:solidFill>
                  <a:schemeClr val="dk1"/>
                </a:solidFill>
                <a:latin typeface="+mn-lt"/>
                <a:ea typeface="+mn-ea"/>
                <a:cs typeface="+mn-cs"/>
              </a:rPr>
              <a:t>Se calcula su</a:t>
            </a:r>
            <a:br>
              <a:rPr lang="es-AR" sz="1800" dirty="0">
                <a:solidFill>
                  <a:schemeClr val="dk1"/>
                </a:solidFill>
                <a:latin typeface="+mn-lt"/>
                <a:ea typeface="+mn-ea"/>
                <a:cs typeface="+mn-cs"/>
              </a:rPr>
            </a:br>
            <a:r>
              <a:rPr lang="es-AR" sz="1800" dirty="0">
                <a:solidFill>
                  <a:schemeClr val="dk1"/>
                </a:solidFill>
                <a:latin typeface="+mn-lt"/>
                <a:ea typeface="+mn-ea"/>
                <a:cs typeface="+mn-cs"/>
              </a:rPr>
              <a:t>histograma y su</a:t>
            </a:r>
            <a:br>
              <a:rPr lang="es-AR" sz="1800" dirty="0">
                <a:solidFill>
                  <a:schemeClr val="dk1"/>
                </a:solidFill>
                <a:latin typeface="+mn-lt"/>
                <a:ea typeface="+mn-ea"/>
                <a:cs typeface="+mn-cs"/>
              </a:rPr>
            </a:br>
            <a:r>
              <a:rPr lang="es-AR" sz="1800" dirty="0">
                <a:solidFill>
                  <a:schemeClr val="dk1"/>
                </a:solidFill>
                <a:latin typeface="+mn-lt"/>
                <a:ea typeface="+mn-ea"/>
                <a:cs typeface="+mn-cs"/>
              </a:rPr>
              <a:t>transformación.</a:t>
            </a:r>
          </a:p>
        </p:txBody>
      </p:sp>
      <p:grpSp>
        <p:nvGrpSpPr>
          <p:cNvPr id="21" name="step-4-label"/>
          <p:cNvGrpSpPr/>
          <p:nvPr/>
        </p:nvGrpSpPr>
        <p:grpSpPr>
          <a:xfrm>
            <a:off x="10028276" y="1854200"/>
            <a:ext cx="593648" cy="264033"/>
            <a:chOff x="10028276" y="1854200"/>
            <a:chExt cx="593648" cy="264033"/>
          </a:xfrm>
        </p:grpSpPr>
        <p:sp>
          <p:nvSpPr>
            <p:cNvPr id="20" name="TextBox 20"/>
            <p:cNvSpPr txBox="1"/>
            <p:nvPr/>
          </p:nvSpPr>
          <p:spPr>
            <a:xfrm>
              <a:off x="10028276" y="1854200"/>
              <a:ext cx="593648" cy="264033"/>
            </a:xfrm>
            <a:prstGeom prst="rect">
              <a:avLst/>
            </a:prstGeom>
            <a:noFill/>
            <a:ln>
              <a:noFill/>
            </a:ln>
          </p:spPr>
          <p:txBody>
            <a:bodyPr wrap="none" lIns="0" tIns="0" rIns="0" bIns="0" anchor="t" anchorCtr="0">
              <a:spAutoFit/>
            </a:bodyPr>
            <a:lstStyle/>
            <a:p>
              <a:pPr algn="ctr"/>
              <a:r>
                <a:rPr lang="es-AR" sz="1350" b="1" dirty="0">
                  <a:solidFill>
                    <a:schemeClr val="accent5"/>
                  </a:solidFill>
                  <a:latin typeface="+mn-lt"/>
                  <a:ea typeface="+mn-ea"/>
                  <a:cs typeface="+mn-cs"/>
                </a:rPr>
                <a:t>PASO 4</a:t>
              </a:r>
            </a:p>
          </p:txBody>
        </p:sp>
      </p:grpSp>
      <p:sp>
        <p:nvSpPr>
          <p:cNvPr id="22" name="process-timeline-four-slot Placeholder Carrier"/>
          <p:cNvSpPr txBox="1"/>
          <p:nvPr>
            <p:ph idx="4"/>
          </p:nvPr>
        </p:nvSpPr>
        <p:spPr>
          <a:xfrm>
            <a:off x="9428154" y="2743200"/>
            <a:ext cx="1793893" cy="1799844"/>
          </a:xfrm>
          <a:prstGeom prst="rect">
            <a:avLst/>
          </a:prstGeom>
          <a:noFill/>
          <a:ln>
            <a:noFill/>
          </a:ln>
        </p:spPr>
        <p:txBody>
          <a:bodyPr wrap="none" lIns="0" tIns="0" rIns="0" bIns="0" anchor="t" anchorCtr="0">
            <a:noAutofit/>
          </a:bodyPr>
          <a:lstStyle/>
          <a:p>
            <a:pPr algn="ctr" marL="0" indent="0">
              <a:lnSpc>
                <a:spcPts val="2400"/>
              </a:lnSpc>
              <a:buNone/>
            </a:pPr>
            <a:r>
              <a:rPr lang="es-AR" sz="2100" b="1" dirty="0">
                <a:solidFill>
                  <a:schemeClr val="accent1"/>
                </a:solidFill>
                <a:latin typeface="+mn-lt"/>
                <a:ea typeface="+mn-ea"/>
                <a:cs typeface="+mn-cs"/>
              </a:rPr>
              <a:t>Guardar el píxel</a:t>
            </a:r>
          </a:p>
          <a:p>
            <a:pPr algn="ctr" marL="0" indent="0">
              <a:lnSpc>
                <a:spcPts val="2400"/>
              </a:lnSpc>
              <a:spcBef>
                <a:spcPts val="150"/>
              </a:spcBef>
              <a:buNone/>
            </a:pPr>
            <a:r>
              <a:rPr lang="es-AR" sz="2100" b="1" dirty="0">
                <a:solidFill>
                  <a:schemeClr val="accent1"/>
                </a:solidFill>
                <a:latin typeface="+mn-lt"/>
                <a:ea typeface="+mn-ea"/>
                <a:cs typeface="+mn-cs"/>
              </a:rPr>
              <a:t>central</a:t>
            </a:r>
          </a:p>
          <a:p>
            <a:pPr algn="ctr" marL="0" indent="0">
              <a:lnSpc>
                <a:spcPts val="2400"/>
              </a:lnSpc>
              <a:spcBef>
                <a:spcPts val="1650"/>
              </a:spcBef>
              <a:buNone/>
            </a:pPr>
            <a:r>
              <a:rPr lang="es-AR" sz="1800" dirty="0">
                <a:solidFill>
                  <a:schemeClr val="dk1"/>
                </a:solidFill>
                <a:latin typeface="+mn-lt"/>
                <a:ea typeface="+mn-ea"/>
                <a:cs typeface="+mn-cs"/>
              </a:rPr>
              <a:t>Se aplica solo a ese</a:t>
            </a:r>
            <a:br>
              <a:rPr lang="es-AR" sz="1800" dirty="0">
                <a:solidFill>
                  <a:schemeClr val="dk1"/>
                </a:solidFill>
                <a:latin typeface="+mn-lt"/>
                <a:ea typeface="+mn-ea"/>
                <a:cs typeface="+mn-cs"/>
              </a:rPr>
            </a:br>
            <a:r>
              <a:rPr lang="es-AR" sz="1800" dirty="0">
                <a:solidFill>
                  <a:schemeClr val="dk1"/>
                </a:solidFill>
                <a:latin typeface="+mn-lt"/>
                <a:ea typeface="+mn-ea"/>
                <a:cs typeface="+mn-cs"/>
              </a:rPr>
              <a:t>píxel y se corre un</a:t>
            </a:r>
            <a:br>
              <a:rPr lang="es-AR" sz="1800" dirty="0">
                <a:solidFill>
                  <a:schemeClr val="dk1"/>
                </a:solidFill>
                <a:latin typeface="+mn-lt"/>
                <a:ea typeface="+mn-ea"/>
                <a:cs typeface="+mn-cs"/>
              </a:rPr>
            </a:br>
            <a:r>
              <a:rPr lang="es-AR" sz="1800" dirty="0">
                <a:solidFill>
                  <a:schemeClr val="dk1"/>
                </a:solidFill>
                <a:latin typeface="+mn-lt"/>
                <a:ea typeface="+mn-ea"/>
                <a:cs typeface="+mn-cs"/>
              </a:rPr>
              <a:t>píxel.</a:t>
            </a:r>
          </a:p>
        </p:txBody>
      </p:sp>
      <p:grpSp>
        <p:nvGrpSpPr>
          <p:cNvPr id="24" name="example-note"/>
          <p:cNvGrpSpPr/>
          <p:nvPr/>
        </p:nvGrpSpPr>
        <p:grpSpPr>
          <a:xfrm>
            <a:off x="2979139" y="5035550"/>
            <a:ext cx="6233722" cy="264033"/>
            <a:chOff x="2979139" y="5035550"/>
            <a:chExt cx="6233722" cy="264033"/>
          </a:xfrm>
        </p:grpSpPr>
        <p:sp>
          <p:nvSpPr>
            <p:cNvPr id="23" name="TextBox 23"/>
            <p:cNvSpPr txBox="1"/>
            <p:nvPr/>
          </p:nvSpPr>
          <p:spPr>
            <a:xfrm>
              <a:off x="2979139" y="5035550"/>
              <a:ext cx="6233722" cy="264033"/>
            </a:xfrm>
            <a:prstGeom prst="rect">
              <a:avLst/>
            </a:prstGeom>
            <a:noFill/>
            <a:ln>
              <a:noFill/>
            </a:ln>
          </p:spPr>
          <p:txBody>
            <a:bodyPr wrap="none" lIns="0" tIns="0" rIns="0" bIns="0" anchor="t" anchorCtr="0">
              <a:spAutoFit/>
            </a:bodyPr>
            <a:lstStyle/>
            <a:p>
              <a:pPr algn="ctr"/>
              <a:r>
                <a:rPr lang="es-AR" sz="1350" dirty="0">
                  <a:solidFill>
                    <a:schemeClr val="accent5"/>
                  </a:solidFill>
                  <a:latin typeface="+mn-lt"/>
                  <a:ea typeface="+mn-ea"/>
                  <a:cs typeface="+mn-cs"/>
                </a:rPr>
                <a:t>Ejemplo: ventana de 21x21 centrada en (212, 207): el píxel central pasa de 10 a 247.</a:t>
              </a:r>
            </a:p>
          </p:txBody>
        </p:sp>
      </p:grpSp>
      <p:sp>
        <p:nvSpPr>
          <p:cNvPr id="25" name="process-timeline-takeaway-slot Placeholder Carrier"/>
          <p:cNvSpPr txBox="1"/>
          <p:nvPr>
            <p:ph type="body" idx="5"/>
          </p:nvPr>
        </p:nvSpPr>
        <p:spPr>
          <a:xfrm>
            <a:off x="1095724" y="5651500"/>
            <a:ext cx="10000552" cy="293370"/>
          </a:xfrm>
          <a:prstGeom prst="rect">
            <a:avLst/>
          </a:prstGeom>
          <a:noFill/>
          <a:ln>
            <a:noFill/>
          </a:ln>
        </p:spPr>
        <p:txBody>
          <a:bodyPr wrap="none" lIns="0" tIns="0" rIns="0" bIns="0" anchor="t" anchorCtr="0">
            <a:spAutoFit/>
          </a:bodyPr>
          <a:lstStyle/>
          <a:p>
            <a:pPr algn="ctr" marL="0" indent="0">
              <a:buNone/>
            </a:pPr>
            <a:r>
              <a:rPr lang="es-AR" sz="1500" dirty="0">
                <a:solidFill>
                  <a:schemeClr val="dk1"/>
                </a:solidFill>
                <a:latin typeface="+mn-lt"/>
                <a:ea typeface="+mn-ea"/>
                <a:cs typeface="+mn-cs"/>
              </a:rPr>
              <a:t>M y N impares: así hay un único píxel central y los mismos píxeles a cada lado. 65.536 veces para una imagen de 256x256.</a:t>
            </a:r>
          </a:p>
        </p:txBody>
      </p:sp>
    </p:spTree>
  </p:cSld>
  <p:clrMapOvr>
    <a:masterClrMapping/>
  </p:clrMapOvr>
  <p:transition p14:dur="400">
    <p:fade/>
  </p:transition>
</p:sld>
</file>

<file path=ppt/slides/slide6.xml><?xml version="1.0" encoding="utf-8"?>
<p:sld xmlns:a="http://schemas.openxmlformats.org/drawingml/2006/main" xmlns:p="http://schemas.openxmlformats.org/presentationml/2006/main" xmlns:p14="http://schemas.microsoft.com/office/powerpoint/2010/main" showMasterSp="1">
  <p:cSld>
    <p:spTree>
      <p:nvGrpSpPr>
        <p:cNvPr id="1" name=""/>
        <p:cNvGrpSpPr/>
        <p:nvPr/>
      </p:nvGrpSpPr>
      <p:grpSpPr>
        <a:xfrm>
          <a:off x="0" y="0"/>
          <a:ext cx="0" cy="0"/>
          <a:chOff x="0" y="0"/>
          <a:chExt cx="0" cy="0"/>
        </a:xfrm>
      </p:grpSpPr>
      <p:sp>
        <p:nvSpPr>
          <p:cNvPr id="6" name="comparison-title-slot Placeholder Carrier"/>
          <p:cNvSpPr txBox="1"/>
          <p:nvPr>
            <p:ph type="title"/>
          </p:nvPr>
        </p:nvSpPr>
        <p:spPr>
          <a:xfrm>
            <a:off x="595884" y="527050"/>
            <a:ext cx="7032459" cy="528066"/>
          </a:xfrm>
          <a:prstGeom prst="rect">
            <a:avLst/>
          </a:prstGeom>
          <a:noFill/>
          <a:ln>
            <a:noFill/>
          </a:ln>
        </p:spPr>
        <p:txBody>
          <a:bodyPr wrap="none" lIns="0" tIns="0" rIns="0" bIns="0" anchor="t" anchorCtr="0">
            <a:spAutoFit/>
          </a:bodyPr>
          <a:lstStyle/>
          <a:p>
            <a:pPr algn="l"/>
            <a:r>
              <a:rPr lang="es-AR" sz="2700" b="1" dirty="0">
                <a:solidFill>
                  <a:schemeClr val="accent1"/>
                </a:solidFill>
                <a:latin typeface="+mj-lt"/>
                <a:ea typeface="+mj-ea"/>
                <a:cs typeface="+mj-cs"/>
              </a:rPr>
              <a:t>Elegimos replicar el borde de la imagen</a:t>
            </a:r>
          </a:p>
        </p:txBody>
      </p:sp>
      <p:sp>
        <p:nvSpPr>
          <p:cNvPr id="7" name="title-rule"/>
          <p:cNvSpPr/>
          <p:nvPr/>
        </p:nvSpPr>
        <p:spPr>
          <a:xfrm>
            <a:off x="609600" y="1123950"/>
            <a:ext cx="685800" cy="28575"/>
          </a:xfrm>
          <a:prstGeom prst="rect">
            <a:avLst/>
          </a:prstGeom>
          <a:solidFill>
            <a:schemeClr val="accent1"/>
          </a:solidFill>
          <a:ln>
            <a:noFill/>
          </a:ln>
        </p:spPr>
      </p:sp>
      <p:sp>
        <p:nvSpPr>
          <p:cNvPr id="8" name="comparison-left-title-slot Placeholder Carrier"/>
          <p:cNvSpPr txBox="1"/>
          <p:nvPr>
            <p:ph type="body" idx="1"/>
          </p:nvPr>
        </p:nvSpPr>
        <p:spPr>
          <a:xfrm>
            <a:off x="829056" y="1809750"/>
            <a:ext cx="3023444" cy="352044"/>
          </a:xfrm>
          <a:prstGeom prst="rect">
            <a:avLst/>
          </a:prstGeom>
          <a:noFill/>
          <a:ln>
            <a:noFill/>
          </a:ln>
        </p:spPr>
        <p:txBody>
          <a:bodyPr wrap="none" lIns="0" tIns="0" rIns="0" bIns="0" anchor="t" anchorCtr="0">
            <a:spAutoFit/>
          </a:bodyPr>
          <a:lstStyle/>
          <a:p>
            <a:pPr algn="l" marL="0" indent="0">
              <a:buNone/>
            </a:pPr>
            <a:r>
              <a:rPr lang="es-AR" sz="1800" b="1" dirty="0">
                <a:solidFill>
                  <a:schemeClr val="accent1"/>
                </a:solidFill>
                <a:latin typeface="+mj-lt"/>
                <a:ea typeface="+mj-ea"/>
                <a:cs typeface="+mj-cs"/>
              </a:rPr>
              <a:t>Elegido: replicar el borde</a:t>
            </a:r>
          </a:p>
        </p:txBody>
      </p:sp>
      <p:sp>
        <p:nvSpPr>
          <p:cNvPr id="9" name="comparison-left-content-slot Placeholder Carrier"/>
          <p:cNvSpPr txBox="1"/>
          <p:nvPr>
            <p:ph idx="2"/>
          </p:nvPr>
        </p:nvSpPr>
        <p:spPr>
          <a:xfrm>
            <a:off x="829056" y="2495550"/>
            <a:ext cx="4425582" cy="2428494"/>
          </a:xfrm>
          <a:prstGeom prst="rect">
            <a:avLst/>
          </a:prstGeom>
          <a:noFill/>
          <a:ln>
            <a:noFill/>
          </a:ln>
        </p:spPr>
        <p:txBody>
          <a:bodyPr wrap="none" lIns="0" tIns="0" rIns="0" bIns="0" anchor="t" anchorCtr="0">
            <a:noAutofit/>
          </a:bodyPr>
          <a:lstStyle/>
          <a:p>
            <a:pPr algn="l" marL="0" indent="0">
              <a:lnSpc>
                <a:spcPts val="2400"/>
              </a:lnSpc>
              <a:buNone/>
            </a:pPr>
            <a:r>
              <a:rPr lang="es-AR" sz="1350" b="1" dirty="0">
                <a:solidFill>
                  <a:schemeClr val="accent5"/>
                </a:solidFill>
                <a:latin typeface="+mn-lt"/>
                <a:ea typeface="+mn-ea"/>
                <a:cs typeface="+mn-cs"/>
              </a:rPr>
              <a:t>QUÉ HACE</a:t>
            </a:r>
          </a:p>
          <a:p>
            <a:pPr algn="l" marL="0" indent="0">
              <a:lnSpc>
                <a:spcPts val="2400"/>
              </a:lnSpc>
              <a:spcBef>
                <a:spcPts val="150"/>
              </a:spcBef>
              <a:buNone/>
            </a:pPr>
            <a:r>
              <a:rPr lang="es-AR" sz="1800" dirty="0">
                <a:solidFill>
                  <a:schemeClr val="dk1"/>
                </a:solidFill>
                <a:latin typeface="+mn-lt"/>
                <a:ea typeface="+mn-ea"/>
                <a:cs typeface="+mn-cs"/>
              </a:rPr>
              <a:t>Copia el valor del borde hacia afuera.</a:t>
            </a:r>
          </a:p>
          <a:p>
            <a:pPr algn="l" marL="0" indent="0">
              <a:lnSpc>
                <a:spcPts val="2400"/>
              </a:lnSpc>
              <a:spcBef>
                <a:spcPts val="750"/>
              </a:spcBef>
              <a:buNone/>
            </a:pPr>
            <a:r>
              <a:rPr lang="es-AR" sz="1350" b="1" dirty="0">
                <a:solidFill>
                  <a:schemeClr val="accent5"/>
                </a:solidFill>
                <a:latin typeface="+mn-lt"/>
                <a:ea typeface="+mn-ea"/>
                <a:cs typeface="+mn-cs"/>
              </a:rPr>
              <a:t>QUÉ PASA EN EL HISTOGRAMA</a:t>
            </a:r>
          </a:p>
          <a:p>
            <a:pPr algn="l" marL="0" indent="0">
              <a:lnSpc>
                <a:spcPts val="2400"/>
              </a:lnSpc>
              <a:spcBef>
                <a:spcPts val="150"/>
              </a:spcBef>
              <a:buNone/>
            </a:pPr>
            <a:r>
              <a:rPr lang="es-AR" sz="1800" dirty="0">
                <a:solidFill>
                  <a:schemeClr val="dk1"/>
                </a:solidFill>
                <a:latin typeface="+mn-lt"/>
                <a:ea typeface="+mn-ea"/>
                <a:cs typeface="+mn-cs"/>
              </a:rPr>
              <a:t>No agrega intensidades nuevas.</a:t>
            </a:r>
          </a:p>
          <a:p>
            <a:pPr algn="l" marL="0" indent="0">
              <a:lnSpc>
                <a:spcPts val="2400"/>
              </a:lnSpc>
              <a:spcBef>
                <a:spcPts val="750"/>
              </a:spcBef>
              <a:buNone/>
            </a:pPr>
            <a:r>
              <a:rPr lang="es-AR" sz="1350" b="1" dirty="0">
                <a:solidFill>
                  <a:schemeClr val="accent5"/>
                </a:solidFill>
                <a:latin typeface="+mn-lt"/>
                <a:ea typeface="+mn-ea"/>
                <a:cs typeface="+mn-cs"/>
              </a:rPr>
              <a:t>RESULTADO</a:t>
            </a:r>
          </a:p>
          <a:p>
            <a:pPr algn="l" marL="0" indent="0">
              <a:lnSpc>
                <a:spcPts val="2400"/>
              </a:lnSpc>
              <a:spcBef>
                <a:spcPts val="150"/>
              </a:spcBef>
              <a:buNone/>
            </a:pPr>
            <a:r>
              <a:rPr lang="es-AR" sz="1800" dirty="0">
                <a:solidFill>
                  <a:schemeClr val="dk1"/>
                </a:solidFill>
                <a:latin typeface="+mn-lt"/>
                <a:ea typeface="+mn-ea"/>
                <a:cs typeface="+mn-cs"/>
              </a:rPr>
              <a:t>Se agregan 10 píxeles por lado y la imagen pasa</a:t>
            </a:r>
            <a:br>
              <a:rPr lang="es-AR" sz="1800" dirty="0">
                <a:solidFill>
                  <a:schemeClr val="dk1"/>
                </a:solidFill>
                <a:latin typeface="+mn-lt"/>
                <a:ea typeface="+mn-ea"/>
                <a:cs typeface="+mn-cs"/>
              </a:rPr>
            </a:br>
            <a:r>
              <a:rPr lang="es-AR" sz="1800" dirty="0">
                <a:solidFill>
                  <a:schemeClr val="dk1"/>
                </a:solidFill>
                <a:latin typeface="+mn-lt"/>
                <a:ea typeface="+mn-ea"/>
                <a:cs typeface="+mn-cs"/>
              </a:rPr>
              <a:t>de 256x256 a 276x276.</a:t>
            </a:r>
          </a:p>
        </p:txBody>
      </p:sp>
      <p:sp>
        <p:nvSpPr>
          <p:cNvPr id="10" name="comparison-right-title-slot Placeholder Carrier"/>
          <p:cNvSpPr txBox="1"/>
          <p:nvPr>
            <p:ph type="body" idx="3"/>
          </p:nvPr>
        </p:nvSpPr>
        <p:spPr>
          <a:xfrm>
            <a:off x="6544056" y="1809750"/>
            <a:ext cx="3641907" cy="352044"/>
          </a:xfrm>
          <a:prstGeom prst="rect">
            <a:avLst/>
          </a:prstGeom>
          <a:noFill/>
          <a:ln>
            <a:noFill/>
          </a:ln>
        </p:spPr>
        <p:txBody>
          <a:bodyPr wrap="none" lIns="0" tIns="0" rIns="0" bIns="0" anchor="t" anchorCtr="0">
            <a:spAutoFit/>
          </a:bodyPr>
          <a:lstStyle/>
          <a:p>
            <a:pPr algn="l" marL="0" indent="0">
              <a:buNone/>
            </a:pPr>
            <a:r>
              <a:rPr lang="es-AR" sz="1800" b="1" dirty="0">
                <a:solidFill>
                  <a:schemeClr val="accent2"/>
                </a:solidFill>
                <a:latin typeface="+mj-lt"/>
                <a:ea typeface="+mj-ea"/>
                <a:cs typeface="+mj-cs"/>
              </a:rPr>
              <a:t>Descartado: rellenar con ceros</a:t>
            </a:r>
          </a:p>
        </p:txBody>
      </p:sp>
      <p:sp>
        <p:nvSpPr>
          <p:cNvPr id="11" name="comparison-right-content-slot Placeholder Carrier"/>
          <p:cNvSpPr txBox="1"/>
          <p:nvPr>
            <p:ph idx="4"/>
          </p:nvPr>
        </p:nvSpPr>
        <p:spPr>
          <a:xfrm>
            <a:off x="6544056" y="2495550"/>
            <a:ext cx="4382148" cy="2428494"/>
          </a:xfrm>
          <a:prstGeom prst="rect">
            <a:avLst/>
          </a:prstGeom>
          <a:noFill/>
          <a:ln>
            <a:noFill/>
          </a:ln>
        </p:spPr>
        <p:txBody>
          <a:bodyPr wrap="none" lIns="0" tIns="0" rIns="0" bIns="0" anchor="t" anchorCtr="0">
            <a:noAutofit/>
          </a:bodyPr>
          <a:lstStyle/>
          <a:p>
            <a:pPr algn="l" marL="0" indent="0">
              <a:lnSpc>
                <a:spcPts val="2400"/>
              </a:lnSpc>
              <a:buNone/>
            </a:pPr>
            <a:r>
              <a:rPr lang="es-AR" sz="1350" b="1" dirty="0">
                <a:solidFill>
                  <a:schemeClr val="accent5"/>
                </a:solidFill>
                <a:latin typeface="+mn-lt"/>
                <a:ea typeface="+mn-ea"/>
                <a:cs typeface="+mn-cs"/>
              </a:rPr>
              <a:t>QUÉ HACE</a:t>
            </a:r>
          </a:p>
          <a:p>
            <a:pPr algn="l" marL="0" indent="0">
              <a:lnSpc>
                <a:spcPts val="2400"/>
              </a:lnSpc>
              <a:spcBef>
                <a:spcPts val="150"/>
              </a:spcBef>
              <a:buNone/>
            </a:pPr>
            <a:r>
              <a:rPr lang="es-AR" sz="1800" dirty="0">
                <a:solidFill>
                  <a:schemeClr val="dk1"/>
                </a:solidFill>
                <a:latin typeface="+mn-lt"/>
                <a:ea typeface="+mn-ea"/>
                <a:cs typeface="+mn-cs"/>
              </a:rPr>
              <a:t>Rellena con ceros alrededor de la imagen.</a:t>
            </a:r>
          </a:p>
          <a:p>
            <a:pPr algn="l" marL="0" indent="0">
              <a:lnSpc>
                <a:spcPts val="2400"/>
              </a:lnSpc>
              <a:spcBef>
                <a:spcPts val="750"/>
              </a:spcBef>
              <a:buNone/>
            </a:pPr>
            <a:r>
              <a:rPr lang="es-AR" sz="1350" b="1" dirty="0">
                <a:solidFill>
                  <a:schemeClr val="accent5"/>
                </a:solidFill>
                <a:latin typeface="+mn-lt"/>
                <a:ea typeface="+mn-ea"/>
                <a:cs typeface="+mn-cs"/>
              </a:rPr>
              <a:t>QUÉ PASA EN EL HISTOGRAMA</a:t>
            </a:r>
          </a:p>
          <a:p>
            <a:pPr algn="l" marL="0" indent="0">
              <a:lnSpc>
                <a:spcPts val="2400"/>
              </a:lnSpc>
              <a:spcBef>
                <a:spcPts val="150"/>
              </a:spcBef>
              <a:buNone/>
            </a:pPr>
            <a:r>
              <a:rPr lang="es-AR" sz="1800" dirty="0">
                <a:solidFill>
                  <a:schemeClr val="dk1"/>
                </a:solidFill>
                <a:latin typeface="+mn-lt"/>
                <a:ea typeface="+mn-ea"/>
                <a:cs typeface="+mn-cs"/>
              </a:rPr>
              <a:t>Mete píxeles negros artificiales en las ventanas</a:t>
            </a:r>
            <a:br>
              <a:rPr lang="es-AR" sz="1800" dirty="0">
                <a:solidFill>
                  <a:schemeClr val="dk1"/>
                </a:solidFill>
                <a:latin typeface="+mn-lt"/>
                <a:ea typeface="+mn-ea"/>
                <a:cs typeface="+mn-cs"/>
              </a:rPr>
            </a:br>
            <a:r>
              <a:rPr lang="es-AR" sz="1800" dirty="0">
                <a:solidFill>
                  <a:schemeClr val="dk1"/>
                </a:solidFill>
                <a:latin typeface="+mn-lt"/>
                <a:ea typeface="+mn-ea"/>
                <a:cs typeface="+mn-cs"/>
              </a:rPr>
              <a:t>del borde.</a:t>
            </a:r>
          </a:p>
          <a:p>
            <a:pPr algn="l" marL="0" indent="0">
              <a:lnSpc>
                <a:spcPts val="2400"/>
              </a:lnSpc>
              <a:spcBef>
                <a:spcPts val="750"/>
              </a:spcBef>
              <a:buNone/>
            </a:pPr>
            <a:r>
              <a:rPr lang="es-AR" sz="1350" b="1" dirty="0">
                <a:solidFill>
                  <a:schemeClr val="accent5"/>
                </a:solidFill>
                <a:latin typeface="+mn-lt"/>
                <a:ea typeface="+mn-ea"/>
                <a:cs typeface="+mn-cs"/>
              </a:rPr>
              <a:t>RESULTADO</a:t>
            </a:r>
          </a:p>
          <a:p>
            <a:pPr algn="l" marL="0" indent="0">
              <a:lnSpc>
                <a:spcPts val="2400"/>
              </a:lnSpc>
              <a:spcBef>
                <a:spcPts val="150"/>
              </a:spcBef>
              <a:buNone/>
            </a:pPr>
            <a:r>
              <a:rPr lang="es-AR" sz="1800" dirty="0">
                <a:solidFill>
                  <a:schemeClr val="dk1"/>
                </a:solidFill>
                <a:latin typeface="+mn-lt"/>
                <a:ea typeface="+mn-ea"/>
                <a:cs typeface="+mn-cs"/>
              </a:rPr>
              <a:t>Altera la ecualización.</a:t>
            </a:r>
          </a:p>
        </p:txBody>
      </p:sp>
    </p:spTree>
  </p:cSld>
  <p:clrMapOvr>
    <a:masterClrMapping/>
  </p:clrMapOvr>
  <p:transition p14:dur="400">
    <p:fade/>
  </p:transition>
</p:sld>
</file>

<file path=ppt/slides/slide7.xml><?xml version="1.0" encoding="utf-8"?>
<p:sld xmlns:a="http://schemas.openxmlformats.org/drawingml/2006/main" xmlns:p="http://schemas.openxmlformats.org/presentationml/2006/main" xmlns:p14="http://schemas.microsoft.com/office/powerpoint/2010/main" xmlns:r="http://schemas.openxmlformats.org/officeDocument/2006/relationships" showMasterSp="1">
  <p:cSld>
    <p:spTree>
      <p:nvGrpSpPr>
        <p:cNvPr id="1" name=""/>
        <p:cNvGrpSpPr/>
        <p:nvPr/>
      </p:nvGrpSpPr>
      <p:grpSpPr>
        <a:xfrm>
          <a:off x="0" y="0"/>
          <a:ext cx="0" cy="0"/>
          <a:chOff x="0" y="0"/>
          <a:chExt cx="0" cy="0"/>
        </a:xfrm>
      </p:grpSpPr>
      <p:sp>
        <p:nvSpPr>
          <p:cNvPr id="5" name="title-picture-title-slot Placeholder Carrier"/>
          <p:cNvSpPr txBox="1"/>
          <p:nvPr>
            <p:ph type="title"/>
          </p:nvPr>
        </p:nvSpPr>
        <p:spPr>
          <a:xfrm>
            <a:off x="595884" y="527050"/>
            <a:ext cx="7897696" cy="528066"/>
          </a:xfrm>
          <a:prstGeom prst="rect">
            <a:avLst/>
          </a:prstGeom>
          <a:noFill/>
          <a:ln>
            <a:noFill/>
          </a:ln>
        </p:spPr>
        <p:txBody>
          <a:bodyPr wrap="none" lIns="0" tIns="0" rIns="0" bIns="0" anchor="t" anchorCtr="0">
            <a:spAutoFit/>
          </a:bodyPr>
          <a:lstStyle/>
          <a:p>
            <a:pPr algn="l"/>
            <a:r>
              <a:rPr lang="es-AR" sz="2700" b="1" dirty="0">
                <a:solidFill>
                  <a:schemeClr val="accent1"/>
                </a:solidFill>
                <a:latin typeface="+mj-lt"/>
                <a:ea typeface="+mj-ea"/>
                <a:cs typeface="+mj-cs"/>
              </a:rPr>
              <a:t>La global no los muestra; la local de 21x21 sí</a:t>
            </a:r>
          </a:p>
        </p:txBody>
      </p:sp>
      <p:pic>
        <p:nvPicPr>
          <p:cNvPr id="6" name="title-picture-picture-slot Placeholder Carrier"/>
          <p:cNvPicPr>
            <a:picLocks noChangeAspect="1"/>
          </p:cNvPicPr>
          <p:nvPr>
            <p:ph type="pic" idx="1"/>
          </p:nvPr>
        </p:nvPicPr>
        <p:blipFill>
          <a:blip r:embed="rId2"/>
          <a:stretch>
            <a:fillRect/>
          </a:stretch>
        </p:blipFill>
        <p:spPr>
          <a:xfrm>
            <a:off x="1149191" y="1562100"/>
            <a:ext cx="9893618" cy="3724275"/>
          </a:xfrm>
          <a:prstGeom prst="rect">
            <a:avLst/>
          </a:prstGeom>
        </p:spPr>
      </p:pic>
      <p:grpSp>
        <p:nvGrpSpPr>
          <p:cNvPr id="8" name="reading-note"/>
          <p:cNvGrpSpPr/>
          <p:nvPr/>
        </p:nvGrpSpPr>
        <p:grpSpPr>
          <a:xfrm>
            <a:off x="829818" y="5448300"/>
            <a:ext cx="8215052" cy="579882"/>
            <a:chOff x="829818" y="5448300"/>
            <a:chExt cx="8215052" cy="579882"/>
          </a:xfrm>
        </p:grpSpPr>
        <p:sp>
          <p:nvSpPr>
            <p:cNvPr id="7" name="TextBox 7"/>
            <p:cNvSpPr txBox="1"/>
            <p:nvPr/>
          </p:nvSpPr>
          <p:spPr>
            <a:xfrm>
              <a:off x="829818" y="5448300"/>
              <a:ext cx="8215052" cy="579882"/>
            </a:xfrm>
            <a:prstGeom prst="rect">
              <a:avLst/>
            </a:prstGeom>
            <a:noFill/>
            <a:ln>
              <a:noFill/>
            </a:ln>
          </p:spPr>
          <p:txBody>
            <a:bodyPr wrap="none" lIns="0" tIns="0" rIns="0" bIns="0" anchor="t" anchorCtr="0">
              <a:spAutoFit/>
            </a:bodyPr>
            <a:lstStyle/>
            <a:p>
              <a:pPr algn="l">
                <a:lnSpc>
                  <a:spcPts val="2025"/>
                </a:lnSpc>
              </a:pPr>
              <a:r>
                <a:rPr lang="es-AR" sz="1650" dirty="0">
                  <a:solidFill>
                    <a:schemeClr val="dk1"/>
                  </a:solidFill>
                  <a:latin typeface="+mn-lt"/>
                  <a:ea typeface="+mn-ea"/>
                  <a:cs typeface="+mn-cs"/>
                </a:rPr>
                <a:t>Los píxeles oscuros son casi un tercio de la imagen y quedan juntos al principio de la distribución</a:t>
              </a:r>
              <a:br>
                <a:rPr lang="es-AR" sz="1650" dirty="0">
                  <a:solidFill>
                    <a:schemeClr val="dk1"/>
                  </a:solidFill>
                  <a:latin typeface="+mn-lt"/>
                  <a:ea typeface="+mn-ea"/>
                  <a:cs typeface="+mn-cs"/>
                </a:rPr>
              </a:br>
              <a:r>
                <a:rPr lang="es-AR" sz="1650" dirty="0">
                  <a:solidFill>
                    <a:schemeClr val="dk1"/>
                  </a:solidFill>
                  <a:latin typeface="+mn-lt"/>
                  <a:ea typeface="+mn-ea"/>
                  <a:cs typeface="+mn-cs"/>
                </a:rPr>
                <a:t>acumulada: por eso la global no los separa y, además, agrega puntos negros sueltos.</a:t>
              </a:r>
            </a:p>
          </p:txBody>
        </p:sp>
      </p:grpSp>
    </p:spTree>
  </p:cSld>
  <p:clrMapOvr>
    <a:masterClrMapping/>
  </p:clrMapOvr>
  <p:transition p14:dur="400">
    <p:fade/>
  </p:transition>
</p:sld>
</file>

<file path=ppt/slides/slide8.xml><?xml version="1.0" encoding="utf-8"?>
<p:sld xmlns:a="http://schemas.openxmlformats.org/drawingml/2006/main" xmlns:p="http://schemas.openxmlformats.org/presentationml/2006/main" xmlns:p14="http://schemas.microsoft.com/office/powerpoint/2010/main" xmlns:r="http://schemas.openxmlformats.org/officeDocument/2006/relationships" showMasterSp="1">
  <p:cSld>
    <p:spTree>
      <p:nvGrpSpPr>
        <p:cNvPr id="1" name=""/>
        <p:cNvGrpSpPr/>
        <p:nvPr/>
      </p:nvGrpSpPr>
      <p:grpSpPr>
        <a:xfrm>
          <a:off x="0" y="0"/>
          <a:ext cx="0" cy="0"/>
          <a:chOff x="0" y="0"/>
          <a:chExt cx="0" cy="0"/>
        </a:xfrm>
      </p:grpSpPr>
      <p:sp>
        <p:nvSpPr>
          <p:cNvPr id="6" name="data-story-title-slot Placeholder Carrier"/>
          <p:cNvSpPr txBox="1"/>
          <p:nvPr>
            <p:ph type="title"/>
          </p:nvPr>
        </p:nvSpPr>
        <p:spPr>
          <a:xfrm>
            <a:off x="595884" y="527050"/>
            <a:ext cx="6377963" cy="528066"/>
          </a:xfrm>
          <a:prstGeom prst="rect">
            <a:avLst/>
          </a:prstGeom>
          <a:noFill/>
          <a:ln>
            <a:noFill/>
          </a:ln>
        </p:spPr>
        <p:txBody>
          <a:bodyPr wrap="none" lIns="0" tIns="0" rIns="0" bIns="0" anchor="t" anchorCtr="0">
            <a:spAutoFit/>
          </a:bodyPr>
          <a:lstStyle/>
          <a:p>
            <a:pPr algn="l"/>
            <a:r>
              <a:rPr lang="es-AR" sz="2700" b="1" dirty="0">
                <a:solidFill>
                  <a:schemeClr val="accent1"/>
                </a:solidFill>
                <a:latin typeface="+mj-lt"/>
                <a:ea typeface="+mj-ea"/>
                <a:cs typeface="+mj-cs"/>
              </a:rPr>
              <a:t>Cinco detalles ocultos, uno por zona</a:t>
            </a:r>
          </a:p>
        </p:txBody>
      </p:sp>
      <p:sp>
        <p:nvSpPr>
          <p:cNvPr id="7" name="title-rule"/>
          <p:cNvSpPr/>
          <p:nvPr/>
        </p:nvSpPr>
        <p:spPr>
          <a:xfrm>
            <a:off x="609600" y="1123950"/>
            <a:ext cx="685800" cy="28575"/>
          </a:xfrm>
          <a:prstGeom prst="rect">
            <a:avLst/>
          </a:prstGeom>
          <a:solidFill>
            <a:schemeClr val="accent1"/>
          </a:solidFill>
          <a:ln>
            <a:noFill/>
          </a:ln>
        </p:spPr>
      </p:sp>
      <p:grpSp>
        <p:nvGrpSpPr>
          <p:cNvPr id="9" name="fig06-group"/>
          <p:cNvGrpSpPr/>
          <p:nvPr/>
        </p:nvGrpSpPr>
        <p:grpSpPr>
          <a:xfrm>
            <a:off x="838200" y="1809750"/>
            <a:ext cx="6781800" cy="3114675"/>
            <a:chOff x="838200" y="1809750"/>
            <a:chExt cx="6781800" cy="3114675"/>
          </a:xfrm>
        </p:grpSpPr>
        <p:pic>
          <p:nvPicPr>
            <p:cNvPr id="8" name="fig06-imagen"/>
            <p:cNvPicPr>
              <a:picLocks noChangeAspect="1"/>
            </p:cNvPicPr>
            <p:nvPr/>
          </p:nvPicPr>
          <p:blipFill>
            <a:blip r:embed="rId2"/>
            <a:stretch>
              <a:fillRect/>
            </a:stretch>
          </p:blipFill>
          <p:spPr>
            <a:xfrm>
              <a:off x="838200" y="1809750"/>
              <a:ext cx="6781800" cy="3114675"/>
            </a:xfrm>
            <a:prstGeom prst="rect">
              <a:avLst/>
            </a:prstGeom>
          </p:spPr>
        </p:pic>
      </p:grpSp>
      <p:sp>
        <p:nvSpPr>
          <p:cNvPr id="10" name="data-story-evidence-slot Placeholder Carrier"/>
          <p:cNvSpPr txBox="1"/>
          <p:nvPr>
            <p:ph idx="1"/>
          </p:nvPr>
        </p:nvSpPr>
        <p:spPr>
          <a:xfrm>
            <a:off x="831342" y="5041900"/>
            <a:ext cx="5678064" cy="492633"/>
          </a:xfrm>
          <a:prstGeom prst="rect">
            <a:avLst/>
          </a:prstGeom>
          <a:noFill/>
          <a:ln>
            <a:noFill/>
          </a:ln>
        </p:spPr>
        <p:txBody>
          <a:bodyPr wrap="none" lIns="0" tIns="0" rIns="0" bIns="0" anchor="t" anchorCtr="0">
            <a:noAutofit/>
          </a:bodyPr>
          <a:lstStyle/>
          <a:p>
            <a:pPr algn="l" marL="0" indent="0">
              <a:lnSpc>
                <a:spcPts val="1800"/>
              </a:lnSpc>
              <a:buNone/>
            </a:pPr>
            <a:r>
              <a:rPr lang="es-AR" sz="1350" dirty="0">
                <a:solidFill>
                  <a:schemeClr val="accent5"/>
                </a:solidFill>
                <a:latin typeface="+mn-lt"/>
                <a:ea typeface="+mn-ea"/>
                <a:cs typeface="+mn-cs"/>
              </a:rPr>
              <a:t>Cada cuadrado, antes (arriba) y después (abajo) de la ecualización local de 21x21.</a:t>
            </a:r>
            <a:br>
              <a:rPr lang="es-AR" sz="1350" dirty="0">
                <a:solidFill>
                  <a:schemeClr val="accent5"/>
                </a:solidFill>
                <a:latin typeface="+mn-lt"/>
                <a:ea typeface="+mn-ea"/>
                <a:cs typeface="+mn-cs"/>
              </a:rPr>
            </a:br>
            <a:r>
              <a:rPr lang="es-AR" sz="1350" dirty="0">
                <a:solidFill>
                  <a:schemeClr val="accent5"/>
                </a:solidFill>
                <a:latin typeface="+mn-lt"/>
                <a:ea typeface="+mn-ea"/>
                <a:cs typeface="+mn-cs"/>
              </a:rPr>
              <a:t>Las zonas coinciden píxel a píxel con los píxeles menores que 128.</a:t>
            </a:r>
          </a:p>
        </p:txBody>
      </p:sp>
      <p:sp>
        <p:nvSpPr>
          <p:cNvPr id="11" name="data-story-insight-slot Placeholder Carrier"/>
          <p:cNvSpPr txBox="1"/>
          <p:nvPr>
            <p:ph type="body" idx="2"/>
          </p:nvPr>
        </p:nvSpPr>
        <p:spPr>
          <a:xfrm>
            <a:off x="8449056" y="1917700"/>
            <a:ext cx="2620920" cy="3285744"/>
          </a:xfrm>
          <a:prstGeom prst="rect">
            <a:avLst/>
          </a:prstGeom>
          <a:noFill/>
          <a:ln>
            <a:noFill/>
          </a:ln>
        </p:spPr>
        <p:txBody>
          <a:bodyPr wrap="none" lIns="0" tIns="0" rIns="0" bIns="0" anchor="t" anchorCtr="0">
            <a:noAutofit/>
          </a:bodyPr>
          <a:lstStyle/>
          <a:p>
            <a:pPr algn="l" marL="0" indent="0">
              <a:lnSpc>
                <a:spcPts val="2250"/>
              </a:lnSpc>
              <a:buNone/>
            </a:pPr>
            <a:r>
              <a:rPr lang="es-AR" sz="2100" b="1" dirty="0">
                <a:solidFill>
                  <a:schemeClr val="accent1"/>
                </a:solidFill>
                <a:latin typeface="+mn-lt"/>
                <a:ea typeface="+mn-ea"/>
                <a:cs typeface="+mn-cs"/>
              </a:rPr>
              <a:t>Cinco zonas, cinco</a:t>
            </a:r>
          </a:p>
          <a:p>
            <a:pPr algn="l" marL="0" indent="0">
              <a:lnSpc>
                <a:spcPts val="2250"/>
              </a:lnSpc>
              <a:spcBef>
                <a:spcPts val="450"/>
              </a:spcBef>
              <a:buNone/>
            </a:pPr>
            <a:r>
              <a:rPr lang="es-AR" sz="2100" b="1" dirty="0">
                <a:solidFill>
                  <a:schemeClr val="accent1"/>
                </a:solidFill>
                <a:latin typeface="+mn-lt"/>
                <a:ea typeface="+mn-ea"/>
                <a:cs typeface="+mn-cs"/>
              </a:rPr>
              <a:t>detalles</a:t>
            </a:r>
          </a:p>
          <a:p>
            <a:pPr algn="l" marL="0" indent="0">
              <a:lnSpc>
                <a:spcPts val="2250"/>
              </a:lnSpc>
              <a:spcBef>
                <a:spcPts val="600"/>
              </a:spcBef>
              <a:buNone/>
            </a:pPr>
            <a:r>
              <a:rPr lang="es-AR" sz="1650" dirty="0">
                <a:solidFill>
                  <a:schemeClr val="dk1"/>
                </a:solidFill>
                <a:latin typeface="+mn-lt"/>
                <a:ea typeface="+mn-ea"/>
                <a:cs typeface="+mn-cs"/>
              </a:rPr>
              <a:t>Arriba a la izquierda: un</a:t>
            </a:r>
            <a:br>
              <a:rPr lang="es-AR" sz="1650" dirty="0">
                <a:solidFill>
                  <a:schemeClr val="dk1"/>
                </a:solidFill>
                <a:latin typeface="+mn-lt"/>
                <a:ea typeface="+mn-ea"/>
                <a:cs typeface="+mn-cs"/>
              </a:rPr>
            </a:br>
            <a:r>
              <a:rPr lang="es-AR" sz="1650" dirty="0">
                <a:solidFill>
                  <a:schemeClr val="dk1"/>
                </a:solidFill>
                <a:latin typeface="+mn-lt"/>
                <a:ea typeface="+mn-ea"/>
                <a:cs typeface="+mn-cs"/>
              </a:rPr>
              <a:t>cuadrado pequeño.</a:t>
            </a:r>
          </a:p>
          <a:p>
            <a:pPr algn="l" marL="0" indent="0">
              <a:lnSpc>
                <a:spcPts val="2250"/>
              </a:lnSpc>
              <a:spcBef>
                <a:spcPts val="450"/>
              </a:spcBef>
              <a:buNone/>
            </a:pPr>
            <a:r>
              <a:rPr lang="es-AR" sz="1650" dirty="0">
                <a:solidFill>
                  <a:schemeClr val="dk1"/>
                </a:solidFill>
                <a:latin typeface="+mn-lt"/>
                <a:ea typeface="+mn-ea"/>
                <a:cs typeface="+mn-cs"/>
              </a:rPr>
              <a:t>Arriba a la derecha: una línea</a:t>
            </a:r>
            <a:br>
              <a:rPr lang="es-AR" sz="1650" dirty="0">
                <a:solidFill>
                  <a:schemeClr val="dk1"/>
                </a:solidFill>
                <a:latin typeface="+mn-lt"/>
                <a:ea typeface="+mn-ea"/>
                <a:cs typeface="+mn-cs"/>
              </a:rPr>
            </a:br>
            <a:r>
              <a:rPr lang="es-AR" sz="1650" dirty="0">
                <a:solidFill>
                  <a:schemeClr val="dk1"/>
                </a:solidFill>
                <a:latin typeface="+mn-lt"/>
                <a:ea typeface="+mn-ea"/>
                <a:cs typeface="+mn-cs"/>
              </a:rPr>
              <a:t>diagonal.</a:t>
            </a:r>
          </a:p>
          <a:p>
            <a:pPr algn="l" marL="0" indent="0">
              <a:lnSpc>
                <a:spcPts val="2250"/>
              </a:lnSpc>
              <a:spcBef>
                <a:spcPts val="450"/>
              </a:spcBef>
              <a:buNone/>
            </a:pPr>
            <a:r>
              <a:rPr lang="es-AR" sz="1650" dirty="0">
                <a:solidFill>
                  <a:schemeClr val="dk1"/>
                </a:solidFill>
                <a:latin typeface="+mn-lt"/>
                <a:ea typeface="+mn-ea"/>
                <a:cs typeface="+mn-cs"/>
              </a:rPr>
              <a:t>Centro: la letra «a» minúscula.</a:t>
            </a:r>
          </a:p>
          <a:p>
            <a:pPr algn="l" marL="0" indent="0">
              <a:lnSpc>
                <a:spcPts val="2250"/>
              </a:lnSpc>
              <a:spcBef>
                <a:spcPts val="450"/>
              </a:spcBef>
              <a:buNone/>
            </a:pPr>
            <a:r>
              <a:rPr lang="es-AR" sz="1650" dirty="0">
                <a:solidFill>
                  <a:schemeClr val="dk1"/>
                </a:solidFill>
                <a:latin typeface="+mn-lt"/>
                <a:ea typeface="+mn-ea"/>
                <a:cs typeface="+mn-cs"/>
              </a:rPr>
              <a:t>Abajo a la izquierda: cuatro</a:t>
            </a:r>
            <a:br>
              <a:rPr lang="es-AR" sz="1650" dirty="0">
                <a:solidFill>
                  <a:schemeClr val="dk1"/>
                </a:solidFill>
                <a:latin typeface="+mn-lt"/>
                <a:ea typeface="+mn-ea"/>
                <a:cs typeface="+mn-cs"/>
              </a:rPr>
            </a:br>
            <a:r>
              <a:rPr lang="es-AR" sz="1650" dirty="0">
                <a:solidFill>
                  <a:schemeClr val="dk1"/>
                </a:solidFill>
                <a:latin typeface="+mn-lt"/>
                <a:ea typeface="+mn-ea"/>
                <a:cs typeface="+mn-cs"/>
              </a:rPr>
              <a:t>líneas horizontales paralelas.</a:t>
            </a:r>
          </a:p>
          <a:p>
            <a:pPr algn="l" marL="0" indent="0">
              <a:lnSpc>
                <a:spcPts val="2250"/>
              </a:lnSpc>
              <a:spcBef>
                <a:spcPts val="450"/>
              </a:spcBef>
              <a:buNone/>
            </a:pPr>
            <a:r>
              <a:rPr lang="es-AR" sz="1650" dirty="0">
                <a:solidFill>
                  <a:schemeClr val="dk1"/>
                </a:solidFill>
                <a:latin typeface="+mn-lt"/>
                <a:ea typeface="+mn-ea"/>
                <a:cs typeface="+mn-cs"/>
              </a:rPr>
              <a:t>Abajo a la derecha: un círculo.</a:t>
            </a:r>
          </a:p>
        </p:txBody>
      </p:sp>
      <p:sp>
        <p:nvSpPr>
          <p:cNvPr id="12" name="data-story-source-slot Placeholder Carrier"/>
          <p:cNvSpPr txBox="1"/>
          <p:nvPr>
            <p:ph type="ftr" idx="3"/>
          </p:nvPr>
        </p:nvSpPr>
        <p:spPr>
          <a:xfrm>
            <a:off x="604266" y="6254750"/>
            <a:ext cx="1620915" cy="205359"/>
          </a:xfrm>
          <a:prstGeom prst="rect">
            <a:avLst/>
          </a:prstGeom>
          <a:noFill/>
          <a:ln>
            <a:noFill/>
          </a:ln>
        </p:spPr>
        <p:txBody>
          <a:bodyPr wrap="none" lIns="0" tIns="0" rIns="0" bIns="0" anchor="t" anchorCtr="0">
            <a:spAutoFit/>
          </a:bodyPr>
          <a:lstStyle/>
          <a:p>
            <a:pPr algn="l"/>
            <a:r>
              <a:rPr lang="es-AR" sz="1050" dirty="0">
                <a:solidFill>
                  <a:schemeClr val="accent5"/>
                </a:solidFill>
                <a:latin typeface="+mn-lt"/>
                <a:ea typeface="+mn-ea"/>
                <a:cs typeface="+mn-cs"/>
              </a:rPr>
              <a:t>Fuente: figura 6 del informe</a:t>
            </a:r>
          </a:p>
        </p:txBody>
      </p:sp>
    </p:spTree>
  </p:cSld>
  <p:clrMapOvr>
    <a:masterClrMapping/>
  </p:clrMapOvr>
  <p:transition p14:dur="400">
    <p:fade/>
  </p:transition>
</p:sld>
</file>

<file path=ppt/slides/slide9.xml><?xml version="1.0" encoding="utf-8"?>
<p:sld xmlns:a="http://schemas.openxmlformats.org/drawingml/2006/main" xmlns:p="http://schemas.openxmlformats.org/presentationml/2006/main" xmlns:p14="http://schemas.microsoft.com/office/powerpoint/2010/main" xmlns:r="http://schemas.openxmlformats.org/officeDocument/2006/relationships" showMasterSp="1">
  <p:cSld>
    <p:spTree>
      <p:nvGrpSpPr>
        <p:cNvPr id="1" name=""/>
        <p:cNvGrpSpPr/>
        <p:nvPr/>
      </p:nvGrpSpPr>
      <p:grpSpPr>
        <a:xfrm>
          <a:off x="0" y="0"/>
          <a:ext cx="0" cy="0"/>
          <a:chOff x="0" y="0"/>
          <a:chExt cx="0" cy="0"/>
        </a:xfrm>
      </p:grpSpPr>
      <p:sp>
        <p:nvSpPr>
          <p:cNvPr id="6" name="data-story-title-slot Placeholder Carrier"/>
          <p:cNvSpPr txBox="1"/>
          <p:nvPr>
            <p:ph type="title"/>
          </p:nvPr>
        </p:nvSpPr>
        <p:spPr>
          <a:xfrm>
            <a:off x="595884" y="527050"/>
            <a:ext cx="7358206" cy="528066"/>
          </a:xfrm>
          <a:prstGeom prst="rect">
            <a:avLst/>
          </a:prstGeom>
          <a:noFill/>
          <a:ln>
            <a:noFill/>
          </a:ln>
        </p:spPr>
        <p:txBody>
          <a:bodyPr wrap="none" lIns="0" tIns="0" rIns="0" bIns="0" anchor="t" anchorCtr="0">
            <a:spAutoFit/>
          </a:bodyPr>
          <a:lstStyle/>
          <a:p>
            <a:pPr algn="l"/>
            <a:r>
              <a:rPr lang="es-AR" sz="2700" b="1" dirty="0">
                <a:solidFill>
                  <a:schemeClr val="accent1"/>
                </a:solidFill>
                <a:latin typeface="+mj-lt"/>
                <a:ea typeface="+mj-ea"/>
                <a:cs typeface="+mj-cs"/>
              </a:rPr>
              <a:t>El tamaño de ventana cambia lo que se ve</a:t>
            </a:r>
          </a:p>
        </p:txBody>
      </p:sp>
      <p:sp>
        <p:nvSpPr>
          <p:cNvPr id="7" name="title-rule"/>
          <p:cNvSpPr/>
          <p:nvPr/>
        </p:nvSpPr>
        <p:spPr>
          <a:xfrm>
            <a:off x="609600" y="1123950"/>
            <a:ext cx="685800" cy="28575"/>
          </a:xfrm>
          <a:prstGeom prst="rect">
            <a:avLst/>
          </a:prstGeom>
          <a:solidFill>
            <a:schemeClr val="accent1"/>
          </a:solidFill>
          <a:ln>
            <a:noFill/>
          </a:ln>
        </p:spPr>
      </p:sp>
      <p:grpSp>
        <p:nvGrpSpPr>
          <p:cNvPr id="9" name="fig07-group"/>
          <p:cNvGrpSpPr/>
          <p:nvPr/>
        </p:nvGrpSpPr>
        <p:grpSpPr>
          <a:xfrm>
            <a:off x="838200" y="1809750"/>
            <a:ext cx="3314700" cy="3524250"/>
            <a:chOff x="838200" y="1809750"/>
            <a:chExt cx="3314700" cy="3524250"/>
          </a:xfrm>
        </p:grpSpPr>
        <p:pic>
          <p:nvPicPr>
            <p:cNvPr id="8" name="fig07-imagen"/>
            <p:cNvPicPr>
              <a:picLocks noChangeAspect="1"/>
            </p:cNvPicPr>
            <p:nvPr/>
          </p:nvPicPr>
          <p:blipFill>
            <a:blip r:embed="rId2"/>
            <a:stretch>
              <a:fillRect/>
            </a:stretch>
          </p:blipFill>
          <p:spPr>
            <a:xfrm>
              <a:off x="838200" y="1809750"/>
              <a:ext cx="3314700" cy="3524250"/>
            </a:xfrm>
            <a:prstGeom prst="rect">
              <a:avLst/>
            </a:prstGeom>
          </p:spPr>
        </p:pic>
      </p:grpSp>
      <p:grpSp>
        <p:nvGrpSpPr>
          <p:cNvPr id="11" name="rangos-group"/>
          <p:cNvGrpSpPr/>
          <p:nvPr/>
        </p:nvGrpSpPr>
        <p:grpSpPr>
          <a:xfrm>
            <a:off x="4430268" y="1879600"/>
            <a:ext cx="2703090" cy="2970657"/>
            <a:chOff x="4430268" y="1879600"/>
            <a:chExt cx="2703090" cy="2970657"/>
          </a:xfrm>
        </p:grpSpPr>
        <p:sp>
          <p:nvSpPr>
            <p:cNvPr id="10" name="TextBox 10"/>
            <p:cNvSpPr txBox="1"/>
            <p:nvPr/>
          </p:nvSpPr>
          <p:spPr>
            <a:xfrm>
              <a:off x="4430268" y="1879600"/>
              <a:ext cx="2703090" cy="2970657"/>
            </a:xfrm>
            <a:prstGeom prst="rect">
              <a:avLst/>
            </a:prstGeom>
            <a:noFill/>
            <a:ln>
              <a:noFill/>
            </a:ln>
          </p:spPr>
          <p:txBody>
            <a:bodyPr wrap="none" lIns="0" tIns="0" rIns="0" bIns="0" anchor="t" anchorCtr="0">
              <a:spAutoFit/>
            </a:bodyPr>
            <a:lstStyle/>
            <a:p>
              <a:pPr algn="l">
                <a:lnSpc>
                  <a:spcPts val="2250"/>
                </a:lnSpc>
              </a:pPr>
              <a:r>
                <a:rPr lang="es-AR" sz="1350" b="1" dirty="0">
                  <a:solidFill>
                    <a:schemeClr val="accent2"/>
                  </a:solidFill>
                  <a:latin typeface="+mn-lt"/>
                  <a:ea typeface="+mn-ea"/>
                  <a:cs typeface="+mn-cs"/>
                </a:rPr>
                <a:t>CHICAS · 3x3 Y 7x7</a:t>
              </a:r>
            </a:p>
            <a:p>
              <a:pPr algn="l">
                <a:lnSpc>
                  <a:spcPts val="2250"/>
                </a:lnSpc>
                <a:spcBef>
                  <a:spcPts val="150"/>
                </a:spcBef>
              </a:pPr>
              <a:r>
                <a:rPr lang="es-AR" sz="1650" dirty="0">
                  <a:solidFill>
                    <a:schemeClr val="dk1"/>
                  </a:solidFill>
                  <a:latin typeface="+mn-lt"/>
                  <a:ea typeface="+mn-ea"/>
                  <a:cs typeface="+mn-cs"/>
                </a:rPr>
                <a:t>Resaltan bordes, amplifican el</a:t>
              </a:r>
              <a:br>
                <a:rPr lang="es-AR" sz="1650" dirty="0">
                  <a:solidFill>
                    <a:schemeClr val="dk1"/>
                  </a:solidFill>
                  <a:latin typeface="+mn-lt"/>
                  <a:ea typeface="+mn-ea"/>
                  <a:cs typeface="+mn-cs"/>
                </a:rPr>
              </a:br>
              <a:r>
                <a:rPr lang="es-AR" sz="1650" dirty="0">
                  <a:solidFill>
                    <a:schemeClr val="dk1"/>
                  </a:solidFill>
                  <a:latin typeface="+mn-lt"/>
                  <a:ea typeface="+mn-ea"/>
                  <a:cs typeface="+mn-cs"/>
                </a:rPr>
                <a:t>ruido y llenan el fondo de</a:t>
              </a:r>
              <a:br>
                <a:rPr lang="es-AR" sz="1650" dirty="0">
                  <a:solidFill>
                    <a:schemeClr val="dk1"/>
                  </a:solidFill>
                  <a:latin typeface="+mn-lt"/>
                  <a:ea typeface="+mn-ea"/>
                  <a:cs typeface="+mn-cs"/>
                </a:rPr>
              </a:br>
              <a:r>
                <a:rPr lang="es-AR" sz="1650" dirty="0">
                  <a:solidFill>
                    <a:schemeClr val="dk1"/>
                  </a:solidFill>
                  <a:latin typeface="+mn-lt"/>
                  <a:ea typeface="+mn-ea"/>
                  <a:cs typeface="+mn-cs"/>
                </a:rPr>
                <a:t>manchas.</a:t>
              </a:r>
            </a:p>
            <a:p>
              <a:pPr algn="l">
                <a:lnSpc>
                  <a:spcPts val="2250"/>
                </a:lnSpc>
                <a:spcBef>
                  <a:spcPts val="1200"/>
                </a:spcBef>
              </a:pPr>
              <a:r>
                <a:rPr lang="es-AR" sz="1350" b="1" dirty="0">
                  <a:solidFill>
                    <a:schemeClr val="accent3"/>
                  </a:solidFill>
                  <a:latin typeface="+mn-lt"/>
                  <a:ea typeface="+mn-ea"/>
                  <a:cs typeface="+mn-cs"/>
                </a:rPr>
                <a:t>MEDIAS · 15x15 A 31x31</a:t>
              </a:r>
            </a:p>
            <a:p>
              <a:pPr algn="l">
                <a:lnSpc>
                  <a:spcPts val="2250"/>
                </a:lnSpc>
                <a:spcBef>
                  <a:spcPts val="150"/>
                </a:spcBef>
              </a:pPr>
              <a:r>
                <a:rPr lang="es-AR" sz="1650" dirty="0">
                  <a:solidFill>
                    <a:schemeClr val="dk1"/>
                  </a:solidFill>
                  <a:latin typeface="+mn-lt"/>
                  <a:ea typeface="+mn-ea"/>
                  <a:cs typeface="+mn-cs"/>
                </a:rPr>
                <a:t>Detalles completos y fondo casi</a:t>
              </a:r>
              <a:br>
                <a:rPr lang="es-AR" sz="1650" dirty="0">
                  <a:solidFill>
                    <a:schemeClr val="dk1"/>
                  </a:solidFill>
                  <a:latin typeface="+mn-lt"/>
                  <a:ea typeface="+mn-ea"/>
                  <a:cs typeface="+mn-cs"/>
                </a:rPr>
              </a:br>
              <a:r>
                <a:rPr lang="es-AR" sz="1650" dirty="0">
                  <a:solidFill>
                    <a:schemeClr val="dk1"/>
                  </a:solidFill>
                  <a:latin typeface="+mn-lt"/>
                  <a:ea typeface="+mn-ea"/>
                  <a:cs typeface="+mn-cs"/>
                </a:rPr>
                <a:t>limpio.</a:t>
              </a:r>
            </a:p>
            <a:p>
              <a:pPr algn="l">
                <a:lnSpc>
                  <a:spcPts val="2250"/>
                </a:lnSpc>
                <a:spcBef>
                  <a:spcPts val="1200"/>
                </a:spcBef>
              </a:pPr>
              <a:r>
                <a:rPr lang="es-AR" sz="1350" b="1" dirty="0">
                  <a:solidFill>
                    <a:schemeClr val="accent5"/>
                  </a:solidFill>
                  <a:latin typeface="+mn-lt"/>
                  <a:ea typeface="+mn-ea"/>
                  <a:cs typeface="+mn-cs"/>
                </a:rPr>
                <a:t>GRANDES · 61x61 O MÁS</a:t>
              </a:r>
            </a:p>
            <a:p>
              <a:pPr algn="l">
                <a:lnSpc>
                  <a:spcPts val="2250"/>
                </a:lnSpc>
                <a:spcBef>
                  <a:spcPts val="150"/>
                </a:spcBef>
              </a:pPr>
              <a:r>
                <a:rPr lang="es-AR" sz="1650" dirty="0">
                  <a:solidFill>
                    <a:schemeClr val="dk1"/>
                  </a:solidFill>
                  <a:latin typeface="+mn-lt"/>
                  <a:ea typeface="+mn-ea"/>
                  <a:cs typeface="+mn-cs"/>
                </a:rPr>
                <a:t>Se parecen a la global.</a:t>
              </a:r>
            </a:p>
          </p:txBody>
        </p:sp>
      </p:grpSp>
      <p:sp>
        <p:nvSpPr>
          <p:cNvPr id="12" name="data-story-evidence-slot Placeholder Carrier"/>
          <p:cNvSpPr txBox="1"/>
          <p:nvPr>
            <p:ph idx="1"/>
          </p:nvPr>
        </p:nvSpPr>
        <p:spPr>
          <a:xfrm>
            <a:off x="831342" y="5302250"/>
            <a:ext cx="4528841" cy="264033"/>
          </a:xfrm>
          <a:prstGeom prst="rect">
            <a:avLst/>
          </a:prstGeom>
          <a:noFill/>
          <a:ln>
            <a:noFill/>
          </a:ln>
        </p:spPr>
        <p:txBody>
          <a:bodyPr wrap="none" lIns="0" tIns="0" rIns="0" bIns="0" anchor="t" anchorCtr="0">
            <a:spAutoFit/>
          </a:bodyPr>
          <a:lstStyle/>
          <a:p>
            <a:pPr algn="l" marL="0" indent="0">
              <a:buNone/>
            </a:pPr>
            <a:r>
              <a:rPr lang="es-AR" sz="1350" dirty="0">
                <a:solidFill>
                  <a:schemeClr val="accent5"/>
                </a:solidFill>
                <a:latin typeface="+mn-lt"/>
                <a:ea typeface="+mn-ea"/>
                <a:cs typeface="+mn-cs"/>
              </a:rPr>
              <a:t>Ventanas de 3x3, 7x7, 15x15, 21x21, 31x31, 61x61 y 101x101</a:t>
            </a:r>
          </a:p>
        </p:txBody>
      </p:sp>
      <p:sp>
        <p:nvSpPr>
          <p:cNvPr id="13" name="data-story-insight-slot Placeholder Carrier"/>
          <p:cNvSpPr txBox="1"/>
          <p:nvPr>
            <p:ph type="body" idx="2"/>
          </p:nvPr>
        </p:nvSpPr>
        <p:spPr>
          <a:xfrm>
            <a:off x="8449056" y="1841500"/>
            <a:ext cx="2596340" cy="3380994"/>
          </a:xfrm>
          <a:prstGeom prst="rect">
            <a:avLst/>
          </a:prstGeom>
          <a:noFill/>
          <a:ln>
            <a:noFill/>
          </a:ln>
        </p:spPr>
        <p:txBody>
          <a:bodyPr wrap="none" lIns="0" tIns="0" rIns="0" bIns="0" anchor="t" anchorCtr="0">
            <a:noAutofit/>
          </a:bodyPr>
          <a:lstStyle/>
          <a:p>
            <a:pPr algn="l" marL="0" indent="0">
              <a:lnSpc>
                <a:spcPts val="2250"/>
              </a:lnSpc>
              <a:buNone/>
            </a:pPr>
            <a:r>
              <a:rPr lang="es-AR" sz="2100" b="1" dirty="0">
                <a:solidFill>
                  <a:schemeClr val="accent1"/>
                </a:solidFill>
                <a:latin typeface="+mn-lt"/>
                <a:ea typeface="+mn-ea"/>
                <a:cs typeface="+mn-cs"/>
              </a:rPr>
              <a:t>Elegimos 21x21</a:t>
            </a:r>
          </a:p>
          <a:p>
            <a:pPr algn="l" marL="0" indent="0">
              <a:lnSpc>
                <a:spcPts val="2250"/>
              </a:lnSpc>
              <a:spcBef>
                <a:spcPts val="600"/>
              </a:spcBef>
              <a:buNone/>
            </a:pPr>
            <a:r>
              <a:rPr lang="es-AR" sz="1650" dirty="0">
                <a:solidFill>
                  <a:schemeClr val="dk1"/>
                </a:solidFill>
                <a:latin typeface="+mn-lt"/>
                <a:ea typeface="+mn-ea"/>
                <a:cs typeface="+mn-cs"/>
              </a:rPr>
              <a:t>De 15x15 a 31x31 se ven los</a:t>
            </a:r>
            <a:br>
              <a:rPr lang="es-AR" sz="1650" dirty="0">
                <a:solidFill>
                  <a:schemeClr val="dk1"/>
                </a:solidFill>
                <a:latin typeface="+mn-lt"/>
                <a:ea typeface="+mn-ea"/>
                <a:cs typeface="+mn-cs"/>
              </a:rPr>
            </a:br>
            <a:r>
              <a:rPr lang="es-AR" sz="1650" dirty="0">
                <a:solidFill>
                  <a:schemeClr val="dk1"/>
                </a:solidFill>
                <a:latin typeface="+mn-lt"/>
                <a:ea typeface="+mn-ea"/>
                <a:cs typeface="+mn-cs"/>
              </a:rPr>
              <a:t>cinco detalles completos y el</a:t>
            </a:r>
            <a:br>
              <a:rPr lang="es-AR" sz="1650" dirty="0">
                <a:solidFill>
                  <a:schemeClr val="dk1"/>
                </a:solidFill>
                <a:latin typeface="+mn-lt"/>
                <a:ea typeface="+mn-ea"/>
                <a:cs typeface="+mn-cs"/>
              </a:rPr>
            </a:br>
            <a:r>
              <a:rPr lang="es-AR" sz="1650" dirty="0">
                <a:solidFill>
                  <a:schemeClr val="dk1"/>
                </a:solidFill>
                <a:latin typeface="+mn-lt"/>
                <a:ea typeface="+mn-ea"/>
                <a:cs typeface="+mn-cs"/>
              </a:rPr>
              <a:t>fondo casi limpio. Con 21x21</a:t>
            </a:r>
            <a:br>
              <a:rPr lang="es-AR" sz="1650" dirty="0">
                <a:solidFill>
                  <a:schemeClr val="dk1"/>
                </a:solidFill>
                <a:latin typeface="+mn-lt"/>
                <a:ea typeface="+mn-ea"/>
                <a:cs typeface="+mn-cs"/>
              </a:rPr>
            </a:br>
            <a:r>
              <a:rPr lang="es-AR" sz="1650" dirty="0">
                <a:solidFill>
                  <a:schemeClr val="dk1"/>
                </a:solidFill>
                <a:latin typeface="+mn-lt"/>
                <a:ea typeface="+mn-ea"/>
                <a:cs typeface="+mn-cs"/>
              </a:rPr>
              <a:t>quedan menos marcas negras</a:t>
            </a:r>
            <a:br>
              <a:rPr lang="es-AR" sz="1650" dirty="0">
                <a:solidFill>
                  <a:schemeClr val="dk1"/>
                </a:solidFill>
                <a:latin typeface="+mn-lt"/>
                <a:ea typeface="+mn-ea"/>
                <a:cs typeface="+mn-cs"/>
              </a:rPr>
            </a:br>
            <a:r>
              <a:rPr lang="es-AR" sz="1650" dirty="0">
                <a:solidFill>
                  <a:schemeClr val="dk1"/>
                </a:solidFill>
                <a:latin typeface="+mn-lt"/>
                <a:ea typeface="+mn-ea"/>
                <a:cs typeface="+mn-cs"/>
              </a:rPr>
              <a:t>que con 15x15.</a:t>
            </a:r>
          </a:p>
          <a:p>
            <a:pPr algn="l" marL="0" indent="0">
              <a:lnSpc>
                <a:spcPts val="2250"/>
              </a:lnSpc>
              <a:spcBef>
                <a:spcPts val="750"/>
              </a:spcBef>
              <a:buNone/>
            </a:pPr>
            <a:r>
              <a:rPr lang="es-AR" sz="1650" dirty="0">
                <a:solidFill>
                  <a:schemeClr val="dk1"/>
                </a:solidFill>
                <a:latin typeface="+mn-lt"/>
                <a:ea typeface="+mn-ea"/>
                <a:cs typeface="+mn-cs"/>
              </a:rPr>
              <a:t>Los puntos sueltos son 1175</a:t>
            </a:r>
            <a:br>
              <a:rPr lang="es-AR" sz="1650" dirty="0">
                <a:solidFill>
                  <a:schemeClr val="dk1"/>
                </a:solidFill>
                <a:latin typeface="+mn-lt"/>
                <a:ea typeface="+mn-ea"/>
                <a:cs typeface="+mn-cs"/>
              </a:rPr>
            </a:br>
            <a:r>
              <a:rPr lang="es-AR" sz="1650" dirty="0">
                <a:solidFill>
                  <a:schemeClr val="dk1"/>
                </a:solidFill>
                <a:latin typeface="+mn-lt"/>
                <a:ea typeface="+mn-ea"/>
                <a:cs typeface="+mn-cs"/>
              </a:rPr>
              <a:t>píxeles de nivel 226 de la</a:t>
            </a:r>
            <a:br>
              <a:rPr lang="es-AR" sz="1650" dirty="0">
                <a:solidFill>
                  <a:schemeClr val="dk1"/>
                </a:solidFill>
                <a:latin typeface="+mn-lt"/>
                <a:ea typeface="+mn-ea"/>
                <a:cs typeface="+mn-cs"/>
              </a:rPr>
            </a:br>
            <a:r>
              <a:rPr lang="es-AR" sz="1650" dirty="0">
                <a:solidFill>
                  <a:schemeClr val="dk1"/>
                </a:solidFill>
                <a:latin typeface="+mn-lt"/>
                <a:ea typeface="+mn-ea"/>
                <a:cs typeface="+mn-cs"/>
              </a:rPr>
              <a:t>imagen original (2,5% del</a:t>
            </a:r>
            <a:br>
              <a:rPr lang="es-AR" sz="1650" dirty="0">
                <a:solidFill>
                  <a:schemeClr val="dk1"/>
                </a:solidFill>
                <a:latin typeface="+mn-lt"/>
                <a:ea typeface="+mn-ea"/>
                <a:cs typeface="+mn-cs"/>
              </a:rPr>
            </a:br>
            <a:r>
              <a:rPr lang="es-AR" sz="1650" dirty="0">
                <a:solidFill>
                  <a:schemeClr val="dk1"/>
                </a:solidFill>
                <a:latin typeface="+mn-lt"/>
                <a:ea typeface="+mn-ea"/>
                <a:cs typeface="+mn-cs"/>
              </a:rPr>
              <a:t>fondo): ruido de la imagen, no</a:t>
            </a:r>
            <a:br>
              <a:rPr lang="es-AR" sz="1650" dirty="0">
                <a:solidFill>
                  <a:schemeClr val="dk1"/>
                </a:solidFill>
                <a:latin typeface="+mn-lt"/>
                <a:ea typeface="+mn-ea"/>
                <a:cs typeface="+mn-cs"/>
              </a:rPr>
            </a:br>
            <a:r>
              <a:rPr lang="es-AR" sz="1650" dirty="0">
                <a:solidFill>
                  <a:schemeClr val="dk1"/>
                </a:solidFill>
                <a:latin typeface="+mn-lt"/>
                <a:ea typeface="+mn-ea"/>
                <a:cs typeface="+mn-cs"/>
              </a:rPr>
              <a:t>del método.</a:t>
            </a:r>
          </a:p>
        </p:txBody>
      </p:sp>
      <p:sp>
        <p:nvSpPr>
          <p:cNvPr id="14" name="data-story-source-slot Placeholder Carrier"/>
          <p:cNvSpPr txBox="1"/>
          <p:nvPr>
            <p:ph type="ftr" idx="3"/>
          </p:nvPr>
        </p:nvSpPr>
        <p:spPr>
          <a:xfrm>
            <a:off x="604266" y="6254750"/>
            <a:ext cx="1620915" cy="205359"/>
          </a:xfrm>
          <a:prstGeom prst="rect">
            <a:avLst/>
          </a:prstGeom>
          <a:noFill/>
          <a:ln>
            <a:noFill/>
          </a:ln>
        </p:spPr>
        <p:txBody>
          <a:bodyPr wrap="none" lIns="0" tIns="0" rIns="0" bIns="0" anchor="t" anchorCtr="0">
            <a:spAutoFit/>
          </a:bodyPr>
          <a:lstStyle/>
          <a:p>
            <a:pPr algn="l"/>
            <a:r>
              <a:rPr lang="es-AR" sz="1050" dirty="0">
                <a:solidFill>
                  <a:schemeClr val="accent5"/>
                </a:solidFill>
                <a:latin typeface="+mn-lt"/>
                <a:ea typeface="+mn-ea"/>
                <a:cs typeface="+mn-cs"/>
              </a:rPr>
              <a:t>Fuente: figura 7 del informe</a:t>
            </a:r>
          </a:p>
        </p:txBody>
      </p:sp>
    </p:spTree>
  </p:cSld>
  <p:clrMapOvr>
    <a:masterClrMapping/>
  </p:clrMapOvr>
  <p:transition p14:dur="400">
    <p:fade/>
  </p:transition>
</p:sld>
</file>

<file path=ppt/slides/slide10.xml><?xml version="1.0" encoding="utf-8"?>
<p:sld xmlns:a="http://schemas.openxmlformats.org/drawingml/2006/main" xmlns:p="http://schemas.openxmlformats.org/presentationml/2006/main" xmlns:p14="http://schemas.microsoft.com/office/powerpoint/2010/main" showMasterSp="1">
  <p:cSld>
    <p:spTree>
      <p:nvGrpSpPr>
        <p:cNvPr id="1" name=""/>
        <p:cNvGrpSpPr/>
        <p:nvPr/>
      </p:nvGrpSpPr>
      <p:grpSpPr>
        <a:xfrm>
          <a:off x="0" y="0"/>
          <a:ext cx="0" cy="0"/>
          <a:chOff x="0" y="0"/>
          <a:chExt cx="0" cy="0"/>
        </a:xfrm>
      </p:grpSpPr>
      <p:sp>
        <p:nvSpPr>
          <p:cNvPr id="6" name="three-card-title-slot Placeholder Carrier"/>
          <p:cNvSpPr txBox="1"/>
          <p:nvPr>
            <p:ph type="title"/>
          </p:nvPr>
        </p:nvSpPr>
        <p:spPr>
          <a:xfrm>
            <a:off x="595884" y="603250"/>
            <a:ext cx="6808225" cy="528066"/>
          </a:xfrm>
          <a:prstGeom prst="rect">
            <a:avLst/>
          </a:prstGeom>
          <a:noFill/>
          <a:ln>
            <a:noFill/>
          </a:ln>
        </p:spPr>
        <p:txBody>
          <a:bodyPr wrap="none" lIns="0" tIns="0" rIns="0" bIns="0" anchor="t" anchorCtr="0">
            <a:spAutoFit/>
          </a:bodyPr>
          <a:lstStyle/>
          <a:p>
            <a:pPr algn="l"/>
            <a:r>
              <a:rPr lang="es-AR" sz="2700" b="1" dirty="0">
                <a:solidFill>
                  <a:schemeClr val="accent1"/>
                </a:solidFill>
                <a:latin typeface="+mj-lt"/>
                <a:ea typeface="+mj-ea"/>
                <a:cs typeface="+mj-cs"/>
              </a:rPr>
              <a:t>Dos límites para el tamaño de ventana</a:t>
            </a:r>
          </a:p>
        </p:txBody>
      </p:sp>
      <p:sp>
        <p:nvSpPr>
          <p:cNvPr id="7" name="title-rule"/>
          <p:cNvSpPr/>
          <p:nvPr/>
        </p:nvSpPr>
        <p:spPr>
          <a:xfrm>
            <a:off x="609600" y="1219200"/>
            <a:ext cx="685800" cy="28575"/>
          </a:xfrm>
          <a:prstGeom prst="rect">
            <a:avLst/>
          </a:prstGeom>
          <a:solidFill>
            <a:schemeClr val="accent1"/>
          </a:solidFill>
          <a:ln>
            <a:noFill/>
          </a:ln>
        </p:spPr>
      </p:sp>
      <p:sp>
        <p:nvSpPr>
          <p:cNvPr id="8" name="three-card-one-slot Placeholder Carrier"/>
          <p:cNvSpPr txBox="1"/>
          <p:nvPr>
            <p:ph idx="1"/>
          </p:nvPr>
        </p:nvSpPr>
        <p:spPr>
          <a:xfrm>
            <a:off x="829056" y="2209800"/>
            <a:ext cx="2607114" cy="1628394"/>
          </a:xfrm>
          <a:prstGeom prst="rect">
            <a:avLst/>
          </a:prstGeom>
          <a:noFill/>
          <a:ln>
            <a:noFill/>
          </a:ln>
        </p:spPr>
        <p:txBody>
          <a:bodyPr wrap="none" lIns="0" tIns="0" rIns="0" bIns="0" anchor="t" anchorCtr="0">
            <a:noAutofit/>
          </a:bodyPr>
          <a:lstStyle/>
          <a:p>
            <a:pPr algn="l" marL="0" indent="0">
              <a:lnSpc>
                <a:spcPts val="2400"/>
              </a:lnSpc>
              <a:buNone/>
            </a:pPr>
            <a:r>
              <a:rPr lang="es-AR" sz="2100" b="1" dirty="0">
                <a:solidFill>
                  <a:schemeClr val="accent1"/>
                </a:solidFill>
                <a:latin typeface="+mn-lt"/>
                <a:ea typeface="+mn-ea"/>
                <a:cs typeface="+mn-cs"/>
              </a:rPr>
              <a:t>Mínimo</a:t>
            </a:r>
          </a:p>
          <a:p>
            <a:pPr algn="l" marL="0" indent="0">
              <a:lnSpc>
                <a:spcPts val="2400"/>
              </a:lnSpc>
              <a:spcBef>
                <a:spcPts val="450"/>
              </a:spcBef>
              <a:buNone/>
            </a:pPr>
            <a:r>
              <a:rPr lang="es-AR" sz="1800" dirty="0">
                <a:solidFill>
                  <a:schemeClr val="dk1"/>
                </a:solidFill>
                <a:latin typeface="+mn-lt"/>
                <a:ea typeface="+mn-ea"/>
                <a:cs typeface="+mn-cs"/>
              </a:rPr>
              <a:t>La ventana debe tomar a la</a:t>
            </a:r>
            <a:br>
              <a:rPr lang="es-AR" sz="1800" dirty="0">
                <a:solidFill>
                  <a:schemeClr val="dk1"/>
                </a:solidFill>
                <a:latin typeface="+mn-lt"/>
                <a:ea typeface="+mn-ea"/>
                <a:cs typeface="+mn-cs"/>
              </a:rPr>
            </a:br>
            <a:r>
              <a:rPr lang="es-AR" sz="1800" dirty="0">
                <a:solidFill>
                  <a:schemeClr val="dk1"/>
                </a:solidFill>
                <a:latin typeface="+mn-lt"/>
                <a:ea typeface="+mn-ea"/>
                <a:cs typeface="+mn-cs"/>
              </a:rPr>
              <a:t>vez parte del detalle y de su</a:t>
            </a:r>
            <a:br>
              <a:rPr lang="es-AR" sz="1800" dirty="0">
                <a:solidFill>
                  <a:schemeClr val="dk1"/>
                </a:solidFill>
                <a:latin typeface="+mn-lt"/>
                <a:ea typeface="+mn-ea"/>
                <a:cs typeface="+mn-cs"/>
              </a:rPr>
            </a:br>
            <a:r>
              <a:rPr lang="es-AR" sz="1800" dirty="0">
                <a:solidFill>
                  <a:schemeClr val="dk1"/>
                </a:solidFill>
                <a:latin typeface="+mn-lt"/>
                <a:ea typeface="+mn-ea"/>
                <a:cs typeface="+mn-cs"/>
              </a:rPr>
              <a:t>fondo. Si no, solo se ven</a:t>
            </a:r>
            <a:br>
              <a:rPr lang="es-AR" sz="1800" dirty="0">
                <a:solidFill>
                  <a:schemeClr val="dk1"/>
                </a:solidFill>
                <a:latin typeface="+mn-lt"/>
                <a:ea typeface="+mn-ea"/>
                <a:cs typeface="+mn-cs"/>
              </a:rPr>
            </a:br>
            <a:r>
              <a:rPr lang="es-AR" sz="1800" dirty="0">
                <a:solidFill>
                  <a:schemeClr val="dk1"/>
                </a:solidFill>
                <a:latin typeface="+mn-lt"/>
                <a:ea typeface="+mn-ea"/>
                <a:cs typeface="+mn-cs"/>
              </a:rPr>
              <a:t>bordes y crece el ruido.</a:t>
            </a:r>
          </a:p>
        </p:txBody>
      </p:sp>
      <p:grpSp>
        <p:nvGrpSpPr>
          <p:cNvPr id="15" name="card-one-icon"/>
          <p:cNvGrpSpPr/>
          <p:nvPr/>
        </p:nvGrpSpPr>
        <p:grpSpPr>
          <a:xfrm>
            <a:off x="885825" y="1876425"/>
            <a:ext cx="285751" cy="285751"/>
            <a:chOff x="885825" y="1876425"/>
            <a:chExt cx="285751" cy="285751"/>
          </a:xfrm>
        </p:grpSpPr>
        <p:grpSp>
          <p:nvGrpSpPr>
            <p:cNvPr id="14" name="Group 14"/>
            <p:cNvGrpSpPr/>
            <p:nvPr/>
          </p:nvGrpSpPr>
          <p:grpSpPr>
            <a:xfrm>
              <a:off x="885825" y="1876425"/>
              <a:ext cx="285751" cy="285751"/>
              <a:chOff x="885825" y="1876425"/>
              <a:chExt cx="285751" cy="285751"/>
            </a:xfrm>
          </p:grpSpPr>
          <p:sp>
            <p:nvSpPr>
              <p:cNvPr id="9" name="Freeform 9"/>
              <p:cNvSpPr/>
              <p:nvPr/>
            </p:nvSpPr>
            <p:spPr>
              <a:xfrm>
                <a:off x="885825" y="1876425"/>
                <a:ext cx="285751" cy="285751"/>
              </a:xfrm>
              <a:custGeom>
                <a:avLst/>
                <a:gdLst/>
                <a:ahLst/>
                <a:cxnLst/>
                <a:rect l="l" t="t" r="r" b="b"/>
                <a:pathLst>
                  <a:path w="285751" h="285751">
                    <a:moveTo>
                      <a:pt x="222250" y="0"/>
                    </a:moveTo>
                    <a:lnTo>
                      <a:pt x="285751" y="63500"/>
                    </a:lnTo>
                    <a:lnTo>
                      <a:pt x="63500" y="285751"/>
                    </a:lnTo>
                    <a:lnTo>
                      <a:pt x="0" y="222250"/>
                    </a:lnTo>
                    <a:lnTo>
                      <a:pt x="222250" y="0"/>
                    </a:lnTo>
                  </a:path>
                </a:pathLst>
              </a:custGeom>
              <a:noFill/>
              <a:ln w="31750">
                <a:solidFill>
                  <a:schemeClr val="accent1"/>
                </a:solidFill>
              </a:ln>
            </p:spPr>
          </p:sp>
          <p:sp>
            <p:nvSpPr>
              <p:cNvPr id="10" name="Freeform 10"/>
              <p:cNvSpPr/>
              <p:nvPr/>
            </p:nvSpPr>
            <p:spPr>
              <a:xfrm>
                <a:off x="1068388" y="1916113"/>
                <a:ext cx="23813" cy="23813"/>
              </a:xfrm>
              <a:custGeom>
                <a:avLst/>
                <a:gdLst/>
                <a:ahLst/>
                <a:cxnLst/>
                <a:rect l="l" t="t" r="r" b="b"/>
                <a:pathLst>
                  <a:path w="23813" h="23813">
                    <a:moveTo>
                      <a:pt x="23813" y="23813"/>
                    </a:moveTo>
                    <a:lnTo>
                      <a:pt x="0" y="0"/>
                    </a:lnTo>
                  </a:path>
                </a:pathLst>
              </a:custGeom>
              <a:noFill/>
              <a:ln w="31750">
                <a:solidFill>
                  <a:schemeClr val="accent1"/>
                </a:solidFill>
              </a:ln>
            </p:spPr>
          </p:sp>
          <p:sp>
            <p:nvSpPr>
              <p:cNvPr id="11" name="Freeform 11"/>
              <p:cNvSpPr/>
              <p:nvPr/>
            </p:nvSpPr>
            <p:spPr>
              <a:xfrm>
                <a:off x="1020763" y="1963738"/>
                <a:ext cx="23813" cy="23813"/>
              </a:xfrm>
              <a:custGeom>
                <a:avLst/>
                <a:gdLst/>
                <a:ahLst/>
                <a:cxnLst/>
                <a:rect l="l" t="t" r="r" b="b"/>
                <a:pathLst>
                  <a:path w="23813" h="23813">
                    <a:moveTo>
                      <a:pt x="23813" y="23813"/>
                    </a:moveTo>
                    <a:lnTo>
                      <a:pt x="0" y="0"/>
                    </a:lnTo>
                  </a:path>
                </a:pathLst>
              </a:custGeom>
              <a:noFill/>
              <a:ln w="31750">
                <a:solidFill>
                  <a:schemeClr val="accent1"/>
                </a:solidFill>
              </a:ln>
            </p:spPr>
          </p:sp>
          <p:sp>
            <p:nvSpPr>
              <p:cNvPr id="12" name="Freeform 12"/>
              <p:cNvSpPr/>
              <p:nvPr/>
            </p:nvSpPr>
            <p:spPr>
              <a:xfrm>
                <a:off x="973138" y="2011363"/>
                <a:ext cx="23813" cy="23813"/>
              </a:xfrm>
              <a:custGeom>
                <a:avLst/>
                <a:gdLst/>
                <a:ahLst/>
                <a:cxnLst/>
                <a:rect l="l" t="t" r="r" b="b"/>
                <a:pathLst>
                  <a:path w="23813" h="23813">
                    <a:moveTo>
                      <a:pt x="23813" y="23813"/>
                    </a:moveTo>
                    <a:lnTo>
                      <a:pt x="0" y="0"/>
                    </a:lnTo>
                  </a:path>
                </a:pathLst>
              </a:custGeom>
              <a:noFill/>
              <a:ln w="31750">
                <a:solidFill>
                  <a:schemeClr val="accent1"/>
                </a:solidFill>
              </a:ln>
            </p:spPr>
          </p:sp>
          <p:sp>
            <p:nvSpPr>
              <p:cNvPr id="13" name="Freeform 13"/>
              <p:cNvSpPr/>
              <p:nvPr/>
            </p:nvSpPr>
            <p:spPr>
              <a:xfrm>
                <a:off x="925513" y="2058988"/>
                <a:ext cx="23813" cy="23813"/>
              </a:xfrm>
              <a:custGeom>
                <a:avLst/>
                <a:gdLst/>
                <a:ahLst/>
                <a:cxnLst/>
                <a:rect l="l" t="t" r="r" b="b"/>
                <a:pathLst>
                  <a:path w="23813" h="23813">
                    <a:moveTo>
                      <a:pt x="23813" y="23813"/>
                    </a:moveTo>
                    <a:lnTo>
                      <a:pt x="0" y="0"/>
                    </a:lnTo>
                  </a:path>
                </a:pathLst>
              </a:custGeom>
              <a:noFill/>
              <a:ln w="31750">
                <a:solidFill>
                  <a:schemeClr val="accent1"/>
                </a:solidFill>
              </a:ln>
            </p:spPr>
          </p:sp>
        </p:grpSp>
      </p:grpSp>
      <p:sp>
        <p:nvSpPr>
          <p:cNvPr id="16" name="three-card-two-slot Placeholder Carrier"/>
          <p:cNvSpPr txBox="1"/>
          <p:nvPr>
            <p:ph idx="2"/>
          </p:nvPr>
        </p:nvSpPr>
        <p:spPr>
          <a:xfrm>
            <a:off x="4562856" y="2159000"/>
            <a:ext cx="1753522" cy="1114044"/>
          </a:xfrm>
          <a:prstGeom prst="rect">
            <a:avLst/>
          </a:prstGeom>
          <a:noFill/>
          <a:ln>
            <a:noFill/>
          </a:ln>
        </p:spPr>
        <p:txBody>
          <a:bodyPr wrap="none" lIns="0" tIns="0" rIns="0" bIns="0" anchor="t" anchorCtr="0">
            <a:noAutofit/>
          </a:bodyPr>
          <a:lstStyle/>
          <a:p>
            <a:pPr algn="l" marL="0" indent="0">
              <a:lnSpc>
                <a:spcPts val="2850"/>
              </a:lnSpc>
              <a:buNone/>
            </a:pPr>
            <a:r>
              <a:rPr lang="es-AR" sz="2100" b="1" dirty="0">
                <a:solidFill>
                  <a:schemeClr val="accent3"/>
                </a:solidFill>
                <a:latin typeface="+mn-lt"/>
                <a:ea typeface="+mn-ea"/>
                <a:cs typeface="+mn-cs"/>
              </a:rPr>
              <a:t>Rango útil</a:t>
            </a:r>
          </a:p>
          <a:p>
            <a:pPr algn="l" marL="0" indent="0">
              <a:lnSpc>
                <a:spcPts val="2850"/>
              </a:lnSpc>
              <a:buNone/>
            </a:pPr>
            <a:r>
              <a:rPr lang="es-AR" sz="1800" dirty="0">
                <a:solidFill>
                  <a:schemeClr val="dk1"/>
                </a:solidFill>
                <a:latin typeface="+mn-lt"/>
                <a:ea typeface="+mn-ea"/>
                <a:cs typeface="+mn-cs"/>
              </a:rPr>
              <a:t>De 15x15 a 31x31.</a:t>
            </a:r>
          </a:p>
          <a:p>
            <a:pPr algn="l" marL="0" indent="0">
              <a:lnSpc>
                <a:spcPts val="2850"/>
              </a:lnSpc>
              <a:spcBef>
                <a:spcPts val="300"/>
              </a:spcBef>
              <a:buNone/>
            </a:pPr>
            <a:r>
              <a:rPr lang="es-AR" sz="1800" dirty="0">
                <a:solidFill>
                  <a:schemeClr val="dk1"/>
                </a:solidFill>
                <a:latin typeface="+mn-lt"/>
                <a:ea typeface="+mn-ea"/>
                <a:cs typeface="+mn-cs"/>
              </a:rPr>
              <a:t>La mejor es 21x21.</a:t>
            </a:r>
          </a:p>
        </p:txBody>
      </p:sp>
      <p:grpSp>
        <p:nvGrpSpPr>
          <p:cNvPr id="21" name="card-two-icon"/>
          <p:cNvGrpSpPr/>
          <p:nvPr/>
        </p:nvGrpSpPr>
        <p:grpSpPr>
          <a:xfrm>
            <a:off x="4619625" y="1876425"/>
            <a:ext cx="285751" cy="285751"/>
            <a:chOff x="4619625" y="1876425"/>
            <a:chExt cx="285751" cy="285751"/>
          </a:xfrm>
        </p:grpSpPr>
        <p:grpSp>
          <p:nvGrpSpPr>
            <p:cNvPr id="20" name="Group 20"/>
            <p:cNvGrpSpPr/>
            <p:nvPr/>
          </p:nvGrpSpPr>
          <p:grpSpPr>
            <a:xfrm>
              <a:off x="4619625" y="1876425"/>
              <a:ext cx="285751" cy="285751"/>
              <a:chOff x="4619625" y="1876425"/>
              <a:chExt cx="285751" cy="285751"/>
            </a:xfrm>
          </p:grpSpPr>
          <p:sp>
            <p:nvSpPr>
              <p:cNvPr id="17" name="Freeform 17"/>
              <p:cNvSpPr/>
              <p:nvPr/>
            </p:nvSpPr>
            <p:spPr>
              <a:xfrm>
                <a:off x="4746625" y="2003425"/>
                <a:ext cx="31750" cy="31750"/>
              </a:xfrm>
              <a:custGeom>
                <a:avLst/>
                <a:gdLst/>
                <a:ahLst/>
                <a:cxnLst/>
                <a:rect l="l" t="t" r="r" b="b"/>
                <a:pathLst>
                  <a:path w="31750" h="31750">
                    <a:moveTo>
                      <a:pt x="0" y="15875"/>
                    </a:moveTo>
                    <a:cubicBezTo>
                      <a:pt x="0" y="24643"/>
                      <a:pt x="7107" y="31750"/>
                      <a:pt x="15875" y="31750"/>
                    </a:cubicBezTo>
                    <a:cubicBezTo>
                      <a:pt x="24643" y="31750"/>
                      <a:pt x="31750" y="24643"/>
                      <a:pt x="31750" y="15875"/>
                    </a:cubicBezTo>
                    <a:cubicBezTo>
                      <a:pt x="31750" y="7107"/>
                      <a:pt x="24643" y="0"/>
                      <a:pt x="15875" y="0"/>
                    </a:cubicBezTo>
                    <a:cubicBezTo>
                      <a:pt x="7107" y="0"/>
                      <a:pt x="0" y="7107"/>
                      <a:pt x="0" y="15875"/>
                    </a:cubicBezTo>
                  </a:path>
                </a:pathLst>
              </a:custGeom>
              <a:noFill/>
              <a:ln w="31750">
                <a:solidFill>
                  <a:schemeClr val="accent3"/>
                </a:solidFill>
              </a:ln>
            </p:spPr>
          </p:sp>
          <p:sp>
            <p:nvSpPr>
              <p:cNvPr id="18" name="Freeform 18"/>
              <p:cNvSpPr/>
              <p:nvPr/>
            </p:nvSpPr>
            <p:spPr>
              <a:xfrm>
                <a:off x="4683125" y="1939925"/>
                <a:ext cx="158750" cy="158750"/>
              </a:xfrm>
              <a:custGeom>
                <a:avLst/>
                <a:gdLst/>
                <a:ahLst/>
                <a:cxnLst/>
                <a:rect l="l" t="t" r="r" b="b"/>
                <a:pathLst>
                  <a:path w="158750" h="158750">
                    <a:moveTo>
                      <a:pt x="0" y="79375"/>
                    </a:moveTo>
                    <a:cubicBezTo>
                      <a:pt x="0" y="123213"/>
                      <a:pt x="35537" y="158750"/>
                      <a:pt x="79375" y="158750"/>
                    </a:cubicBezTo>
                    <a:cubicBezTo>
                      <a:pt x="123213" y="158750"/>
                      <a:pt x="158750" y="123213"/>
                      <a:pt x="158750" y="79375"/>
                    </a:cubicBezTo>
                    <a:cubicBezTo>
                      <a:pt x="158750" y="35537"/>
                      <a:pt x="123213" y="0"/>
                      <a:pt x="79375" y="0"/>
                    </a:cubicBezTo>
                    <a:cubicBezTo>
                      <a:pt x="35537" y="0"/>
                      <a:pt x="0" y="35537"/>
                      <a:pt x="0" y="79375"/>
                    </a:cubicBezTo>
                  </a:path>
                </a:pathLst>
              </a:custGeom>
              <a:noFill/>
              <a:ln w="31750">
                <a:solidFill>
                  <a:schemeClr val="accent3"/>
                </a:solidFill>
              </a:ln>
            </p:spPr>
          </p:sp>
          <p:sp>
            <p:nvSpPr>
              <p:cNvPr id="19" name="Freeform 19"/>
              <p:cNvSpPr/>
              <p:nvPr/>
            </p:nvSpPr>
            <p:spPr>
              <a:xfrm>
                <a:off x="4619625" y="1876425"/>
                <a:ext cx="285751" cy="285751"/>
              </a:xfrm>
              <a:custGeom>
                <a:avLst/>
                <a:gdLst/>
                <a:ahLst/>
                <a:cxnLst/>
                <a:rect l="l" t="t" r="r" b="b"/>
                <a:pathLst>
                  <a:path w="285751" h="285751">
                    <a:moveTo>
                      <a:pt x="0" y="142875"/>
                    </a:moveTo>
                    <a:cubicBezTo>
                      <a:pt x="0" y="221783"/>
                      <a:pt x="63967" y="285751"/>
                      <a:pt x="142875" y="285751"/>
                    </a:cubicBezTo>
                    <a:cubicBezTo>
                      <a:pt x="221783" y="285751"/>
                      <a:pt x="285751" y="221783"/>
                      <a:pt x="285751" y="142875"/>
                    </a:cubicBezTo>
                    <a:cubicBezTo>
                      <a:pt x="285751" y="63967"/>
                      <a:pt x="221783" y="0"/>
                      <a:pt x="142875" y="0"/>
                    </a:cubicBezTo>
                    <a:cubicBezTo>
                      <a:pt x="63967" y="0"/>
                      <a:pt x="0" y="63967"/>
                      <a:pt x="0" y="142875"/>
                    </a:cubicBezTo>
                  </a:path>
                </a:pathLst>
              </a:custGeom>
              <a:noFill/>
              <a:ln w="31750">
                <a:solidFill>
                  <a:schemeClr val="accent3"/>
                </a:solidFill>
              </a:ln>
            </p:spPr>
          </p:sp>
        </p:grpSp>
      </p:grpSp>
      <p:sp>
        <p:nvSpPr>
          <p:cNvPr id="22" name="three-card-three-slot Placeholder Carrier"/>
          <p:cNvSpPr txBox="1"/>
          <p:nvPr>
            <p:ph idx="3"/>
          </p:nvPr>
        </p:nvSpPr>
        <p:spPr>
          <a:xfrm>
            <a:off x="8296656" y="2209800"/>
            <a:ext cx="2867970" cy="3247644"/>
          </a:xfrm>
          <a:prstGeom prst="rect">
            <a:avLst/>
          </a:prstGeom>
          <a:noFill/>
          <a:ln>
            <a:noFill/>
          </a:ln>
        </p:spPr>
        <p:txBody>
          <a:bodyPr wrap="none" lIns="0" tIns="0" rIns="0" bIns="0" anchor="t" anchorCtr="0">
            <a:noAutofit/>
          </a:bodyPr>
          <a:lstStyle/>
          <a:p>
            <a:pPr algn="l" marL="0" indent="0">
              <a:lnSpc>
                <a:spcPts val="2400"/>
              </a:lnSpc>
              <a:buNone/>
            </a:pPr>
            <a:r>
              <a:rPr lang="es-AR" sz="2100" b="1" dirty="0">
                <a:solidFill>
                  <a:schemeClr val="accent2"/>
                </a:solidFill>
                <a:latin typeface="+mn-lt"/>
                <a:ea typeface="+mn-ea"/>
                <a:cs typeface="+mn-cs"/>
              </a:rPr>
              <a:t>Máximo</a:t>
            </a:r>
          </a:p>
          <a:p>
            <a:pPr algn="l" marL="0" indent="0">
              <a:lnSpc>
                <a:spcPts val="2400"/>
              </a:lnSpc>
              <a:spcBef>
                <a:spcPts val="450"/>
              </a:spcBef>
              <a:buNone/>
            </a:pPr>
            <a:r>
              <a:rPr lang="es-AR" sz="1800" dirty="0">
                <a:solidFill>
                  <a:schemeClr val="dk1"/>
                </a:solidFill>
                <a:latin typeface="+mn-lt"/>
                <a:ea typeface="+mn-ea"/>
                <a:cs typeface="+mn-cs"/>
              </a:rPr>
              <a:t>Si la ventana se sale del</a:t>
            </a:r>
            <a:br>
              <a:rPr lang="es-AR" sz="1800" dirty="0">
                <a:solidFill>
                  <a:schemeClr val="dk1"/>
                </a:solidFill>
                <a:latin typeface="+mn-lt"/>
                <a:ea typeface="+mn-ea"/>
                <a:cs typeface="+mn-cs"/>
              </a:rPr>
            </a:br>
            <a:r>
              <a:rPr lang="es-AR" sz="1800" dirty="0">
                <a:solidFill>
                  <a:schemeClr val="dk1"/>
                </a:solidFill>
                <a:latin typeface="+mn-lt"/>
                <a:ea typeface="+mn-ea"/>
                <a:cs typeface="+mn-cs"/>
              </a:rPr>
              <a:t>cuadrado de 62x62, entran</a:t>
            </a:r>
            <a:br>
              <a:rPr lang="es-AR" sz="1800" dirty="0">
                <a:solidFill>
                  <a:schemeClr val="dk1"/>
                </a:solidFill>
                <a:latin typeface="+mn-lt"/>
                <a:ea typeface="+mn-ea"/>
                <a:cs typeface="+mn-cs"/>
              </a:rPr>
            </a:br>
            <a:r>
              <a:rPr lang="es-AR" sz="1800" dirty="0">
                <a:solidFill>
                  <a:schemeClr val="dk1"/>
                </a:solidFill>
                <a:latin typeface="+mn-lt"/>
                <a:ea typeface="+mn-ea"/>
                <a:cs typeface="+mn-cs"/>
              </a:rPr>
              <a:t>píxeles del fondo claro y los</a:t>
            </a:r>
            <a:br>
              <a:rPr lang="es-AR" sz="1800" dirty="0">
                <a:solidFill>
                  <a:schemeClr val="dk1"/>
                </a:solidFill>
                <a:latin typeface="+mn-lt"/>
                <a:ea typeface="+mn-ea"/>
                <a:cs typeface="+mn-cs"/>
              </a:rPr>
            </a:br>
            <a:r>
              <a:rPr lang="es-AR" sz="1800" dirty="0">
                <a:solidFill>
                  <a:schemeClr val="dk1"/>
                </a:solidFill>
                <a:latin typeface="+mn-lt"/>
                <a:ea typeface="+mn-ea"/>
                <a:cs typeface="+mn-cs"/>
              </a:rPr>
              <a:t>oscuros quedan comprimidos:</a:t>
            </a:r>
            <a:br>
              <a:rPr lang="es-AR" sz="1800" dirty="0">
                <a:solidFill>
                  <a:schemeClr val="dk1"/>
                </a:solidFill>
                <a:latin typeface="+mn-lt"/>
                <a:ea typeface="+mn-ea"/>
                <a:cs typeface="+mn-cs"/>
              </a:rPr>
            </a:br>
            <a:r>
              <a:rPr lang="es-AR" sz="1800" dirty="0">
                <a:solidFill>
                  <a:schemeClr val="dk1"/>
                </a:solidFill>
                <a:latin typeface="+mn-lt"/>
                <a:ea typeface="+mn-ea"/>
                <a:cs typeface="+mn-cs"/>
              </a:rPr>
              <a:t>cuanto más grande, más</a:t>
            </a:r>
            <a:br>
              <a:rPr lang="es-AR" sz="1800" dirty="0">
                <a:solidFill>
                  <a:schemeClr val="dk1"/>
                </a:solidFill>
                <a:latin typeface="+mn-lt"/>
                <a:ea typeface="+mn-ea"/>
                <a:cs typeface="+mn-cs"/>
              </a:rPr>
            </a:br>
            <a:r>
              <a:rPr lang="es-AR" sz="1800" dirty="0">
                <a:solidFill>
                  <a:schemeClr val="dk1"/>
                </a:solidFill>
                <a:latin typeface="+mn-lt"/>
                <a:ea typeface="+mn-ea"/>
                <a:cs typeface="+mn-cs"/>
              </a:rPr>
              <a:t>oscuro el detalle.</a:t>
            </a:r>
          </a:p>
          <a:p>
            <a:pPr algn="l" marL="0" indent="0">
              <a:lnSpc>
                <a:spcPts val="2400"/>
              </a:lnSpc>
              <a:spcBef>
                <a:spcPts val="750"/>
              </a:spcBef>
              <a:buNone/>
            </a:pPr>
            <a:r>
              <a:rPr lang="es-AR" sz="1800" dirty="0">
                <a:solidFill>
                  <a:schemeClr val="dk1"/>
                </a:solidFill>
                <a:latin typeface="+mn-lt"/>
                <a:ea typeface="+mn-ea"/>
                <a:cs typeface="+mn-cs"/>
              </a:rPr>
              <a:t>La zona inferior izquierda, a 10</a:t>
            </a:r>
            <a:br>
              <a:rPr lang="es-AR" sz="1800" dirty="0">
                <a:solidFill>
                  <a:schemeClr val="dk1"/>
                </a:solidFill>
                <a:latin typeface="+mn-lt"/>
                <a:ea typeface="+mn-ea"/>
                <a:cs typeface="+mn-cs"/>
              </a:rPr>
            </a:br>
            <a:r>
              <a:rPr lang="es-AR" sz="1800" dirty="0">
                <a:solidFill>
                  <a:schemeClr val="dk1"/>
                </a:solidFill>
                <a:latin typeface="+mn-lt"/>
                <a:ea typeface="+mn-ea"/>
                <a:cs typeface="+mn-cs"/>
              </a:rPr>
              <a:t>píxeles del borde, es la que</a:t>
            </a:r>
            <a:br>
              <a:rPr lang="es-AR" sz="1800" dirty="0">
                <a:solidFill>
                  <a:schemeClr val="dk1"/>
                </a:solidFill>
                <a:latin typeface="+mn-lt"/>
                <a:ea typeface="+mn-ea"/>
                <a:cs typeface="+mn-cs"/>
              </a:rPr>
            </a:br>
            <a:r>
              <a:rPr lang="es-AR" sz="1800" dirty="0">
                <a:solidFill>
                  <a:schemeClr val="dk1"/>
                </a:solidFill>
                <a:latin typeface="+mn-lt"/>
                <a:ea typeface="+mn-ea"/>
                <a:cs typeface="+mn-cs"/>
              </a:rPr>
              <a:t>más se atenúa.</a:t>
            </a:r>
          </a:p>
        </p:txBody>
      </p:sp>
      <p:grpSp>
        <p:nvGrpSpPr>
          <p:cNvPr id="27" name="card-three-icon"/>
          <p:cNvGrpSpPr/>
          <p:nvPr/>
        </p:nvGrpSpPr>
        <p:grpSpPr>
          <a:xfrm>
            <a:off x="8336199" y="1871151"/>
            <a:ext cx="320191" cy="275086"/>
            <a:chOff x="8336199" y="1871151"/>
            <a:chExt cx="320191" cy="275086"/>
          </a:xfrm>
        </p:grpSpPr>
        <p:grpSp>
          <p:nvGrpSpPr>
            <p:cNvPr id="26" name="Group 26"/>
            <p:cNvGrpSpPr/>
            <p:nvPr/>
          </p:nvGrpSpPr>
          <p:grpSpPr>
            <a:xfrm>
              <a:off x="8336199" y="1871151"/>
              <a:ext cx="320191" cy="275086"/>
              <a:chOff x="8336199" y="1871151"/>
              <a:chExt cx="320191" cy="275086"/>
            </a:xfrm>
          </p:grpSpPr>
          <p:sp>
            <p:nvSpPr>
              <p:cNvPr id="23" name="Freeform 23"/>
              <p:cNvSpPr/>
              <p:nvPr/>
            </p:nvSpPr>
            <p:spPr>
              <a:xfrm>
                <a:off x="8496300" y="1971675"/>
                <a:ext cx="9525" cy="63500"/>
              </a:xfrm>
              <a:custGeom>
                <a:avLst/>
                <a:gdLst/>
                <a:ahLst/>
                <a:cxnLst/>
                <a:rect l="l" t="t" r="r" b="b"/>
                <a:pathLst>
                  <a:path w="9525" h="63500">
                    <a:moveTo>
                      <a:pt x="0" y="0"/>
                    </a:moveTo>
                    <a:lnTo>
                      <a:pt x="0" y="63500"/>
                    </a:lnTo>
                  </a:path>
                </a:pathLst>
              </a:custGeom>
              <a:noFill/>
              <a:ln w="31750">
                <a:solidFill>
                  <a:schemeClr val="accent2"/>
                </a:solidFill>
              </a:ln>
            </p:spPr>
          </p:sp>
          <p:sp>
            <p:nvSpPr>
              <p:cNvPr id="24" name="Freeform 24"/>
              <p:cNvSpPr/>
              <p:nvPr/>
            </p:nvSpPr>
            <p:spPr>
              <a:xfrm>
                <a:off x="8336199" y="1871151"/>
                <a:ext cx="320191" cy="275086"/>
              </a:xfrm>
              <a:custGeom>
                <a:avLst/>
                <a:gdLst/>
                <a:ahLst/>
                <a:cxnLst/>
                <a:rect l="l" t="t" r="r" b="b"/>
                <a:pathLst>
                  <a:path w="320191" h="275086">
                    <a:moveTo>
                      <a:pt x="134114" y="14656"/>
                    </a:moveTo>
                    <a:lnTo>
                      <a:pt x="5431" y="229509"/>
                    </a:lnTo>
                    <a:cubicBezTo>
                      <a:pt x="33" y="238857"/>
                      <a:pt x="0" y="250368"/>
                      <a:pt x="5345" y="259747"/>
                    </a:cubicBezTo>
                    <a:cubicBezTo>
                      <a:pt x="10689" y="269126"/>
                      <a:pt x="20608" y="274965"/>
                      <a:pt x="31403" y="275086"/>
                    </a:cubicBezTo>
                    <a:lnTo>
                      <a:pt x="288800" y="275086"/>
                    </a:lnTo>
                    <a:cubicBezTo>
                      <a:pt x="299590" y="274962"/>
                      <a:pt x="309504" y="269125"/>
                      <a:pt x="314847" y="259751"/>
                    </a:cubicBezTo>
                    <a:cubicBezTo>
                      <a:pt x="320191" y="250377"/>
                      <a:pt x="320162" y="238872"/>
                      <a:pt x="314772" y="229525"/>
                    </a:cubicBezTo>
                    <a:lnTo>
                      <a:pt x="186089" y="14640"/>
                    </a:lnTo>
                    <a:cubicBezTo>
                      <a:pt x="180583" y="5552"/>
                      <a:pt x="170728" y="0"/>
                      <a:pt x="160102" y="0"/>
                    </a:cubicBezTo>
                    <a:cubicBezTo>
                      <a:pt x="149475" y="0"/>
                      <a:pt x="139620" y="5552"/>
                      <a:pt x="134114" y="14640"/>
                    </a:cubicBezTo>
                  </a:path>
                </a:pathLst>
              </a:custGeom>
              <a:noFill/>
              <a:ln w="31750">
                <a:solidFill>
                  <a:schemeClr val="accent2"/>
                </a:solidFill>
              </a:ln>
            </p:spPr>
          </p:sp>
          <p:sp>
            <p:nvSpPr>
              <p:cNvPr id="25" name="Freeform 25"/>
              <p:cNvSpPr/>
              <p:nvPr/>
            </p:nvSpPr>
            <p:spPr>
              <a:xfrm>
                <a:off x="8496300" y="2082801"/>
                <a:ext cx="9525" cy="9525"/>
              </a:xfrm>
              <a:custGeom>
                <a:avLst/>
                <a:gdLst/>
                <a:ahLst/>
                <a:cxnLst/>
                <a:rect l="l" t="t" r="r" b="b"/>
                <a:pathLst>
                  <a:path w="9525" h="9525">
                    <a:moveTo>
                      <a:pt x="0" y="0"/>
                    </a:moveTo>
                    <a:lnTo>
                      <a:pt x="159" y="0"/>
                    </a:lnTo>
                  </a:path>
                </a:pathLst>
              </a:custGeom>
              <a:noFill/>
              <a:ln w="31750">
                <a:solidFill>
                  <a:schemeClr val="accent2"/>
                </a:solidFill>
              </a:ln>
            </p:spPr>
          </p:sp>
        </p:grpSp>
      </p:grpSp>
      <p:grpSp>
        <p:nvGrpSpPr>
          <p:cNvPr id="29" name="card-note"/>
          <p:cNvGrpSpPr/>
          <p:nvPr/>
        </p:nvGrpSpPr>
        <p:grpSpPr>
          <a:xfrm>
            <a:off x="602742" y="6184900"/>
            <a:ext cx="10319370" cy="492633"/>
            <a:chOff x="602742" y="6184900"/>
            <a:chExt cx="10319370" cy="492633"/>
          </a:xfrm>
        </p:grpSpPr>
        <p:sp>
          <p:nvSpPr>
            <p:cNvPr id="28" name="TextBox 28"/>
            <p:cNvSpPr txBox="1"/>
            <p:nvPr/>
          </p:nvSpPr>
          <p:spPr>
            <a:xfrm>
              <a:off x="602742" y="6184900"/>
              <a:ext cx="10319370" cy="492633"/>
            </a:xfrm>
            <a:prstGeom prst="rect">
              <a:avLst/>
            </a:prstGeom>
            <a:noFill/>
            <a:ln>
              <a:noFill/>
            </a:ln>
          </p:spPr>
          <p:txBody>
            <a:bodyPr wrap="none" lIns="0" tIns="0" rIns="0" bIns="0" anchor="t" anchorCtr="0">
              <a:spAutoFit/>
            </a:bodyPr>
            <a:lstStyle/>
            <a:p>
              <a:pPr algn="l">
                <a:lnSpc>
                  <a:spcPts val="1800"/>
                </a:lnSpc>
              </a:pPr>
              <a:r>
                <a:rPr lang="es-AR" sz="1350" dirty="0">
                  <a:solidFill>
                    <a:schemeClr val="accent5"/>
                  </a:solidFill>
                  <a:latin typeface="+mn-lt"/>
                  <a:ea typeface="+mn-ea"/>
                  <a:cs typeface="+mn-cs"/>
                </a:rPr>
                <a:t>Rectangulares: dejan rayas con la orientación de la ventana (3x31 y 1x61 horizontales; 31x3 y 61x1 verticales); conviene alargarlas en la dirección de</a:t>
              </a:r>
              <a:br>
                <a:rPr lang="es-AR" sz="1350" dirty="0">
                  <a:solidFill>
                    <a:schemeClr val="accent5"/>
                  </a:solidFill>
                  <a:latin typeface="+mn-lt"/>
                  <a:ea typeface="+mn-ea"/>
                  <a:cs typeface="+mn-cs"/>
                </a:rPr>
              </a:br>
              <a:r>
                <a:rPr lang="es-AR" sz="1350" dirty="0">
                  <a:solidFill>
                    <a:schemeClr val="accent5"/>
                  </a:solidFill>
                  <a:latin typeface="+mn-lt"/>
                  <a:ea typeface="+mn-ea"/>
                  <a:cs typeface="+mn-cs"/>
                </a:rPr>
                <a:t>un detalle conocido. El tiempo crece con el tamaño porque en cada píxel se calcula el histograma de M por N valores.</a:t>
              </a:r>
            </a:p>
          </p:txBody>
        </p:sp>
      </p:grpSp>
    </p:spTree>
  </p:cSld>
  <p:clrMapOvr>
    <a:masterClrMapping/>
  </p:clrMapOvr>
  <p:transition p14:dur="400">
    <p:fade/>
  </p:transition>
</p:sld>
</file>

<file path=ppt/slides/slide11.xml><?xml version="1.0" encoding="utf-8"?>
<p:sld xmlns:a="http://schemas.openxmlformats.org/drawingml/2006/main" xmlns:p="http://schemas.openxmlformats.org/presentationml/2006/main" xmlns:p14="http://schemas.microsoft.com/office/powerpoint/2010/main" showMasterSp="1">
  <p:cSld>
    <p:spTree>
      <p:nvGrpSpPr>
        <p:cNvPr id="1" name=""/>
        <p:cNvGrpSpPr/>
        <p:nvPr/>
      </p:nvGrpSpPr>
      <p:grpSpPr>
        <a:xfrm>
          <a:off x="0" y="0"/>
          <a:ext cx="0" cy="0"/>
          <a:chOff x="0" y="0"/>
          <a:chExt cx="0" cy="0"/>
        </a:xfrm>
      </p:grpSpPr>
      <p:sp>
        <p:nvSpPr>
          <p:cNvPr id="8" name="kpi-dashboard-title-slot Placeholder Carrier"/>
          <p:cNvSpPr txBox="1"/>
          <p:nvPr>
            <p:ph type="title"/>
          </p:nvPr>
        </p:nvSpPr>
        <p:spPr>
          <a:xfrm>
            <a:off x="595884" y="527050"/>
            <a:ext cx="6985301" cy="528066"/>
          </a:xfrm>
          <a:prstGeom prst="rect">
            <a:avLst/>
          </a:prstGeom>
          <a:noFill/>
          <a:ln>
            <a:noFill/>
          </a:ln>
        </p:spPr>
        <p:txBody>
          <a:bodyPr wrap="none" lIns="0" tIns="0" rIns="0" bIns="0" anchor="t" anchorCtr="0">
            <a:spAutoFit/>
          </a:bodyPr>
          <a:lstStyle/>
          <a:p>
            <a:pPr algn="l"/>
            <a:r>
              <a:rPr lang="es-AR" sz="2700" b="1" dirty="0">
                <a:solidFill>
                  <a:schemeClr val="accent1"/>
                </a:solidFill>
                <a:latin typeface="+mj-lt"/>
                <a:ea typeface="+mj-ea"/>
                <a:cs typeface="+mj-cs"/>
              </a:rPr>
              <a:t>Probamos con casos válidos e inválidos</a:t>
            </a:r>
          </a:p>
        </p:txBody>
      </p:sp>
      <p:sp>
        <p:nvSpPr>
          <p:cNvPr id="9" name="title-rule"/>
          <p:cNvSpPr/>
          <p:nvPr/>
        </p:nvSpPr>
        <p:spPr>
          <a:xfrm>
            <a:off x="609600" y="1123950"/>
            <a:ext cx="685800" cy="28575"/>
          </a:xfrm>
          <a:prstGeom prst="rect">
            <a:avLst/>
          </a:prstGeom>
          <a:solidFill>
            <a:schemeClr val="accent1"/>
          </a:solidFill>
          <a:ln>
            <a:noFill/>
          </a:ln>
        </p:spPr>
      </p:sp>
      <p:sp>
        <p:nvSpPr>
          <p:cNvPr id="10" name="kpi-dashboard-one-slot Placeholder Carrier"/>
          <p:cNvSpPr txBox="1"/>
          <p:nvPr>
            <p:ph idx="1"/>
          </p:nvPr>
        </p:nvSpPr>
        <p:spPr>
          <a:xfrm>
            <a:off x="755142" y="1784350"/>
            <a:ext cx="2071459" cy="740283"/>
          </a:xfrm>
          <a:prstGeom prst="rect">
            <a:avLst/>
          </a:prstGeom>
          <a:noFill/>
          <a:ln>
            <a:noFill/>
          </a:ln>
        </p:spPr>
        <p:txBody>
          <a:bodyPr wrap="none" lIns="0" tIns="0" rIns="0" bIns="0" anchor="t" anchorCtr="0">
            <a:noAutofit/>
          </a:bodyPr>
          <a:lstStyle/>
          <a:p>
            <a:pPr algn="l" marL="0" indent="0">
              <a:lnSpc>
                <a:spcPts val="1800"/>
              </a:lnSpc>
              <a:buNone/>
            </a:pPr>
            <a:r>
              <a:rPr lang="es-AR" sz="2700" b="1" dirty="0">
                <a:solidFill>
                  <a:schemeClr val="accent1"/>
                </a:solidFill>
                <a:latin typeface="+mj-lt"/>
                <a:ea typeface="+mj-ea"/>
                <a:cs typeface="+mj-cs"/>
              </a:rPr>
              <a:t>0,14 s</a:t>
            </a:r>
          </a:p>
          <a:p>
            <a:pPr algn="l" marL="0" indent="0">
              <a:lnSpc>
                <a:spcPts val="1800"/>
              </a:lnSpc>
              <a:spcBef>
                <a:spcPts val="150"/>
              </a:spcBef>
              <a:buNone/>
            </a:pPr>
            <a:r>
              <a:rPr lang="es-AR" sz="1350" dirty="0">
                <a:solidFill>
                  <a:schemeClr val="accent5"/>
                </a:solidFill>
                <a:latin typeface="+mn-lt"/>
                <a:ea typeface="+mn-ea"/>
                <a:cs typeface="+mn-cs"/>
              </a:rPr>
              <a:t>para 256x256 con ventana de</a:t>
            </a:r>
            <a:br>
              <a:rPr lang="es-AR" sz="1350" dirty="0">
                <a:solidFill>
                  <a:schemeClr val="accent5"/>
                </a:solidFill>
                <a:latin typeface="+mn-lt"/>
                <a:ea typeface="+mn-ea"/>
                <a:cs typeface="+mn-cs"/>
              </a:rPr>
            </a:br>
            <a:r>
              <a:rPr lang="es-AR" sz="1350" dirty="0">
                <a:solidFill>
                  <a:schemeClr val="accent5"/>
                </a:solidFill>
                <a:latin typeface="+mn-lt"/>
                <a:ea typeface="+mn-ea"/>
                <a:cs typeface="+mn-cs"/>
              </a:rPr>
              <a:t>15x15</a:t>
            </a:r>
          </a:p>
        </p:txBody>
      </p:sp>
      <p:sp>
        <p:nvSpPr>
          <p:cNvPr id="11" name="kpi-dashboard-two-slot Placeholder Carrier"/>
          <p:cNvSpPr txBox="1"/>
          <p:nvPr>
            <p:ph idx="2"/>
          </p:nvPr>
        </p:nvSpPr>
        <p:spPr>
          <a:xfrm>
            <a:off x="3574542" y="1771650"/>
            <a:ext cx="1834515" cy="511683"/>
          </a:xfrm>
          <a:prstGeom prst="rect">
            <a:avLst/>
          </a:prstGeom>
          <a:noFill/>
          <a:ln>
            <a:noFill/>
          </a:ln>
        </p:spPr>
        <p:txBody>
          <a:bodyPr wrap="none" lIns="0" tIns="0" rIns="0" bIns="0" anchor="t" anchorCtr="0">
            <a:noAutofit/>
          </a:bodyPr>
          <a:lstStyle/>
          <a:p>
            <a:pPr algn="l" marL="0" indent="0">
              <a:lnSpc>
                <a:spcPts val="1950"/>
              </a:lnSpc>
              <a:buNone/>
            </a:pPr>
            <a:r>
              <a:rPr lang="es-AR" sz="2700" b="1" dirty="0">
                <a:solidFill>
                  <a:schemeClr val="accent1"/>
                </a:solidFill>
                <a:latin typeface="+mj-lt"/>
                <a:ea typeface="+mj-ea"/>
                <a:cs typeface="+mj-cs"/>
              </a:rPr>
              <a:t>65.536</a:t>
            </a:r>
          </a:p>
          <a:p>
            <a:pPr algn="l" marL="0" indent="0">
              <a:lnSpc>
                <a:spcPts val="1950"/>
              </a:lnSpc>
              <a:buNone/>
            </a:pPr>
            <a:r>
              <a:rPr lang="es-AR" sz="1350" dirty="0">
                <a:solidFill>
                  <a:schemeClr val="accent5"/>
                </a:solidFill>
                <a:latin typeface="+mn-lt"/>
                <a:ea typeface="+mn-ea"/>
                <a:cs typeface="+mn-cs"/>
              </a:rPr>
              <a:t>ecualizaciones de ventana</a:t>
            </a:r>
          </a:p>
        </p:txBody>
      </p:sp>
      <p:sp>
        <p:nvSpPr>
          <p:cNvPr id="12" name="kpi-dashboard-three-slot Placeholder Carrier"/>
          <p:cNvSpPr txBox="1"/>
          <p:nvPr>
            <p:ph idx="3"/>
          </p:nvPr>
        </p:nvSpPr>
        <p:spPr>
          <a:xfrm>
            <a:off x="6393942" y="1784350"/>
            <a:ext cx="1888487" cy="740283"/>
          </a:xfrm>
          <a:prstGeom prst="rect">
            <a:avLst/>
          </a:prstGeom>
          <a:noFill/>
          <a:ln>
            <a:noFill/>
          </a:ln>
        </p:spPr>
        <p:txBody>
          <a:bodyPr wrap="none" lIns="0" tIns="0" rIns="0" bIns="0" anchor="t" anchorCtr="0">
            <a:noAutofit/>
          </a:bodyPr>
          <a:lstStyle/>
          <a:p>
            <a:pPr algn="l" marL="0" indent="0">
              <a:lnSpc>
                <a:spcPts val="1800"/>
              </a:lnSpc>
              <a:buNone/>
            </a:pPr>
            <a:r>
              <a:rPr lang="es-AR" sz="2700" b="1" dirty="0">
                <a:solidFill>
                  <a:schemeClr val="accent3"/>
                </a:solidFill>
                <a:latin typeface="+mj-lt"/>
                <a:ea typeface="+mj-ea"/>
                <a:cs typeface="+mj-cs"/>
              </a:rPr>
              <a:t>5 → 255</a:t>
            </a:r>
          </a:p>
          <a:p>
            <a:pPr algn="l" marL="0" indent="0">
              <a:lnSpc>
                <a:spcPts val="1800"/>
              </a:lnSpc>
              <a:spcBef>
                <a:spcPts val="150"/>
              </a:spcBef>
              <a:buNone/>
            </a:pPr>
            <a:r>
              <a:rPr lang="es-AR" sz="1350" dirty="0">
                <a:solidFill>
                  <a:schemeClr val="accent5"/>
                </a:solidFill>
                <a:latin typeface="+mn-lt"/>
                <a:ea typeface="+mn-ea"/>
                <a:cs typeface="+mn-cs"/>
              </a:rPr>
              <a:t>cuadrado sintético, antes y</a:t>
            </a:r>
            <a:br>
              <a:rPr lang="es-AR" sz="1350" dirty="0">
                <a:solidFill>
                  <a:schemeClr val="accent5"/>
                </a:solidFill>
                <a:latin typeface="+mn-lt"/>
                <a:ea typeface="+mn-ea"/>
                <a:cs typeface="+mn-cs"/>
              </a:rPr>
            </a:br>
            <a:r>
              <a:rPr lang="es-AR" sz="1350" dirty="0">
                <a:solidFill>
                  <a:schemeClr val="accent5"/>
                </a:solidFill>
                <a:latin typeface="+mn-lt"/>
                <a:ea typeface="+mn-ea"/>
                <a:cs typeface="+mn-cs"/>
              </a:rPr>
              <a:t>después</a:t>
            </a:r>
          </a:p>
        </p:txBody>
      </p:sp>
      <p:sp>
        <p:nvSpPr>
          <p:cNvPr id="13" name="kpi-dashboard-four-slot Placeholder Carrier"/>
          <p:cNvSpPr txBox="1"/>
          <p:nvPr>
            <p:ph idx="4"/>
          </p:nvPr>
        </p:nvSpPr>
        <p:spPr>
          <a:xfrm>
            <a:off x="9213342" y="1784350"/>
            <a:ext cx="1853460" cy="740283"/>
          </a:xfrm>
          <a:prstGeom prst="rect">
            <a:avLst/>
          </a:prstGeom>
          <a:noFill/>
          <a:ln>
            <a:noFill/>
          </a:ln>
        </p:spPr>
        <p:txBody>
          <a:bodyPr wrap="none" lIns="0" tIns="0" rIns="0" bIns="0" anchor="t" anchorCtr="0">
            <a:noAutofit/>
          </a:bodyPr>
          <a:lstStyle/>
          <a:p>
            <a:pPr algn="l" marL="0" indent="0">
              <a:lnSpc>
                <a:spcPts val="1800"/>
              </a:lnSpc>
              <a:buNone/>
            </a:pPr>
            <a:r>
              <a:rPr lang="es-AR" sz="2700" b="1" dirty="0">
                <a:solidFill>
                  <a:schemeClr val="accent2"/>
                </a:solidFill>
                <a:latin typeface="+mj-lt"/>
                <a:ea typeface="+mj-ea"/>
                <a:cs typeface="+mj-cs"/>
              </a:rPr>
              <a:t>Error</a:t>
            </a:r>
          </a:p>
          <a:p>
            <a:pPr algn="l" marL="0" indent="0">
              <a:lnSpc>
                <a:spcPts val="1800"/>
              </a:lnSpc>
              <a:spcBef>
                <a:spcPts val="150"/>
              </a:spcBef>
              <a:buNone/>
            </a:pPr>
            <a:r>
              <a:rPr lang="es-AR" sz="1350" dirty="0">
                <a:solidFill>
                  <a:schemeClr val="accent5"/>
                </a:solidFill>
                <a:latin typeface="+mn-lt"/>
                <a:ea typeface="+mn-ea"/>
                <a:cs typeface="+mn-cs"/>
              </a:rPr>
              <a:t>con tamaños pares, cero o</a:t>
            </a:r>
            <a:br>
              <a:rPr lang="es-AR" sz="1350" dirty="0">
                <a:solidFill>
                  <a:schemeClr val="accent5"/>
                </a:solidFill>
                <a:latin typeface="+mn-lt"/>
                <a:ea typeface="+mn-ea"/>
                <a:cs typeface="+mn-cs"/>
              </a:rPr>
            </a:br>
            <a:r>
              <a:rPr lang="es-AR" sz="1350" dirty="0">
                <a:solidFill>
                  <a:schemeClr val="accent5"/>
                </a:solidFill>
                <a:latin typeface="+mn-lt"/>
                <a:ea typeface="+mn-ea"/>
                <a:cs typeface="+mn-cs"/>
              </a:rPr>
              <a:t>decimales</a:t>
            </a:r>
          </a:p>
        </p:txBody>
      </p:sp>
      <p:sp>
        <p:nvSpPr>
          <p:cNvPr id="14" name="kpi-dashboard-evidence-slot Placeholder Carrier"/>
          <p:cNvSpPr txBox="1"/>
          <p:nvPr>
            <p:ph idx="5"/>
          </p:nvPr>
        </p:nvSpPr>
        <p:spPr>
          <a:xfrm>
            <a:off x="829056" y="3276600"/>
            <a:ext cx="8125819" cy="1971294"/>
          </a:xfrm>
          <a:prstGeom prst="rect">
            <a:avLst/>
          </a:prstGeom>
          <a:noFill/>
          <a:ln>
            <a:noFill/>
          </a:ln>
        </p:spPr>
        <p:txBody>
          <a:bodyPr wrap="none" lIns="0" tIns="0" rIns="0" bIns="0" anchor="t" anchorCtr="0">
            <a:noAutofit/>
          </a:bodyPr>
          <a:lstStyle/>
          <a:p>
            <a:pPr algn="l" marL="0" indent="0">
              <a:lnSpc>
                <a:spcPts val="3150"/>
              </a:lnSpc>
              <a:buNone/>
            </a:pPr>
            <a:r>
              <a:rPr lang="es-AR" sz="2100" b="1" dirty="0">
                <a:solidFill>
                  <a:schemeClr val="accent1"/>
                </a:solidFill>
                <a:latin typeface="+mn-lt"/>
                <a:ea typeface="+mn-ea"/>
                <a:cs typeface="+mn-cs"/>
              </a:rPr>
              <a:t>Qué verificamos</a:t>
            </a:r>
          </a:p>
          <a:p>
            <a:pPr algn="l" marL="0" indent="0">
              <a:lnSpc>
                <a:spcPts val="3150"/>
              </a:lnSpc>
              <a:spcBef>
                <a:spcPts val="150"/>
              </a:spcBef>
              <a:buNone/>
            </a:pPr>
            <a:r>
              <a:rPr lang="es-AR" sz="1650" dirty="0">
                <a:solidFill>
                  <a:schemeClr val="dk1"/>
                </a:solidFill>
                <a:latin typeface="+mn-lt"/>
                <a:ea typeface="+mn-ea"/>
                <a:cs typeface="+mn-cs"/>
              </a:rPr>
              <a:t>Tiempo: 0,14 s para la imagen del TP (256x256) con ventana de 15x15.</a:t>
            </a:r>
            <a:br>
              <a:rPr lang="es-AR" sz="1650" dirty="0">
                <a:solidFill>
                  <a:schemeClr val="dk1"/>
                </a:solidFill>
                <a:latin typeface="+mn-lt"/>
                <a:ea typeface="+mn-ea"/>
                <a:cs typeface="+mn-cs"/>
              </a:rPr>
            </a:br>
            <a:r>
              <a:rPr lang="es-AR" sz="1650" dirty="0">
                <a:solidFill>
                  <a:schemeClr val="dk1"/>
                </a:solidFill>
                <a:latin typeface="+mn-lt"/>
                <a:ea typeface="+mn-ea"/>
                <a:cs typeface="+mn-cs"/>
              </a:rPr>
              <a:t>Tamaños inválidos: los pares, el cero y los decimales se rechazan con un error.</a:t>
            </a:r>
            <a:br>
              <a:rPr lang="es-AR" sz="1650" dirty="0">
                <a:solidFill>
                  <a:schemeClr val="dk1"/>
                </a:solidFill>
                <a:latin typeface="+mn-lt"/>
                <a:ea typeface="+mn-ea"/>
                <a:cs typeface="+mn-cs"/>
              </a:rPr>
            </a:br>
            <a:r>
              <a:rPr lang="es-AR" sz="1650" dirty="0">
                <a:solidFill>
                  <a:schemeClr val="dk1"/>
                </a:solidFill>
                <a:latin typeface="+mn-lt"/>
                <a:ea typeface="+mn-ea"/>
                <a:cs typeface="+mn-cs"/>
              </a:rPr>
              <a:t>Caso sintético: un cuadrado con 5 niveles de diferencia llega a 255 después de la ecualización.</a:t>
            </a:r>
            <a:br>
              <a:rPr lang="es-AR" sz="1650" dirty="0">
                <a:solidFill>
                  <a:schemeClr val="dk1"/>
                </a:solidFill>
                <a:latin typeface="+mn-lt"/>
                <a:ea typeface="+mn-ea"/>
                <a:cs typeface="+mn-cs"/>
              </a:rPr>
            </a:br>
            <a:r>
              <a:rPr lang="es-AR" sz="1650" dirty="0">
                <a:solidFill>
                  <a:schemeClr val="dk1"/>
                </a:solidFill>
                <a:latin typeface="+mn-lt"/>
                <a:ea typeface="+mn-ea"/>
                <a:cs typeface="+mn-cs"/>
              </a:rPr>
              <a:t>Tamaño de salida: siempre igual al de la entrada, también con ventanas rectangulares y de 1x1.</a:t>
            </a:r>
          </a:p>
        </p:txBody>
      </p:sp>
    </p:spTree>
  </p:cSld>
  <p:clrMapOvr>
    <a:masterClrMapping/>
  </p:clrMapOvr>
  <p:transition p14:dur="400">
    <p:fade/>
  </p:transition>
</p:sld>
</file>

<file path=ppt/slides/slide12.xml><?xml version="1.0" encoding="utf-8"?>
<p:sld xmlns:a="http://schemas.openxmlformats.org/drawingml/2006/main" xmlns:p="http://schemas.openxmlformats.org/presentationml/2006/main" xmlns:p14="http://schemas.microsoft.com/office/powerpoint/2010/main" xmlns:r="http://schemas.openxmlformats.org/officeDocument/2006/relationships" showMasterSp="1">
  <p:cSld>
    <p:spTree>
      <p:nvGrpSpPr>
        <p:cNvPr id="1" name=""/>
        <p:cNvGrpSpPr/>
        <p:nvPr/>
      </p:nvGrpSpPr>
      <p:grpSpPr>
        <a:xfrm>
          <a:off x="0" y="0"/>
          <a:ext cx="0" cy="0"/>
          <a:chOff x="0" y="0"/>
          <a:chExt cx="0" cy="0"/>
        </a:xfrm>
      </p:grpSpPr>
      <p:sp>
        <p:nvSpPr>
          <p:cNvPr id="6" name="data-story-title-slot Placeholder Carrier"/>
          <p:cNvSpPr txBox="1"/>
          <p:nvPr>
            <p:ph type="title"/>
          </p:nvPr>
        </p:nvSpPr>
        <p:spPr>
          <a:xfrm>
            <a:off x="595884" y="527050"/>
            <a:ext cx="6926893" cy="528066"/>
          </a:xfrm>
          <a:prstGeom prst="rect">
            <a:avLst/>
          </a:prstGeom>
          <a:noFill/>
          <a:ln>
            <a:noFill/>
          </a:ln>
        </p:spPr>
        <p:txBody>
          <a:bodyPr wrap="none" lIns="0" tIns="0" rIns="0" bIns="0" anchor="t" anchorCtr="0">
            <a:spAutoFit/>
          </a:bodyPr>
          <a:lstStyle/>
          <a:p>
            <a:pPr algn="l"/>
            <a:r>
              <a:rPr lang="es-AR" sz="2700" b="1" dirty="0">
                <a:solidFill>
                  <a:schemeClr val="accent1"/>
                </a:solidFill>
                <a:latin typeface="+mj-lt"/>
                <a:ea typeface="+mj-ea"/>
                <a:cs typeface="+mj-cs"/>
              </a:rPr>
              <a:t>De la planilla a los campos: cinco pasos</a:t>
            </a:r>
          </a:p>
        </p:txBody>
      </p:sp>
      <p:sp>
        <p:nvSpPr>
          <p:cNvPr id="7" name="title-rule"/>
          <p:cNvSpPr/>
          <p:nvPr/>
        </p:nvSpPr>
        <p:spPr>
          <a:xfrm>
            <a:off x="609600" y="1123950"/>
            <a:ext cx="685800" cy="28575"/>
          </a:xfrm>
          <a:prstGeom prst="rect">
            <a:avLst/>
          </a:prstGeom>
          <a:solidFill>
            <a:schemeClr val="accent1"/>
          </a:solidFill>
          <a:ln>
            <a:noFill/>
          </a:ln>
        </p:spPr>
      </p:sp>
      <p:grpSp>
        <p:nvGrpSpPr>
          <p:cNvPr id="9" name="fig10-group"/>
          <p:cNvGrpSpPr/>
          <p:nvPr/>
        </p:nvGrpSpPr>
        <p:grpSpPr>
          <a:xfrm>
            <a:off x="838200" y="1812199"/>
            <a:ext cx="6781800" cy="3100251"/>
            <a:chOff x="838200" y="1812199"/>
            <a:chExt cx="6781800" cy="3100251"/>
          </a:xfrm>
        </p:grpSpPr>
        <p:pic>
          <p:nvPicPr>
            <p:cNvPr id="8" name="fig10-imagen"/>
            <p:cNvPicPr>
              <a:picLocks noChangeAspect="1"/>
            </p:cNvPicPr>
            <p:nvPr/>
          </p:nvPicPr>
          <p:blipFill>
            <a:blip r:embed="rId2"/>
            <a:stretch>
              <a:fillRect/>
            </a:stretch>
          </p:blipFill>
          <p:spPr>
            <a:xfrm>
              <a:off x="838200" y="1812199"/>
              <a:ext cx="6781800" cy="3100251"/>
            </a:xfrm>
            <a:prstGeom prst="rect">
              <a:avLst/>
            </a:prstGeom>
          </p:spPr>
        </p:pic>
      </p:grpSp>
      <p:sp>
        <p:nvSpPr>
          <p:cNvPr id="10" name="data-story-evidence-slot Placeholder Carrier"/>
          <p:cNvSpPr txBox="1"/>
          <p:nvPr>
            <p:ph idx="1"/>
          </p:nvPr>
        </p:nvSpPr>
        <p:spPr>
          <a:xfrm>
            <a:off x="831342" y="5041900"/>
            <a:ext cx="5463906" cy="492633"/>
          </a:xfrm>
          <a:prstGeom prst="rect">
            <a:avLst/>
          </a:prstGeom>
          <a:noFill/>
          <a:ln>
            <a:noFill/>
          </a:ln>
        </p:spPr>
        <p:txBody>
          <a:bodyPr wrap="none" lIns="0" tIns="0" rIns="0" bIns="0" anchor="t" anchorCtr="0">
            <a:noAutofit/>
          </a:bodyPr>
          <a:lstStyle/>
          <a:p>
            <a:pPr algn="l" marL="0" indent="0">
              <a:lnSpc>
                <a:spcPts val="1800"/>
              </a:lnSpc>
              <a:buNone/>
            </a:pPr>
            <a:r>
              <a:rPr lang="es-AR" sz="1350" dirty="0">
                <a:solidFill>
                  <a:schemeClr val="accent5"/>
                </a:solidFill>
                <a:latin typeface="+mn-lt"/>
                <a:ea typeface="+mn-ea"/>
                <a:cs typeface="+mn-cs"/>
              </a:rPr>
              <a:t>Planilla 1 en grises y umbralada con el valor 150.</a:t>
            </a:r>
            <a:br>
              <a:rPr lang="es-AR" sz="1350" dirty="0">
                <a:solidFill>
                  <a:schemeClr val="accent5"/>
                </a:solidFill>
                <a:latin typeface="+mn-lt"/>
                <a:ea typeface="+mn-ea"/>
                <a:cs typeface="+mn-cs"/>
              </a:rPr>
            </a:br>
            <a:r>
              <a:rPr lang="es-AR" sz="1350" dirty="0">
                <a:solidFill>
                  <a:schemeClr val="accent5"/>
                </a:solidFill>
                <a:latin typeface="+mn-lt"/>
                <a:ea typeface="+mn-ea"/>
                <a:cs typeface="+mn-cs"/>
              </a:rPr>
              <a:t>Las cuatro planillas miden 1107x867, 1029x869, 1106x869 y 917x1082 píxeles.</a:t>
            </a:r>
          </a:p>
        </p:txBody>
      </p:sp>
      <p:sp>
        <p:nvSpPr>
          <p:cNvPr id="11" name="data-story-insight-slot Placeholder Carrier"/>
          <p:cNvSpPr txBox="1"/>
          <p:nvPr>
            <p:ph type="body" idx="2"/>
          </p:nvPr>
        </p:nvSpPr>
        <p:spPr>
          <a:xfrm>
            <a:off x="8449056" y="1943100"/>
            <a:ext cx="2328996" cy="3009519"/>
          </a:xfrm>
          <a:prstGeom prst="rect">
            <a:avLst/>
          </a:prstGeom>
          <a:noFill/>
          <a:ln>
            <a:noFill/>
          </a:ln>
        </p:spPr>
        <p:txBody>
          <a:bodyPr wrap="none" lIns="0" tIns="0" rIns="0" bIns="0" anchor="t" anchorCtr="0">
            <a:noAutofit/>
          </a:bodyPr>
          <a:lstStyle/>
          <a:p>
            <a:pPr algn="l" marL="0" indent="0">
              <a:lnSpc>
                <a:spcPts val="2025"/>
              </a:lnSpc>
              <a:buNone/>
            </a:pPr>
            <a:r>
              <a:rPr lang="es-AR" sz="1500" b="1" dirty="0">
                <a:solidFill>
                  <a:schemeClr val="accent1"/>
                </a:solidFill>
                <a:latin typeface="+mn-lt"/>
                <a:ea typeface="+mn-ea"/>
                <a:cs typeface="+mn-cs"/>
              </a:rPr>
              <a:t>1. Umbralar</a:t>
            </a:r>
            <a:br>
              <a:rPr lang="es-AR" sz="1500" b="1" dirty="0">
                <a:solidFill>
                  <a:schemeClr val="accent1"/>
                </a:solidFill>
                <a:latin typeface="+mn-lt"/>
                <a:ea typeface="+mn-ea"/>
                <a:cs typeface="+mn-cs"/>
              </a:rPr>
            </a:br>
            <a:r>
              <a:rPr lang="es-AR" sz="1500" dirty="0">
                <a:solidFill>
                  <a:schemeClr val="dk1"/>
                </a:solidFill>
                <a:latin typeface="+mn-lt"/>
                <a:ea typeface="+mn-ea"/>
                <a:cs typeface="+mn-cs"/>
              </a:rPr>
              <a:t>texto negro, márgenes fuera.</a:t>
            </a:r>
          </a:p>
          <a:p>
            <a:pPr algn="l" marL="0" indent="0">
              <a:lnSpc>
                <a:spcPts val="2025"/>
              </a:lnSpc>
              <a:spcBef>
                <a:spcPts val="675"/>
              </a:spcBef>
              <a:buNone/>
            </a:pPr>
            <a:r>
              <a:rPr lang="es-AR" sz="1500" b="1" dirty="0">
                <a:solidFill>
                  <a:schemeClr val="accent1"/>
                </a:solidFill>
                <a:latin typeface="+mn-lt"/>
                <a:ea typeface="+mn-ea"/>
                <a:cs typeface="+mn-cs"/>
              </a:rPr>
              <a:t>2. Buscar líneas</a:t>
            </a:r>
            <a:br>
              <a:rPr lang="es-AR" sz="1500" b="1" dirty="0">
                <a:solidFill>
                  <a:schemeClr val="accent1"/>
                </a:solidFill>
                <a:latin typeface="+mn-lt"/>
                <a:ea typeface="+mn-ea"/>
                <a:cs typeface="+mn-cs"/>
              </a:rPr>
            </a:br>
            <a:r>
              <a:rPr lang="es-AR" sz="1500" dirty="0">
                <a:solidFill>
                  <a:schemeClr val="dk1"/>
                </a:solidFill>
                <a:latin typeface="+mn-lt"/>
                <a:ea typeface="+mn-ea"/>
                <a:cs typeface="+mn-cs"/>
              </a:rPr>
              <a:t>22 horizontales y 8 verticales.</a:t>
            </a:r>
          </a:p>
          <a:p>
            <a:pPr algn="l" marL="0" indent="0">
              <a:lnSpc>
                <a:spcPts val="2025"/>
              </a:lnSpc>
              <a:spcBef>
                <a:spcPts val="675"/>
              </a:spcBef>
              <a:buNone/>
            </a:pPr>
            <a:r>
              <a:rPr lang="es-AR" sz="1500" b="1" dirty="0">
                <a:solidFill>
                  <a:schemeClr val="accent1"/>
                </a:solidFill>
                <a:latin typeface="+mn-lt"/>
                <a:ea typeface="+mn-ea"/>
                <a:cs typeface="+mn-cs"/>
              </a:rPr>
              <a:t>3. Recortar celdas</a:t>
            </a:r>
            <a:br>
              <a:rPr lang="es-AR" sz="1500" b="1" dirty="0">
                <a:solidFill>
                  <a:schemeClr val="accent1"/>
                </a:solidFill>
                <a:latin typeface="+mn-lt"/>
                <a:ea typeface="+mn-ea"/>
                <a:cs typeface="+mn-cs"/>
              </a:rPr>
            </a:br>
            <a:r>
              <a:rPr lang="es-AR" sz="1500" dirty="0">
                <a:solidFill>
                  <a:schemeClr val="dk1"/>
                </a:solidFill>
                <a:latin typeface="+mn-lt"/>
                <a:ea typeface="+mn-ea"/>
                <a:cs typeface="+mn-cs"/>
              </a:rPr>
              <a:t>entre dos líneas consecutivas.</a:t>
            </a:r>
          </a:p>
          <a:p>
            <a:pPr algn="l" marL="0" indent="0">
              <a:lnSpc>
                <a:spcPts val="2025"/>
              </a:lnSpc>
              <a:spcBef>
                <a:spcPts val="675"/>
              </a:spcBef>
              <a:buNone/>
            </a:pPr>
            <a:r>
              <a:rPr lang="es-AR" sz="1500" b="1" dirty="0">
                <a:solidFill>
                  <a:schemeClr val="accent1"/>
                </a:solidFill>
                <a:latin typeface="+mn-lt"/>
                <a:ea typeface="+mn-ea"/>
                <a:cs typeface="+mn-cs"/>
              </a:rPr>
              <a:t>4. Separar caracteres</a:t>
            </a:r>
            <a:br>
              <a:rPr lang="es-AR" sz="1500" b="1" dirty="0">
                <a:solidFill>
                  <a:schemeClr val="accent1"/>
                </a:solidFill>
                <a:latin typeface="+mn-lt"/>
                <a:ea typeface="+mn-ea"/>
                <a:cs typeface="+mn-cs"/>
              </a:rPr>
            </a:br>
            <a:r>
              <a:rPr lang="es-AR" sz="1500" dirty="0">
                <a:solidFill>
                  <a:schemeClr val="dk1"/>
                </a:solidFill>
                <a:latin typeface="+mn-lt"/>
                <a:ea typeface="+mn-ea"/>
                <a:cs typeface="+mn-cs"/>
              </a:rPr>
              <a:t>componentes conectadas.</a:t>
            </a:r>
          </a:p>
          <a:p>
            <a:pPr algn="l" marL="0" indent="0">
              <a:lnSpc>
                <a:spcPts val="2025"/>
              </a:lnSpc>
              <a:spcBef>
                <a:spcPts val="675"/>
              </a:spcBef>
              <a:buNone/>
            </a:pPr>
            <a:r>
              <a:rPr lang="es-AR" sz="1500" b="1" dirty="0">
                <a:solidFill>
                  <a:schemeClr val="accent1"/>
                </a:solidFill>
                <a:latin typeface="+mn-lt"/>
                <a:ea typeface="+mn-ea"/>
                <a:cs typeface="+mn-cs"/>
              </a:rPr>
              <a:t>5. Aplicar reglas</a:t>
            </a:r>
            <a:br>
              <a:rPr lang="es-AR" sz="1500" b="1" dirty="0">
                <a:solidFill>
                  <a:schemeClr val="accent1"/>
                </a:solidFill>
                <a:latin typeface="+mn-lt"/>
                <a:ea typeface="+mn-ea"/>
                <a:cs typeface="+mn-cs"/>
              </a:rPr>
            </a:br>
            <a:r>
              <a:rPr lang="es-AR" sz="1500" dirty="0">
                <a:solidFill>
                  <a:schemeClr val="dk1"/>
                </a:solidFill>
                <a:latin typeface="+mn-lt"/>
                <a:ea typeface="+mn-ea"/>
                <a:cs typeface="+mn-cs"/>
              </a:rPr>
              <a:t>contar y distinguir L, R y A.</a:t>
            </a:r>
          </a:p>
        </p:txBody>
      </p:sp>
      <p:sp>
        <p:nvSpPr>
          <p:cNvPr id="12" name="data-story-source-slot Placeholder Carrier"/>
          <p:cNvSpPr txBox="1"/>
          <p:nvPr>
            <p:ph type="ftr" idx="3"/>
          </p:nvPr>
        </p:nvSpPr>
        <p:spPr>
          <a:xfrm>
            <a:off x="604266" y="6254750"/>
            <a:ext cx="1692736" cy="205359"/>
          </a:xfrm>
          <a:prstGeom prst="rect">
            <a:avLst/>
          </a:prstGeom>
          <a:noFill/>
          <a:ln>
            <a:noFill/>
          </a:ln>
        </p:spPr>
        <p:txBody>
          <a:bodyPr wrap="none" lIns="0" tIns="0" rIns="0" bIns="0" anchor="t" anchorCtr="0">
            <a:spAutoFit/>
          </a:bodyPr>
          <a:lstStyle/>
          <a:p>
            <a:pPr algn="l"/>
            <a:r>
              <a:rPr lang="es-AR" sz="1050" dirty="0">
                <a:solidFill>
                  <a:schemeClr val="accent5"/>
                </a:solidFill>
                <a:latin typeface="+mn-lt"/>
                <a:ea typeface="+mn-ea"/>
                <a:cs typeface="+mn-cs"/>
              </a:rPr>
              <a:t>Fuente: figura 10 del informe</a:t>
            </a:r>
          </a:p>
        </p:txBody>
      </p:sp>
    </p:spTree>
  </p:cSld>
  <p:clrMapOvr>
    <a:masterClrMapping/>
  </p:clrMapOvr>
  <p:transition p14:dur="400">
    <p:fade/>
  </p:transition>
</p:sld>
</file>

<file path=ppt/slides/slide13.xml><?xml version="1.0" encoding="utf-8"?>
<p:sld xmlns:a="http://schemas.openxmlformats.org/drawingml/2006/main" xmlns:p="http://schemas.openxmlformats.org/presentationml/2006/main" xmlns:p14="http://schemas.microsoft.com/office/powerpoint/2010/main" xmlns:r="http://schemas.openxmlformats.org/officeDocument/2006/relationships" showMasterSp="1">
  <p:cSld>
    <p:spTree>
      <p:nvGrpSpPr>
        <p:cNvPr id="1" name=""/>
        <p:cNvGrpSpPr/>
        <p:nvPr/>
      </p:nvGrpSpPr>
      <p:grpSpPr>
        <a:xfrm>
          <a:off x="0" y="0"/>
          <a:ext cx="0" cy="0"/>
          <a:chOff x="0" y="0"/>
          <a:chExt cx="0" cy="0"/>
        </a:xfrm>
      </p:grpSpPr>
      <p:sp>
        <p:nvSpPr>
          <p:cNvPr id="6" name="data-story-title-slot Placeholder Carrier"/>
          <p:cNvSpPr txBox="1"/>
          <p:nvPr>
            <p:ph type="title"/>
          </p:nvPr>
        </p:nvSpPr>
        <p:spPr>
          <a:xfrm>
            <a:off x="595884" y="527050"/>
            <a:ext cx="7051438" cy="528066"/>
          </a:xfrm>
          <a:prstGeom prst="rect">
            <a:avLst/>
          </a:prstGeom>
          <a:noFill/>
          <a:ln>
            <a:noFill/>
          </a:ln>
        </p:spPr>
        <p:txBody>
          <a:bodyPr wrap="none" lIns="0" tIns="0" rIns="0" bIns="0" anchor="t" anchorCtr="0">
            <a:spAutoFit/>
          </a:bodyPr>
          <a:lstStyle/>
          <a:p>
            <a:pPr algn="l"/>
            <a:r>
              <a:rPr lang="es-AR" sz="2700" b="1" dirty="0">
                <a:solidFill>
                  <a:schemeClr val="accent1"/>
                </a:solidFill>
                <a:latin typeface="+mj-lt"/>
                <a:ea typeface="+mj-ea"/>
                <a:cs typeface="+mj-cs"/>
              </a:rPr>
              <a:t>Las líneas de la tabla salen de las sumas</a:t>
            </a:r>
          </a:p>
        </p:txBody>
      </p:sp>
      <p:sp>
        <p:nvSpPr>
          <p:cNvPr id="7" name="title-rule"/>
          <p:cNvSpPr/>
          <p:nvPr/>
        </p:nvSpPr>
        <p:spPr>
          <a:xfrm>
            <a:off x="609600" y="1123950"/>
            <a:ext cx="685800" cy="28575"/>
          </a:xfrm>
          <a:prstGeom prst="rect">
            <a:avLst/>
          </a:prstGeom>
          <a:solidFill>
            <a:schemeClr val="accent1"/>
          </a:solidFill>
          <a:ln>
            <a:noFill/>
          </a:ln>
        </p:spPr>
      </p:sp>
      <p:grpSp>
        <p:nvGrpSpPr>
          <p:cNvPr id="9" name="fig11-group"/>
          <p:cNvGrpSpPr/>
          <p:nvPr/>
        </p:nvGrpSpPr>
        <p:grpSpPr>
          <a:xfrm>
            <a:off x="838200" y="1809750"/>
            <a:ext cx="6096000" cy="1743075"/>
            <a:chOff x="838200" y="1809750"/>
            <a:chExt cx="6096000" cy="1743075"/>
          </a:xfrm>
        </p:grpSpPr>
        <p:pic>
          <p:nvPicPr>
            <p:cNvPr id="8" name="fig11-imagen"/>
            <p:cNvPicPr>
              <a:picLocks noChangeAspect="1"/>
            </p:cNvPicPr>
            <p:nvPr/>
          </p:nvPicPr>
          <p:blipFill>
            <a:blip r:embed="rId2"/>
            <a:stretch>
              <a:fillRect/>
            </a:stretch>
          </p:blipFill>
          <p:spPr>
            <a:xfrm>
              <a:off x="838200" y="1809750"/>
              <a:ext cx="6096000" cy="1743075"/>
            </a:xfrm>
            <a:prstGeom prst="rect">
              <a:avLst/>
            </a:prstGeom>
          </p:spPr>
        </p:pic>
      </p:grpSp>
      <p:grpSp>
        <p:nvGrpSpPr>
          <p:cNvPr id="11" name="resultado-group"/>
          <p:cNvGrpSpPr/>
          <p:nvPr/>
        </p:nvGrpSpPr>
        <p:grpSpPr>
          <a:xfrm>
            <a:off x="830580" y="4038600"/>
            <a:ext cx="6344545" cy="1160145"/>
            <a:chOff x="830580" y="4038600"/>
            <a:chExt cx="6344545" cy="1160145"/>
          </a:xfrm>
        </p:grpSpPr>
        <p:sp>
          <p:nvSpPr>
            <p:cNvPr id="10" name="TextBox 10"/>
            <p:cNvSpPr txBox="1"/>
            <p:nvPr/>
          </p:nvSpPr>
          <p:spPr>
            <a:xfrm>
              <a:off x="830580" y="4038600"/>
              <a:ext cx="6344545" cy="1160145"/>
            </a:xfrm>
            <a:prstGeom prst="rect">
              <a:avLst/>
            </a:prstGeom>
            <a:noFill/>
            <a:ln>
              <a:noFill/>
            </a:ln>
          </p:spPr>
          <p:txBody>
            <a:bodyPr wrap="none" lIns="0" tIns="0" rIns="0" bIns="0" anchor="t" anchorCtr="0">
              <a:spAutoFit/>
            </a:bodyPr>
            <a:lstStyle/>
            <a:p>
              <a:pPr algn="l">
                <a:lnSpc>
                  <a:spcPts val="2025"/>
                </a:lnSpc>
              </a:pPr>
              <a:r>
                <a:rPr lang="es-AR" sz="1500" dirty="0">
                  <a:solidFill>
                    <a:schemeClr val="dk1"/>
                  </a:solidFill>
                  <a:latin typeface="+mn-lt"/>
                  <a:ea typeface="+mn-ea"/>
                  <a:cs typeface="+mn-cs"/>
                </a:rPr>
                <a:t>22 líneas horizontales y 8 verticales en las cuatro planillas; cada una se ubica</a:t>
              </a:r>
              <a:br>
                <a:rPr lang="es-AR" sz="1500" dirty="0">
                  <a:solidFill>
                    <a:schemeClr val="dk1"/>
                  </a:solidFill>
                  <a:latin typeface="+mn-lt"/>
                  <a:ea typeface="+mn-ea"/>
                  <a:cs typeface="+mn-cs"/>
                </a:rPr>
              </a:br>
              <a:r>
                <a:rPr lang="es-AR" sz="1500" dirty="0">
                  <a:solidFill>
                    <a:schemeClr val="dk1"/>
                  </a:solidFill>
                  <a:latin typeface="+mn-lt"/>
                  <a:ea typeface="+mn-ea"/>
                  <a:cs typeface="+mn-cs"/>
                </a:rPr>
                <a:t>donde empieza y termina un tramo que supera el umbral.</a:t>
              </a:r>
            </a:p>
            <a:p>
              <a:pPr algn="l">
                <a:lnSpc>
                  <a:spcPts val="2025"/>
                </a:lnSpc>
                <a:spcBef>
                  <a:spcPts val="750"/>
                </a:spcBef>
              </a:pPr>
              <a:r>
                <a:rPr lang="es-AR" sz="1500" dirty="0">
                  <a:solidFill>
                    <a:schemeClr val="dk1"/>
                  </a:solidFill>
                  <a:latin typeface="+mn-lt"/>
                  <a:ea typeface="+mn-ea"/>
                  <a:cs typeface="+mn-cs"/>
                </a:rPr>
                <a:t>Binarizado: 150 deja afuera los márgenes grises (178 a 201). Palabras: entre letras</a:t>
              </a:r>
              <a:br>
                <a:rPr lang="es-AR" sz="1500" dirty="0">
                  <a:solidFill>
                    <a:schemeClr val="dk1"/>
                  </a:solidFill>
                  <a:latin typeface="+mn-lt"/>
                  <a:ea typeface="+mn-ea"/>
                  <a:cs typeface="+mn-cs"/>
                </a:rPr>
              </a:br>
              <a:r>
                <a:rPr lang="es-AR" sz="1500" dirty="0">
                  <a:solidFill>
                    <a:schemeClr val="dk1"/>
                  </a:solidFill>
                  <a:latin typeface="+mn-lt"/>
                  <a:ea typeface="+mn-ea"/>
                  <a:cs typeface="+mn-cs"/>
                </a:rPr>
                <a:t>hay de 0 a 4 píxeles y entre palabras de 10 a 13.</a:t>
              </a:r>
            </a:p>
          </p:txBody>
        </p:sp>
      </p:grpSp>
      <p:sp>
        <p:nvSpPr>
          <p:cNvPr id="12" name="data-story-evidence-slot Placeholder Carrier"/>
          <p:cNvSpPr txBox="1"/>
          <p:nvPr>
            <p:ph idx="1"/>
          </p:nvPr>
        </p:nvSpPr>
        <p:spPr>
          <a:xfrm>
            <a:off x="831342" y="3606800"/>
            <a:ext cx="4735701" cy="264033"/>
          </a:xfrm>
          <a:prstGeom prst="rect">
            <a:avLst/>
          </a:prstGeom>
          <a:noFill/>
          <a:ln>
            <a:noFill/>
          </a:ln>
        </p:spPr>
        <p:txBody>
          <a:bodyPr wrap="none" lIns="0" tIns="0" rIns="0" bIns="0" anchor="t" anchorCtr="0">
            <a:spAutoFit/>
          </a:bodyPr>
          <a:lstStyle/>
          <a:p>
            <a:pPr algn="l" marL="0" indent="0">
              <a:buNone/>
            </a:pPr>
            <a:r>
              <a:rPr lang="es-AR" sz="1350" dirty="0">
                <a:solidFill>
                  <a:schemeClr val="accent5"/>
                </a:solidFill>
                <a:latin typeface="+mn-lt"/>
                <a:ea typeface="+mn-ea"/>
                <a:cs typeface="+mn-cs"/>
              </a:rPr>
              <a:t>Píxeles oscuros por fila y por columna; la línea roja es el umbral.</a:t>
            </a:r>
          </a:p>
        </p:txBody>
      </p:sp>
      <p:sp>
        <p:nvSpPr>
          <p:cNvPr id="13" name="data-story-insight-slot Placeholder Carrier"/>
          <p:cNvSpPr txBox="1"/>
          <p:nvPr>
            <p:ph type="body" idx="2"/>
          </p:nvPr>
        </p:nvSpPr>
        <p:spPr>
          <a:xfrm>
            <a:off x="8449056" y="1917700"/>
            <a:ext cx="2526916" cy="2790444"/>
          </a:xfrm>
          <a:prstGeom prst="rect">
            <a:avLst/>
          </a:prstGeom>
          <a:noFill/>
          <a:ln>
            <a:noFill/>
          </a:ln>
        </p:spPr>
        <p:txBody>
          <a:bodyPr wrap="none" lIns="0" tIns="0" rIns="0" bIns="0" anchor="t" anchorCtr="0">
            <a:noAutofit/>
          </a:bodyPr>
          <a:lstStyle/>
          <a:p>
            <a:pPr algn="l" marL="0" indent="0">
              <a:lnSpc>
                <a:spcPts val="2250"/>
              </a:lnSpc>
              <a:buNone/>
            </a:pPr>
            <a:r>
              <a:rPr lang="es-AR" sz="2100" b="1" dirty="0">
                <a:solidFill>
                  <a:schemeClr val="accent1"/>
                </a:solidFill>
                <a:latin typeface="+mn-lt"/>
                <a:ea typeface="+mn-ea"/>
                <a:cs typeface="+mn-cs"/>
              </a:rPr>
              <a:t>Cuatro umbrales</a:t>
            </a:r>
          </a:p>
          <a:p>
            <a:pPr algn="l" marL="0" indent="0">
              <a:lnSpc>
                <a:spcPts val="2250"/>
              </a:lnSpc>
              <a:spcBef>
                <a:spcPts val="600"/>
              </a:spcBef>
              <a:buNone/>
            </a:pPr>
            <a:r>
              <a:rPr lang="es-AR" sz="1650" dirty="0">
                <a:solidFill>
                  <a:schemeClr val="dk1"/>
                </a:solidFill>
                <a:latin typeface="+mn-lt"/>
                <a:ea typeface="+mn-ea"/>
                <a:cs typeface="+mn-cs"/>
              </a:rPr>
              <a:t>Los ajustamos mirando las</a:t>
            </a:r>
            <a:br>
              <a:rPr lang="es-AR" sz="1650" dirty="0">
                <a:solidFill>
                  <a:schemeClr val="dk1"/>
                </a:solidFill>
                <a:latin typeface="+mn-lt"/>
                <a:ea typeface="+mn-ea"/>
                <a:cs typeface="+mn-cs"/>
              </a:rPr>
            </a:br>
            <a:r>
              <a:rPr lang="es-AR" sz="1650" dirty="0">
                <a:solidFill>
                  <a:schemeClr val="dk1"/>
                </a:solidFill>
                <a:latin typeface="+mn-lt"/>
                <a:ea typeface="+mn-ea"/>
                <a:cs typeface="+mn-cs"/>
              </a:rPr>
              <a:t>cuatro planillas.</a:t>
            </a:r>
          </a:p>
          <a:p>
            <a:pPr algn="l" marL="0" indent="0">
              <a:lnSpc>
                <a:spcPts val="2250"/>
              </a:lnSpc>
              <a:spcBef>
                <a:spcPts val="1050"/>
              </a:spcBef>
              <a:buNone/>
            </a:pPr>
            <a:r>
              <a:rPr lang="es-AR" sz="1650" dirty="0">
                <a:solidFill>
                  <a:schemeClr val="dk1"/>
                </a:solidFill>
                <a:latin typeface="+mn-lt"/>
                <a:ea typeface="+mn-ea"/>
                <a:cs typeface="+mn-cs"/>
              </a:rPr>
              <a:t>Filas: 0,8 por el máximo (786)</a:t>
            </a:r>
          </a:p>
          <a:p>
            <a:pPr algn="l" marL="0" indent="0">
              <a:lnSpc>
                <a:spcPts val="2250"/>
              </a:lnSpc>
              <a:spcBef>
                <a:spcPts val="600"/>
              </a:spcBef>
              <a:buNone/>
            </a:pPr>
            <a:r>
              <a:rPr lang="es-AR" sz="1650" dirty="0">
                <a:solidFill>
                  <a:schemeClr val="dk1"/>
                </a:solidFill>
                <a:latin typeface="+mn-lt"/>
                <a:ea typeface="+mn-ea"/>
                <a:cs typeface="+mn-cs"/>
              </a:rPr>
              <a:t>Columnas: 0,6 por el máximo</a:t>
            </a:r>
            <a:br>
              <a:rPr lang="es-AR" sz="1650" dirty="0">
                <a:solidFill>
                  <a:schemeClr val="dk1"/>
                </a:solidFill>
                <a:latin typeface="+mn-lt"/>
                <a:ea typeface="+mn-ea"/>
                <a:cs typeface="+mn-cs"/>
              </a:rPr>
            </a:br>
            <a:r>
              <a:rPr lang="es-AR" sz="1650" dirty="0">
                <a:solidFill>
                  <a:schemeClr val="dk1"/>
                </a:solidFill>
                <a:latin typeface="+mn-lt"/>
                <a:ea typeface="+mn-ea"/>
                <a:cs typeface="+mn-cs"/>
              </a:rPr>
              <a:t>(398)</a:t>
            </a:r>
          </a:p>
          <a:p>
            <a:pPr algn="l" marL="0" indent="0">
              <a:lnSpc>
                <a:spcPts val="2250"/>
              </a:lnSpc>
              <a:spcBef>
                <a:spcPts val="600"/>
              </a:spcBef>
              <a:buNone/>
            </a:pPr>
            <a:r>
              <a:rPr lang="es-AR" sz="1650" dirty="0">
                <a:solidFill>
                  <a:schemeClr val="dk1"/>
                </a:solidFill>
                <a:latin typeface="+mn-lt"/>
                <a:ea typeface="+mn-ea"/>
                <a:cs typeface="+mn-cs"/>
              </a:rPr>
              <a:t>Binarizado: 150</a:t>
            </a:r>
          </a:p>
          <a:p>
            <a:pPr algn="l" marL="0" indent="0">
              <a:lnSpc>
                <a:spcPts val="2250"/>
              </a:lnSpc>
              <a:spcBef>
                <a:spcPts val="600"/>
              </a:spcBef>
              <a:buNone/>
            </a:pPr>
            <a:r>
              <a:rPr lang="es-AR" sz="1650" dirty="0">
                <a:solidFill>
                  <a:schemeClr val="dk1"/>
                </a:solidFill>
                <a:latin typeface="+mn-lt"/>
                <a:ea typeface="+mn-ea"/>
                <a:cs typeface="+mn-cs"/>
              </a:rPr>
              <a:t>Separar palabras: 6</a:t>
            </a:r>
          </a:p>
        </p:txBody>
      </p:sp>
      <p:sp>
        <p:nvSpPr>
          <p:cNvPr id="14" name="data-story-source-slot Placeholder Carrier"/>
          <p:cNvSpPr txBox="1"/>
          <p:nvPr>
            <p:ph type="ftr" idx="3"/>
          </p:nvPr>
        </p:nvSpPr>
        <p:spPr>
          <a:xfrm>
            <a:off x="604266" y="6254750"/>
            <a:ext cx="1692736" cy="205359"/>
          </a:xfrm>
          <a:prstGeom prst="rect">
            <a:avLst/>
          </a:prstGeom>
          <a:noFill/>
          <a:ln>
            <a:noFill/>
          </a:ln>
        </p:spPr>
        <p:txBody>
          <a:bodyPr wrap="none" lIns="0" tIns="0" rIns="0" bIns="0" anchor="t" anchorCtr="0">
            <a:spAutoFit/>
          </a:bodyPr>
          <a:lstStyle/>
          <a:p>
            <a:pPr algn="l"/>
            <a:r>
              <a:rPr lang="es-AR" sz="1050" dirty="0">
                <a:solidFill>
                  <a:schemeClr val="accent5"/>
                </a:solidFill>
                <a:latin typeface="+mn-lt"/>
                <a:ea typeface="+mn-ea"/>
                <a:cs typeface="+mn-cs"/>
              </a:rPr>
              <a:t>Fuente: figura 11 del informe</a:t>
            </a:r>
          </a:p>
        </p:txBody>
      </p:sp>
    </p:spTree>
  </p:cSld>
  <p:clrMapOvr>
    <a:masterClrMapping/>
  </p:clrMapOvr>
  <p:transition p14:dur="400">
    <p:fade/>
  </p:transition>
</p:sld>
</file>

<file path=ppt/slides/slide14.xml><?xml version="1.0" encoding="utf-8"?>
<p:sld xmlns:a="http://schemas.openxmlformats.org/drawingml/2006/main" xmlns:p="http://schemas.openxmlformats.org/presentationml/2006/main" xmlns:p14="http://schemas.microsoft.com/office/powerpoint/2010/main" showMasterSp="1">
  <p:cSld>
    <p:spTree>
      <p:nvGrpSpPr>
        <p:cNvPr id="1" name=""/>
        <p:cNvGrpSpPr/>
        <p:nvPr/>
      </p:nvGrpSpPr>
      <p:grpSpPr>
        <a:xfrm>
          <a:off x="0" y="0"/>
          <a:ext cx="0" cy="0"/>
          <a:chOff x="0" y="0"/>
          <a:chExt cx="0" cy="0"/>
        </a:xfrm>
      </p:grpSpPr>
      <p:sp>
        <p:nvSpPr>
          <p:cNvPr id="5" name="table-summary-title-slot Placeholder Carrier"/>
          <p:cNvSpPr txBox="1"/>
          <p:nvPr>
            <p:ph type="title"/>
          </p:nvPr>
        </p:nvSpPr>
        <p:spPr>
          <a:xfrm>
            <a:off x="595884" y="527050"/>
            <a:ext cx="4659291" cy="528066"/>
          </a:xfrm>
          <a:prstGeom prst="rect">
            <a:avLst/>
          </a:prstGeom>
          <a:noFill/>
          <a:ln>
            <a:noFill/>
          </a:ln>
        </p:spPr>
        <p:txBody>
          <a:bodyPr wrap="none" lIns="0" tIns="0" rIns="0" bIns="0" anchor="t" anchorCtr="0">
            <a:spAutoFit/>
          </a:bodyPr>
          <a:lstStyle/>
          <a:p>
            <a:pPr algn="l"/>
            <a:r>
              <a:rPr lang="es-AR" sz="2700" b="1" dirty="0">
                <a:solidFill>
                  <a:schemeClr val="accent1"/>
                </a:solidFill>
                <a:latin typeface="+mj-lt"/>
                <a:ea typeface="+mj-ea"/>
                <a:cs typeface="+mj-cs"/>
              </a:rPr>
              <a:t>Cada campo tiene su regla</a:t>
            </a:r>
          </a:p>
        </p:txBody>
      </p:sp>
      <p:sp>
        <p:nvSpPr>
          <p:cNvPr id="6" name="title-rule"/>
          <p:cNvSpPr/>
          <p:nvPr/>
        </p:nvSpPr>
        <p:spPr>
          <a:xfrm>
            <a:off x="609600" y="1123950"/>
            <a:ext cx="685800" cy="28575"/>
          </a:xfrm>
          <a:prstGeom prst="rect">
            <a:avLst/>
          </a:prstGeom>
          <a:solidFill>
            <a:schemeClr val="accent1"/>
          </a:solidFill>
          <a:ln>
            <a:noFill/>
          </a:ln>
        </p:spPr>
      </p:sp>
      <p:graphicFrame>
        <p:nvGraphicFramePr>
          <p:cNvPr id="7" name="table-summary-table-slot Placeholder Carrier"/>
          <p:cNvGraphicFramePr>
            <a:graphicFrameLocks noGrp="1"/>
          </p:cNvGraphicFramePr>
          <p:nvPr>
            <p:ph type="tbl" idx="1"/>
          </p:nvPr>
        </p:nvGraphicFramePr>
        <p:xfrm>
          <a:off x="838200" y="1676400"/>
          <a:ext cx="7391400" cy="3848100"/>
        </p:xfrm>
        <a:graphic>
          <a:graphicData uri="http://schemas.openxmlformats.org/drawingml/2006/table">
            <a:tbl>
              <a:tblPr firstRow="1" bandRow="1">
                <a:tableStyleId>{5C22544A-7EE6-4342-B048-85BDC9FD1C3A}</a:tableStyleId>
              </a:tblPr>
              <a:tblGrid>
                <a:gridCol w="2209800"/>
                <a:gridCol w="5181600"/>
              </a:tblGrid>
              <a:tr h="533400">
                <a:tc>
                  <a:txBody>
                    <a:bodyPr/>
                    <a:lstStyle/>
                    <a:p>
                      <a:pPr/>
                      <a:r>
                        <a:rPr lang="es-AR" sz="1500" b="1">
                          <a:solidFill>
                            <a:srgbClr val="FFFFFF"/>
                          </a:solidFill>
                          <a:latin typeface="+mn-lt"/>
                          <a:ea typeface="+mn-ea"/>
                          <a:cs typeface="+mn-cs"/>
                        </a:rPr>
                        <a:t>Campo</a:t>
                      </a:r>
                    </a:p>
                  </a:txBody>
                  <a:tcPr anchor="ctr" marL="133350" marR="133350" marT="57150" marB="57150">
                    <a:lnL>
                      <a:noFill/>
                    </a:lnL>
                    <a:lnR>
                      <a:noFill/>
                    </a:lnR>
                    <a:lnT w="9525">
                      <a:solidFill>
                        <a:schemeClr val="accent6"/>
                      </a:solidFill>
                      <a:prstDash val="solid"/>
                    </a:lnT>
                    <a:lnB w="9525">
                      <a:solidFill>
                        <a:schemeClr val="accent6"/>
                      </a:solidFill>
                      <a:prstDash val="solid"/>
                    </a:lnB>
                    <a:solidFill>
                      <a:schemeClr val="accent1"/>
                    </a:solidFill>
                  </a:tcPr>
                </a:tc>
                <a:tc>
                  <a:txBody>
                    <a:bodyPr/>
                    <a:lstStyle/>
                    <a:p>
                      <a:pPr/>
                      <a:r>
                        <a:rPr lang="es-AR" sz="1500" b="1">
                          <a:solidFill>
                            <a:srgbClr val="FFFFFF"/>
                          </a:solidFill>
                          <a:latin typeface="+mn-lt"/>
                          <a:ea typeface="+mn-ea"/>
                          <a:cs typeface="+mn-cs"/>
                        </a:rPr>
                        <a:t>Regla</a:t>
                      </a:r>
                    </a:p>
                  </a:txBody>
                  <a:tcPr anchor="ctr" marL="133350" marR="133350" marT="57150" marB="57150">
                    <a:lnL>
                      <a:noFill/>
                    </a:lnL>
                    <a:lnR>
                      <a:noFill/>
                    </a:lnR>
                    <a:lnT w="9525">
                      <a:solidFill>
                        <a:schemeClr val="accent6"/>
                      </a:solidFill>
                      <a:prstDash val="solid"/>
                    </a:lnT>
                    <a:lnB w="9525">
                      <a:solidFill>
                        <a:schemeClr val="accent6"/>
                      </a:solidFill>
                      <a:prstDash val="solid"/>
                    </a:lnB>
                    <a:solidFill>
                      <a:schemeClr val="accent1"/>
                    </a:solidFill>
                  </a:tcPr>
                </a:tc>
              </a:tr>
              <a:tr h="552450">
                <a:tc>
                  <a:txBody>
                    <a:bodyPr/>
                    <a:lstStyle/>
                    <a:p>
                      <a:pPr/>
                      <a:r>
                        <a:rPr lang="es-AR" sz="1650" b="1">
                          <a:solidFill>
                            <a:schemeClr val="accent1"/>
                          </a:solidFill>
                          <a:latin typeface="+mn-lt"/>
                          <a:ea typeface="+mn-ea"/>
                          <a:cs typeface="+mn-cs"/>
                        </a:rPr>
                        <a:t>Legajo</a:t>
                      </a:r>
                    </a:p>
                  </a:txBody>
                  <a:tcPr anchor="ctr" marL="133350" marR="133350" marT="57150" marB="57150">
                    <a:lnL>
                      <a:noFill/>
                    </a:lnL>
                    <a:lnR>
                      <a:noFill/>
                    </a:lnR>
                    <a:lnT w="9525">
                      <a:solidFill>
                        <a:schemeClr val="accent6"/>
                      </a:solidFill>
                      <a:prstDash val="solid"/>
                    </a:lnT>
                    <a:lnB w="9525">
                      <a:solidFill>
                        <a:schemeClr val="accent6"/>
                      </a:solidFill>
                      <a:prstDash val="solid"/>
                    </a:lnB>
                    <a:solidFill>
                      <a:schemeClr val="lt1"/>
                    </a:solidFill>
                  </a:tcPr>
                </a:tc>
                <a:tc>
                  <a:txBody>
                    <a:bodyPr/>
                    <a:lstStyle/>
                    <a:p>
                      <a:pPr/>
                      <a:r>
                        <a:rPr lang="es-AR" sz="1650" b="0">
                          <a:solidFill>
                            <a:schemeClr val="dk1"/>
                          </a:solidFill>
                          <a:latin typeface="+mn-lt"/>
                          <a:ea typeface="+mn-ea"/>
                          <a:cs typeface="+mn-cs"/>
                        </a:rPr>
                        <a:t>8 caracteres en total y una sola palabra.</a:t>
                      </a:r>
                    </a:p>
                  </a:txBody>
                  <a:tcPr anchor="ctr" marL="133350" marR="133350" marT="57150" marB="57150">
                    <a:lnL>
                      <a:noFill/>
                    </a:lnL>
                    <a:lnR>
                      <a:noFill/>
                    </a:lnR>
                    <a:lnT w="9525">
                      <a:solidFill>
                        <a:schemeClr val="accent6"/>
                      </a:solidFill>
                      <a:prstDash val="solid"/>
                    </a:lnT>
                    <a:lnB w="9525">
                      <a:solidFill>
                        <a:schemeClr val="accent6"/>
                      </a:solidFill>
                      <a:prstDash val="solid"/>
                    </a:lnB>
                    <a:solidFill>
                      <a:schemeClr val="lt1"/>
                    </a:solidFill>
                  </a:tcPr>
                </a:tc>
              </a:tr>
              <a:tr h="552450">
                <a:tc>
                  <a:txBody>
                    <a:bodyPr/>
                    <a:lstStyle/>
                    <a:p>
                      <a:pPr/>
                      <a:r>
                        <a:rPr lang="es-AR" sz="1650" b="1">
                          <a:solidFill>
                            <a:schemeClr val="accent1"/>
                          </a:solidFill>
                          <a:latin typeface="+mn-lt"/>
                          <a:ea typeface="+mn-ea"/>
                          <a:cs typeface="+mn-cs"/>
                        </a:rPr>
                        <a:t>Nombre y apellido</a:t>
                      </a:r>
                    </a:p>
                  </a:txBody>
                  <a:tcPr anchor="ctr" marL="133350" marR="133350" marT="57150" marB="57150">
                    <a:lnL>
                      <a:noFill/>
                    </a:lnL>
                    <a:lnR>
                      <a:noFill/>
                    </a:lnR>
                    <a:lnT w="9525">
                      <a:solidFill>
                        <a:schemeClr val="accent6"/>
                      </a:solidFill>
                      <a:prstDash val="solid"/>
                    </a:lnT>
                    <a:lnB w="9525">
                      <a:solidFill>
                        <a:schemeClr val="accent6"/>
                      </a:solidFill>
                      <a:prstDash val="solid"/>
                    </a:lnB>
                    <a:solidFill>
                      <a:schemeClr val="lt2"/>
                    </a:solidFill>
                  </a:tcPr>
                </a:tc>
                <a:tc>
                  <a:txBody>
                    <a:bodyPr/>
                    <a:lstStyle/>
                    <a:p>
                      <a:pPr/>
                      <a:r>
                        <a:rPr lang="es-AR" sz="1650" b="0">
                          <a:solidFill>
                            <a:schemeClr val="dk1"/>
                          </a:solidFill>
                          <a:latin typeface="+mn-lt"/>
                          <a:ea typeface="+mn-ea"/>
                          <a:cs typeface="+mn-cs"/>
                        </a:rPr>
                        <a:t>Al menos dos palabras y no más de 12 caracteres.</a:t>
                      </a:r>
                    </a:p>
                  </a:txBody>
                  <a:tcPr anchor="ctr" marL="133350" marR="133350" marT="57150" marB="57150">
                    <a:lnL>
                      <a:noFill/>
                    </a:lnL>
                    <a:lnR>
                      <a:noFill/>
                    </a:lnR>
                    <a:lnT w="9525">
                      <a:solidFill>
                        <a:schemeClr val="accent6"/>
                      </a:solidFill>
                      <a:prstDash val="solid"/>
                    </a:lnT>
                    <a:lnB w="9525">
                      <a:solidFill>
                        <a:schemeClr val="accent6"/>
                      </a:solidFill>
                      <a:prstDash val="solid"/>
                    </a:lnB>
                    <a:solidFill>
                      <a:schemeClr val="lt2"/>
                    </a:solidFill>
                  </a:tcPr>
                </a:tc>
              </a:tr>
              <a:tr h="552450">
                <a:tc>
                  <a:txBody>
                    <a:bodyPr/>
                    <a:lstStyle/>
                    <a:p>
                      <a:pPr/>
                      <a:r>
                        <a:rPr lang="es-AR" sz="1650" b="1">
                          <a:solidFill>
                            <a:schemeClr val="accent1"/>
                          </a:solidFill>
                          <a:latin typeface="+mn-lt"/>
                          <a:ea typeface="+mn-ea"/>
                          <a:cs typeface="+mn-cs"/>
                        </a:rPr>
                        <a:t>Parcial 1</a:t>
                      </a:r>
                    </a:p>
                  </a:txBody>
                  <a:tcPr anchor="ctr" marL="133350" marR="133350" marT="57150" marB="57150">
                    <a:lnL>
                      <a:noFill/>
                    </a:lnL>
                    <a:lnR>
                      <a:noFill/>
                    </a:lnR>
                    <a:lnT w="9525">
                      <a:solidFill>
                        <a:schemeClr val="accent6"/>
                      </a:solidFill>
                      <a:prstDash val="solid"/>
                    </a:lnT>
                    <a:lnB w="9525">
                      <a:solidFill>
                        <a:schemeClr val="accent6"/>
                      </a:solidFill>
                      <a:prstDash val="solid"/>
                    </a:lnB>
                    <a:solidFill>
                      <a:schemeClr val="lt1"/>
                    </a:solidFill>
                  </a:tcPr>
                </a:tc>
                <a:tc>
                  <a:txBody>
                    <a:bodyPr/>
                    <a:lstStyle/>
                    <a:p>
                      <a:pPr/>
                      <a:r>
                        <a:rPr lang="es-AR" sz="1650" b="0">
                          <a:solidFill>
                            <a:schemeClr val="dk1"/>
                          </a:solidFill>
                          <a:latin typeface="+mn-lt"/>
                          <a:ea typeface="+mn-ea"/>
                          <a:cs typeface="+mn-cs"/>
                        </a:rPr>
                        <a:t>Uno o dos caracteres consecutivos y sin espacios.</a:t>
                      </a:r>
                    </a:p>
                  </a:txBody>
                  <a:tcPr anchor="ctr" marL="133350" marR="133350" marT="57150" marB="57150">
                    <a:lnL>
                      <a:noFill/>
                    </a:lnL>
                    <a:lnR>
                      <a:noFill/>
                    </a:lnR>
                    <a:lnT w="9525">
                      <a:solidFill>
                        <a:schemeClr val="accent6"/>
                      </a:solidFill>
                      <a:prstDash val="solid"/>
                    </a:lnT>
                    <a:lnB w="9525">
                      <a:solidFill>
                        <a:schemeClr val="accent6"/>
                      </a:solidFill>
                      <a:prstDash val="solid"/>
                    </a:lnB>
                    <a:solidFill>
                      <a:schemeClr val="lt1"/>
                    </a:solidFill>
                  </a:tcPr>
                </a:tc>
              </a:tr>
              <a:tr h="552450">
                <a:tc>
                  <a:txBody>
                    <a:bodyPr/>
                    <a:lstStyle/>
                    <a:p>
                      <a:pPr/>
                      <a:r>
                        <a:rPr lang="es-AR" sz="1650" b="1">
                          <a:solidFill>
                            <a:schemeClr val="accent1"/>
                          </a:solidFill>
                          <a:latin typeface="+mn-lt"/>
                          <a:ea typeface="+mn-ea"/>
                          <a:cs typeface="+mn-cs"/>
                        </a:rPr>
                        <a:t>Parcial 2</a:t>
                      </a:r>
                    </a:p>
                  </a:txBody>
                  <a:tcPr anchor="ctr" marL="133350" marR="133350" marT="57150" marB="57150">
                    <a:lnL>
                      <a:noFill/>
                    </a:lnL>
                    <a:lnR>
                      <a:noFill/>
                    </a:lnR>
                    <a:lnT w="9525">
                      <a:solidFill>
                        <a:schemeClr val="accent6"/>
                      </a:solidFill>
                      <a:prstDash val="solid"/>
                    </a:lnT>
                    <a:lnB w="9525">
                      <a:solidFill>
                        <a:schemeClr val="accent6"/>
                      </a:solidFill>
                      <a:prstDash val="solid"/>
                    </a:lnB>
                    <a:solidFill>
                      <a:schemeClr val="lt2"/>
                    </a:solidFill>
                  </a:tcPr>
                </a:tc>
                <a:tc>
                  <a:txBody>
                    <a:bodyPr/>
                    <a:lstStyle/>
                    <a:p>
                      <a:pPr/>
                      <a:r>
                        <a:rPr lang="es-AR" sz="1650" b="0">
                          <a:solidFill>
                            <a:schemeClr val="dk1"/>
                          </a:solidFill>
                          <a:latin typeface="+mn-lt"/>
                          <a:ea typeface="+mn-ea"/>
                          <a:cs typeface="+mn-cs"/>
                        </a:rPr>
                        <a:t>Uno o dos caracteres consecutivos y sin espacios.</a:t>
                      </a:r>
                    </a:p>
                  </a:txBody>
                  <a:tcPr anchor="ctr" marL="133350" marR="133350" marT="57150" marB="57150">
                    <a:lnL>
                      <a:noFill/>
                    </a:lnL>
                    <a:lnR>
                      <a:noFill/>
                    </a:lnR>
                    <a:lnT w="9525">
                      <a:solidFill>
                        <a:schemeClr val="accent6"/>
                      </a:solidFill>
                      <a:prstDash val="solid"/>
                    </a:lnT>
                    <a:lnB w="9525">
                      <a:solidFill>
                        <a:schemeClr val="accent6"/>
                      </a:solidFill>
                      <a:prstDash val="solid"/>
                    </a:lnB>
                    <a:solidFill>
                      <a:schemeClr val="lt2"/>
                    </a:solidFill>
                  </a:tcPr>
                </a:tc>
              </a:tr>
              <a:tr h="552450">
                <a:tc>
                  <a:txBody>
                    <a:bodyPr/>
                    <a:lstStyle/>
                    <a:p>
                      <a:pPr/>
                      <a:r>
                        <a:rPr lang="es-AR" sz="1650" b="1">
                          <a:solidFill>
                            <a:schemeClr val="accent1"/>
                          </a:solidFill>
                          <a:latin typeface="+mn-lt"/>
                          <a:ea typeface="+mn-ea"/>
                          <a:cs typeface="+mn-cs"/>
                        </a:rPr>
                        <a:t>Parcial 3</a:t>
                      </a:r>
                    </a:p>
                  </a:txBody>
                  <a:tcPr anchor="ctr" marL="133350" marR="133350" marT="57150" marB="57150">
                    <a:lnL>
                      <a:noFill/>
                    </a:lnL>
                    <a:lnR>
                      <a:noFill/>
                    </a:lnR>
                    <a:lnT w="9525">
                      <a:solidFill>
                        <a:schemeClr val="accent6"/>
                      </a:solidFill>
                      <a:prstDash val="solid"/>
                    </a:lnT>
                    <a:lnB w="9525">
                      <a:solidFill>
                        <a:schemeClr val="accent6"/>
                      </a:solidFill>
                      <a:prstDash val="solid"/>
                    </a:lnB>
                    <a:solidFill>
                      <a:schemeClr val="lt1"/>
                    </a:solidFill>
                  </a:tcPr>
                </a:tc>
                <a:tc>
                  <a:txBody>
                    <a:bodyPr/>
                    <a:lstStyle/>
                    <a:p>
                      <a:pPr/>
                      <a:r>
                        <a:rPr lang="es-AR" sz="1650" b="0">
                          <a:solidFill>
                            <a:schemeClr val="dk1"/>
                          </a:solidFill>
                          <a:latin typeface="+mn-lt"/>
                          <a:ea typeface="+mn-ea"/>
                          <a:cs typeface="+mn-cs"/>
                        </a:rPr>
                        <a:t>Uno o dos caracteres consecutivos y sin espacios.</a:t>
                      </a:r>
                    </a:p>
                  </a:txBody>
                  <a:tcPr anchor="ctr" marL="133350" marR="133350" marT="57150" marB="57150">
                    <a:lnL>
                      <a:noFill/>
                    </a:lnL>
                    <a:lnR>
                      <a:noFill/>
                    </a:lnR>
                    <a:lnT w="9525">
                      <a:solidFill>
                        <a:schemeClr val="accent6"/>
                      </a:solidFill>
                      <a:prstDash val="solid"/>
                    </a:lnT>
                    <a:lnB w="9525">
                      <a:solidFill>
                        <a:schemeClr val="accent6"/>
                      </a:solidFill>
                      <a:prstDash val="solid"/>
                    </a:lnB>
                    <a:solidFill>
                      <a:schemeClr val="lt1"/>
                    </a:solidFill>
                  </a:tcPr>
                </a:tc>
              </a:tr>
              <a:tr h="552450">
                <a:tc>
                  <a:txBody>
                    <a:bodyPr/>
                    <a:lstStyle/>
                    <a:p>
                      <a:pPr/>
                      <a:r>
                        <a:rPr lang="es-AR" sz="1650" b="1">
                          <a:solidFill>
                            <a:schemeClr val="accent1"/>
                          </a:solidFill>
                          <a:latin typeface="+mn-lt"/>
                          <a:ea typeface="+mn-ea"/>
                          <a:cs typeface="+mn-cs"/>
                        </a:rPr>
                        <a:t>Condición Final</a:t>
                      </a:r>
                    </a:p>
                  </a:txBody>
                  <a:tcPr anchor="ctr" marL="133350" marR="133350" marT="57150" marB="57150">
                    <a:lnL>
                      <a:noFill/>
                    </a:lnL>
                    <a:lnR>
                      <a:noFill/>
                    </a:lnR>
                    <a:lnT w="9525">
                      <a:solidFill>
                        <a:schemeClr val="accent6"/>
                      </a:solidFill>
                      <a:prstDash val="solid"/>
                    </a:lnT>
                    <a:lnB w="9525">
                      <a:solidFill>
                        <a:schemeClr val="accent6"/>
                      </a:solidFill>
                      <a:prstDash val="solid"/>
                    </a:lnB>
                    <a:solidFill>
                      <a:schemeClr val="lt2"/>
                    </a:solidFill>
                  </a:tcPr>
                </a:tc>
                <a:tc>
                  <a:txBody>
                    <a:bodyPr/>
                    <a:lstStyle/>
                    <a:p>
                      <a:pPr/>
                      <a:r>
                        <a:rPr lang="es-AR" sz="1650" b="0">
                          <a:solidFill>
                            <a:schemeClr val="dk1"/>
                          </a:solidFill>
                          <a:latin typeface="+mn-lt"/>
                          <a:ea typeface="+mn-ea"/>
                          <a:cs typeface="+mn-cs"/>
                        </a:rPr>
                        <a:t>Un único carácter: L, R o A.</a:t>
                      </a:r>
                    </a:p>
                  </a:txBody>
                  <a:tcPr anchor="ctr" marL="133350" marR="133350" marT="57150" marB="57150">
                    <a:lnL>
                      <a:noFill/>
                    </a:lnL>
                    <a:lnR>
                      <a:noFill/>
                    </a:lnR>
                    <a:lnT w="9525">
                      <a:solidFill>
                        <a:schemeClr val="accent6"/>
                      </a:solidFill>
                      <a:prstDash val="solid"/>
                    </a:lnT>
                    <a:lnB w="9525">
                      <a:solidFill>
                        <a:schemeClr val="accent6"/>
                      </a:solidFill>
                      <a:prstDash val="solid"/>
                    </a:lnB>
                    <a:solidFill>
                      <a:schemeClr val="lt2"/>
                    </a:solidFill>
                  </a:tcPr>
                </a:tc>
              </a:tr>
            </a:tbl>
          </a:graphicData>
        </a:graphic>
      </p:graphicFrame>
      <p:sp>
        <p:nvSpPr>
          <p:cNvPr id="8" name="table-summary-message-slot Placeholder Carrier"/>
          <p:cNvSpPr txBox="1"/>
          <p:nvPr>
            <p:ph type="body" idx="2"/>
          </p:nvPr>
        </p:nvSpPr>
        <p:spPr>
          <a:xfrm>
            <a:off x="9058656" y="2032000"/>
            <a:ext cx="2020224" cy="2809494"/>
          </a:xfrm>
          <a:prstGeom prst="rect">
            <a:avLst/>
          </a:prstGeom>
          <a:noFill/>
          <a:ln>
            <a:noFill/>
          </a:ln>
        </p:spPr>
        <p:txBody>
          <a:bodyPr wrap="none" lIns="0" tIns="0" rIns="0" bIns="0" anchor="t" anchorCtr="0">
            <a:noAutofit/>
          </a:bodyPr>
          <a:lstStyle/>
          <a:p>
            <a:pPr algn="l" marL="0" indent="0">
              <a:lnSpc>
                <a:spcPts val="1800"/>
              </a:lnSpc>
              <a:buNone/>
            </a:pPr>
            <a:r>
              <a:rPr lang="es-AR" sz="1800" b="1" dirty="0">
                <a:solidFill>
                  <a:schemeClr val="accent1"/>
                </a:solidFill>
                <a:latin typeface="+mn-lt"/>
                <a:ea typeface="+mn-ea"/>
                <a:cs typeface="+mn-cs"/>
              </a:rPr>
              <a:t>Un registro es</a:t>
            </a:r>
          </a:p>
          <a:p>
            <a:pPr algn="l" marL="0" indent="0">
              <a:lnSpc>
                <a:spcPts val="1800"/>
              </a:lnSpc>
              <a:spcBef>
                <a:spcPts val="600"/>
              </a:spcBef>
              <a:buNone/>
            </a:pPr>
            <a:r>
              <a:rPr lang="es-AR" sz="1800" b="1" dirty="0">
                <a:solidFill>
                  <a:schemeClr val="accent1"/>
                </a:solidFill>
                <a:latin typeface="+mn-lt"/>
                <a:ea typeface="+mn-ea"/>
                <a:cs typeface="+mn-cs"/>
              </a:rPr>
              <a:t>correcto solo si</a:t>
            </a:r>
          </a:p>
          <a:p>
            <a:pPr algn="l" marL="0" indent="0">
              <a:lnSpc>
                <a:spcPts val="1800"/>
              </a:lnSpc>
              <a:spcBef>
                <a:spcPts val="600"/>
              </a:spcBef>
              <a:buNone/>
            </a:pPr>
            <a:r>
              <a:rPr lang="es-AR" sz="1800" b="1" dirty="0">
                <a:solidFill>
                  <a:schemeClr val="accent1"/>
                </a:solidFill>
                <a:latin typeface="+mn-lt"/>
                <a:ea typeface="+mn-ea"/>
                <a:cs typeface="+mn-cs"/>
              </a:rPr>
              <a:t>cumple las seis</a:t>
            </a:r>
          </a:p>
          <a:p>
            <a:pPr algn="l" marL="0" indent="0">
              <a:lnSpc>
                <a:spcPts val="1800"/>
              </a:lnSpc>
              <a:spcBef>
                <a:spcPts val="600"/>
              </a:spcBef>
              <a:buNone/>
            </a:pPr>
            <a:r>
              <a:rPr lang="es-AR" sz="1800" b="1" dirty="0">
                <a:solidFill>
                  <a:schemeClr val="accent1"/>
                </a:solidFill>
                <a:latin typeface="+mn-lt"/>
                <a:ea typeface="+mn-ea"/>
                <a:cs typeface="+mn-cs"/>
              </a:rPr>
              <a:t>reglas.</a:t>
            </a:r>
          </a:p>
          <a:p>
            <a:pPr algn="l" marL="0" indent="0">
              <a:lnSpc>
                <a:spcPts val="1800"/>
              </a:lnSpc>
              <a:spcBef>
                <a:spcPts val="1350"/>
              </a:spcBef>
              <a:buNone/>
            </a:pPr>
            <a:r>
              <a:rPr lang="es-AR" sz="1350" dirty="0">
                <a:solidFill>
                  <a:schemeClr val="accent5"/>
                </a:solidFill>
                <a:latin typeface="+mn-lt"/>
                <a:ea typeface="+mn-ea"/>
                <a:cs typeface="+mn-cs"/>
              </a:rPr>
              <a:t>El espacio del nombre no</a:t>
            </a:r>
            <a:br>
              <a:rPr lang="es-AR" sz="1350" dirty="0">
                <a:solidFill>
                  <a:schemeClr val="accent5"/>
                </a:solidFill>
                <a:latin typeface="+mn-lt"/>
                <a:ea typeface="+mn-ea"/>
                <a:cs typeface="+mn-cs"/>
              </a:rPr>
            </a:br>
            <a:r>
              <a:rPr lang="es-AR" sz="1350" dirty="0">
                <a:solidFill>
                  <a:schemeClr val="accent5"/>
                </a:solidFill>
                <a:latin typeface="+mn-lt"/>
                <a:ea typeface="+mn-ea"/>
                <a:cs typeface="+mn-cs"/>
              </a:rPr>
              <a:t>cuenta como carácter,</a:t>
            </a:r>
            <a:br>
              <a:rPr lang="es-AR" sz="1350" dirty="0">
                <a:solidFill>
                  <a:schemeClr val="accent5"/>
                </a:solidFill>
                <a:latin typeface="+mn-lt"/>
                <a:ea typeface="+mn-ea"/>
                <a:cs typeface="+mn-cs"/>
              </a:rPr>
            </a:br>
            <a:r>
              <a:rPr lang="es-AR" sz="1350" dirty="0">
                <a:solidFill>
                  <a:schemeClr val="accent5"/>
                </a:solidFill>
                <a:latin typeface="+mn-lt"/>
                <a:ea typeface="+mn-ea"/>
                <a:cs typeface="+mn-cs"/>
              </a:rPr>
              <a:t>porque no es una</a:t>
            </a:r>
            <a:br>
              <a:rPr lang="es-AR" sz="1350" dirty="0">
                <a:solidFill>
                  <a:schemeClr val="accent5"/>
                </a:solidFill>
                <a:latin typeface="+mn-lt"/>
                <a:ea typeface="+mn-ea"/>
                <a:cs typeface="+mn-cs"/>
              </a:rPr>
            </a:br>
            <a:r>
              <a:rPr lang="es-AR" sz="1350" dirty="0">
                <a:solidFill>
                  <a:schemeClr val="accent5"/>
                </a:solidFill>
                <a:latin typeface="+mn-lt"/>
                <a:ea typeface="+mn-ea"/>
                <a:cs typeface="+mn-cs"/>
              </a:rPr>
              <a:t>componente conectada. Fue</a:t>
            </a:r>
            <a:br>
              <a:rPr lang="es-AR" sz="1350" dirty="0">
                <a:solidFill>
                  <a:schemeClr val="accent5"/>
                </a:solidFill>
                <a:latin typeface="+mn-lt"/>
                <a:ea typeface="+mn-ea"/>
                <a:cs typeface="+mn-cs"/>
              </a:rPr>
            </a:br>
            <a:r>
              <a:rPr lang="es-AR" sz="1350" dirty="0">
                <a:solidFill>
                  <a:schemeClr val="accent5"/>
                </a:solidFill>
                <a:latin typeface="+mn-lt"/>
                <a:ea typeface="+mn-ea"/>
                <a:cs typeface="+mn-cs"/>
              </a:rPr>
              <a:t>decisión nuestra: la consigna</a:t>
            </a:r>
            <a:br>
              <a:rPr lang="es-AR" sz="1350" dirty="0">
                <a:solidFill>
                  <a:schemeClr val="accent5"/>
                </a:solidFill>
                <a:latin typeface="+mn-lt"/>
                <a:ea typeface="+mn-ea"/>
                <a:cs typeface="+mn-cs"/>
              </a:rPr>
            </a:br>
            <a:r>
              <a:rPr lang="es-AR" sz="1350" dirty="0">
                <a:solidFill>
                  <a:schemeClr val="accent5"/>
                </a:solidFill>
                <a:latin typeface="+mn-lt"/>
                <a:ea typeface="+mn-ea"/>
                <a:cs typeface="+mn-cs"/>
              </a:rPr>
              <a:t>no aclara.</a:t>
            </a:r>
          </a:p>
        </p:txBody>
      </p:sp>
      <p:sp>
        <p:nvSpPr>
          <p:cNvPr id="9" name="table-summary-source-slot Placeholder Carrier"/>
          <p:cNvSpPr txBox="1"/>
          <p:nvPr>
            <p:ph type="ftr" idx="3"/>
          </p:nvPr>
        </p:nvSpPr>
        <p:spPr>
          <a:xfrm>
            <a:off x="9062466" y="5359400"/>
            <a:ext cx="1406408" cy="205359"/>
          </a:xfrm>
          <a:prstGeom prst="rect">
            <a:avLst/>
          </a:prstGeom>
          <a:noFill/>
          <a:ln>
            <a:noFill/>
          </a:ln>
        </p:spPr>
        <p:txBody>
          <a:bodyPr wrap="none" lIns="0" tIns="0" rIns="0" bIns="0" anchor="t" anchorCtr="0">
            <a:spAutoFit/>
          </a:bodyPr>
          <a:lstStyle/>
          <a:p>
            <a:pPr algn="l"/>
            <a:r>
              <a:rPr lang="es-AR" sz="1050" dirty="0">
                <a:solidFill>
                  <a:schemeClr val="accent5"/>
                </a:solidFill>
                <a:latin typeface="+mn-lt"/>
                <a:ea typeface="+mn-ea"/>
                <a:cs typeface="+mn-cs"/>
              </a:rPr>
              <a:t>Fuente: informe del TP1</a:t>
            </a:r>
          </a:p>
        </p:txBody>
      </p:sp>
    </p:spTree>
  </p:cSld>
  <p:clrMapOvr>
    <a:masterClrMapping/>
  </p:clrMapOvr>
  <p:transition p14:dur="400">
    <p:fade/>
  </p:transition>
</p:sld>
</file>

<file path=ppt/slides/slide15.xml><?xml version="1.0" encoding="utf-8"?>
<p:sld xmlns:a="http://schemas.openxmlformats.org/drawingml/2006/main" xmlns:p="http://schemas.openxmlformats.org/presentationml/2006/main" xmlns:p14="http://schemas.microsoft.com/office/powerpoint/2010/main" xmlns:r="http://schemas.openxmlformats.org/officeDocument/2006/relationships" showMasterSp="1">
  <p:cSld>
    <p:spTree>
      <p:nvGrpSpPr>
        <p:cNvPr id="1" name=""/>
        <p:cNvGrpSpPr/>
        <p:nvPr/>
      </p:nvGrpSpPr>
      <p:grpSpPr>
        <a:xfrm>
          <a:off x="0" y="0"/>
          <a:ext cx="0" cy="0"/>
          <a:chOff x="0" y="0"/>
          <a:chExt cx="0" cy="0"/>
        </a:xfrm>
      </p:grpSpPr>
      <p:sp>
        <p:nvSpPr>
          <p:cNvPr id="7" name="two-picture-title-slot Placeholder Carrier"/>
          <p:cNvSpPr txBox="1"/>
          <p:nvPr>
            <p:ph type="title"/>
          </p:nvPr>
        </p:nvSpPr>
        <p:spPr>
          <a:xfrm>
            <a:off x="595884" y="527050"/>
            <a:ext cx="6225785" cy="528066"/>
          </a:xfrm>
          <a:prstGeom prst="rect">
            <a:avLst/>
          </a:prstGeom>
          <a:noFill/>
          <a:ln>
            <a:noFill/>
          </a:ln>
        </p:spPr>
        <p:txBody>
          <a:bodyPr wrap="none" lIns="0" tIns="0" rIns="0" bIns="0" anchor="t" anchorCtr="0">
            <a:spAutoFit/>
          </a:bodyPr>
          <a:lstStyle/>
          <a:p>
            <a:pPr algn="l"/>
            <a:r>
              <a:rPr lang="es-AR" sz="2700" b="1" dirty="0">
                <a:solidFill>
                  <a:schemeClr val="accent1"/>
                </a:solidFill>
                <a:latin typeface="+mj-lt"/>
                <a:ea typeface="+mj-ea"/>
                <a:cs typeface="+mj-cs"/>
              </a:rPr>
              <a:t>L, R y A se distinguen por su forma</a:t>
            </a:r>
          </a:p>
        </p:txBody>
      </p:sp>
      <p:sp>
        <p:nvSpPr>
          <p:cNvPr id="8" name="title-rule"/>
          <p:cNvSpPr/>
          <p:nvPr/>
        </p:nvSpPr>
        <p:spPr>
          <a:xfrm>
            <a:off x="609600" y="1123950"/>
            <a:ext cx="685800" cy="28575"/>
          </a:xfrm>
          <a:prstGeom prst="rect">
            <a:avLst/>
          </a:prstGeom>
          <a:solidFill>
            <a:schemeClr val="accent1"/>
          </a:solidFill>
          <a:ln>
            <a:noFill/>
          </a:ln>
        </p:spPr>
      </p:sp>
      <p:pic>
        <p:nvPicPr>
          <p:cNvPr id="9" name="two-picture-left-picture-slot Placeholder Carrier"/>
          <p:cNvPicPr>
            <a:picLocks noChangeAspect="1"/>
          </p:cNvPicPr>
          <p:nvPr>
            <p:ph type="pic" idx="1"/>
          </p:nvPr>
        </p:nvPicPr>
        <p:blipFill>
          <a:blip r:embed="rId2"/>
          <a:stretch>
            <a:fillRect/>
          </a:stretch>
        </p:blipFill>
        <p:spPr>
          <a:xfrm>
            <a:off x="1250674" y="1447800"/>
            <a:ext cx="3975652" cy="3048000"/>
          </a:xfrm>
          <a:prstGeom prst="rect">
            <a:avLst/>
          </a:prstGeom>
        </p:spPr>
      </p:pic>
      <p:pic>
        <p:nvPicPr>
          <p:cNvPr id="10" name="two-picture-right-picture-slot Placeholder Carrier"/>
          <p:cNvPicPr>
            <a:picLocks noChangeAspect="1"/>
          </p:cNvPicPr>
          <p:nvPr>
            <p:ph type="pic" idx="2"/>
          </p:nvPr>
        </p:nvPicPr>
        <p:blipFill>
          <a:blip r:embed="rId3"/>
          <a:stretch>
            <a:fillRect/>
          </a:stretch>
        </p:blipFill>
        <p:spPr>
          <a:xfrm>
            <a:off x="7995557" y="1447800"/>
            <a:ext cx="1915886" cy="3048000"/>
          </a:xfrm>
          <a:prstGeom prst="rect">
            <a:avLst/>
          </a:prstGeom>
        </p:spPr>
      </p:pic>
      <p:sp>
        <p:nvSpPr>
          <p:cNvPr id="11" name="two-picture-left-caption-slot Placeholder Carrier"/>
          <p:cNvSpPr txBox="1"/>
          <p:nvPr>
            <p:ph type="body" idx="3"/>
          </p:nvPr>
        </p:nvSpPr>
        <p:spPr>
          <a:xfrm>
            <a:off x="829056" y="5010150"/>
            <a:ext cx="4284440" cy="866394"/>
          </a:xfrm>
          <a:prstGeom prst="rect">
            <a:avLst/>
          </a:prstGeom>
          <a:noFill/>
          <a:ln>
            <a:noFill/>
          </a:ln>
        </p:spPr>
        <p:txBody>
          <a:bodyPr wrap="none" lIns="0" tIns="0" rIns="0" bIns="0" anchor="t" anchorCtr="0">
            <a:noAutofit/>
          </a:bodyPr>
          <a:lstStyle/>
          <a:p>
            <a:pPr algn="l" marL="0" indent="0">
              <a:lnSpc>
                <a:spcPts val="2025"/>
              </a:lnSpc>
              <a:buNone/>
            </a:pPr>
            <a:r>
              <a:rPr lang="es-AR" sz="1500" dirty="0">
                <a:solidFill>
                  <a:schemeClr val="dk1"/>
                </a:solidFill>
                <a:latin typeface="+mn-lt"/>
                <a:ea typeface="+mn-ea"/>
                <a:cs typeface="+mn-cs"/>
              </a:rPr>
              <a:t>En L y R la primera columna mide el alto de la letra (12</a:t>
            </a:r>
            <a:br>
              <a:rPr lang="es-AR" sz="1500" dirty="0">
                <a:solidFill>
                  <a:schemeClr val="dk1"/>
                </a:solidFill>
                <a:latin typeface="+mn-lt"/>
                <a:ea typeface="+mn-ea"/>
                <a:cs typeface="+mn-cs"/>
              </a:rPr>
            </a:br>
            <a:r>
              <a:rPr lang="es-AR" sz="1500" dirty="0">
                <a:solidFill>
                  <a:schemeClr val="dk1"/>
                </a:solidFill>
                <a:latin typeface="+mn-lt"/>
                <a:ea typeface="+mn-ea"/>
                <a:cs typeface="+mn-cs"/>
              </a:rPr>
              <a:t>píxeles; 10 en la planilla 4); en A, entre 1 y 3. La R y la A</a:t>
            </a:r>
            <a:br>
              <a:rPr lang="es-AR" sz="1500" dirty="0">
                <a:solidFill>
                  <a:schemeClr val="dk1"/>
                </a:solidFill>
                <a:latin typeface="+mn-lt"/>
                <a:ea typeface="+mn-ea"/>
                <a:cs typeface="+mn-cs"/>
              </a:rPr>
            </a:br>
            <a:r>
              <a:rPr lang="es-AR" sz="1500" dirty="0">
                <a:solidFill>
                  <a:schemeClr val="dk1"/>
                </a:solidFill>
                <a:latin typeface="+mn-lt"/>
                <a:ea typeface="+mn-ea"/>
                <a:cs typeface="+mn-cs"/>
              </a:rPr>
              <a:t>tienen un agujero. Validado con 56 celdas.</a:t>
            </a:r>
          </a:p>
        </p:txBody>
      </p:sp>
      <p:sp>
        <p:nvSpPr>
          <p:cNvPr id="12" name="two-picture-right-caption-slot Placeholder Carrier"/>
          <p:cNvSpPr txBox="1"/>
          <p:nvPr>
            <p:ph type="body" idx="4"/>
          </p:nvPr>
        </p:nvSpPr>
        <p:spPr>
          <a:xfrm>
            <a:off x="6544056" y="5010150"/>
            <a:ext cx="4371556" cy="609219"/>
          </a:xfrm>
          <a:prstGeom prst="rect">
            <a:avLst/>
          </a:prstGeom>
          <a:noFill/>
          <a:ln>
            <a:noFill/>
          </a:ln>
        </p:spPr>
        <p:txBody>
          <a:bodyPr wrap="none" lIns="0" tIns="0" rIns="0" bIns="0" anchor="t" anchorCtr="0">
            <a:noAutofit/>
          </a:bodyPr>
          <a:lstStyle/>
          <a:p>
            <a:pPr algn="l" marL="0" indent="0">
              <a:lnSpc>
                <a:spcPts val="2025"/>
              </a:lnSpc>
              <a:buNone/>
            </a:pPr>
            <a:r>
              <a:rPr lang="es-AR" sz="1500" dirty="0">
                <a:solidFill>
                  <a:schemeClr val="dk1"/>
                </a:solidFill>
                <a:latin typeface="+mn-lt"/>
                <a:ea typeface="+mn-ea"/>
                <a:cs typeface="+mn-cs"/>
              </a:rPr>
              <a:t>Salida de la planilla 1: 10 alumnos, en azul los L y en rojo</a:t>
            </a:r>
            <a:br>
              <a:rPr lang="es-AR" sz="1500" dirty="0">
                <a:solidFill>
                  <a:schemeClr val="dk1"/>
                </a:solidFill>
                <a:latin typeface="+mn-lt"/>
                <a:ea typeface="+mn-ea"/>
                <a:cs typeface="+mn-cs"/>
              </a:rPr>
            </a:br>
            <a:r>
              <a:rPr lang="es-AR" sz="1500" dirty="0">
                <a:solidFill>
                  <a:schemeClr val="dk1"/>
                </a:solidFill>
                <a:latin typeface="+mn-lt"/>
                <a:ea typeface="+mn-ea"/>
                <a:cs typeface="+mn-cs"/>
              </a:rPr>
              <a:t>los R. Si no hay ninguno, dice «Sin alumnos L/R».</a:t>
            </a:r>
          </a:p>
        </p:txBody>
      </p:sp>
    </p:spTree>
  </p:cSld>
  <p:clrMapOvr>
    <a:masterClrMapping/>
  </p:clrMapOvr>
  <p:transition p14:dur="400">
    <p:fade/>
  </p:transition>
</p:sld>
</file>

<file path=ppt/slides/slide16.xml><?xml version="1.0" encoding="utf-8"?>
<p:sld xmlns:a="http://schemas.openxmlformats.org/drawingml/2006/main" xmlns:c="http://schemas.openxmlformats.org/drawingml/2006/chart" xmlns:p="http://schemas.openxmlformats.org/presentationml/2006/main" xmlns:p14="http://schemas.microsoft.com/office/powerpoint/2010/main" xmlns:r="http://schemas.openxmlformats.org/officeDocument/2006/relationships" showMasterSp="1">
  <p:cSld>
    <p:spTree>
      <p:nvGrpSpPr>
        <p:cNvPr id="1" name=""/>
        <p:cNvGrpSpPr/>
        <p:nvPr/>
      </p:nvGrpSpPr>
      <p:grpSpPr>
        <a:xfrm>
          <a:off x="0" y="0"/>
          <a:ext cx="0" cy="0"/>
          <a:chOff x="0" y="0"/>
          <a:chExt cx="0" cy="0"/>
        </a:xfrm>
      </p:grpSpPr>
      <p:sp>
        <p:nvSpPr>
          <p:cNvPr id="5" name="chart-insight-title-slot Placeholder Carrier"/>
          <p:cNvSpPr txBox="1"/>
          <p:nvPr>
            <p:ph type="title"/>
          </p:nvPr>
        </p:nvSpPr>
        <p:spPr>
          <a:xfrm>
            <a:off x="595884" y="527050"/>
            <a:ext cx="8758504" cy="528066"/>
          </a:xfrm>
          <a:prstGeom prst="rect">
            <a:avLst/>
          </a:prstGeom>
          <a:noFill/>
          <a:ln>
            <a:noFill/>
          </a:ln>
        </p:spPr>
        <p:txBody>
          <a:bodyPr wrap="none" lIns="0" tIns="0" rIns="0" bIns="0" anchor="t" anchorCtr="0">
            <a:spAutoFit/>
          </a:bodyPr>
          <a:lstStyle/>
          <a:p>
            <a:pPr algn="l"/>
            <a:r>
              <a:rPr lang="es-AR" sz="2700" b="1" dirty="0">
                <a:solidFill>
                  <a:schemeClr val="accent1"/>
                </a:solidFill>
                <a:latin typeface="+mj-lt"/>
                <a:ea typeface="+mj-ea"/>
                <a:cs typeface="+mj-cs"/>
              </a:rPr>
              <a:t>Registros correctos por planilla: 15, 3, 0 y 6 de 20</a:t>
            </a:r>
          </a:p>
        </p:txBody>
      </p:sp>
      <p:sp>
        <p:nvSpPr>
          <p:cNvPr id="6" name="title-rule"/>
          <p:cNvSpPr/>
          <p:nvPr/>
        </p:nvSpPr>
        <p:spPr>
          <a:xfrm>
            <a:off x="609600" y="1123950"/>
            <a:ext cx="685800" cy="28575"/>
          </a:xfrm>
          <a:prstGeom prst="rect">
            <a:avLst/>
          </a:prstGeom>
          <a:solidFill>
            <a:schemeClr val="accent1"/>
          </a:solidFill>
          <a:ln>
            <a:noFill/>
          </a:ln>
        </p:spPr>
      </p:sp>
      <p:graphicFrame>
        <p:nvGraphicFramePr>
          <p:cNvPr id="7" name="chart-insight-chart-slot Placeholder Carrier"/>
          <p:cNvGraphicFramePr>
            <a:graphicFrameLocks noGrp="1"/>
          </p:cNvGraphicFramePr>
          <p:nvPr>
            <p:ph type="chart" idx="1"/>
          </p:nvPr>
        </p:nvGraphicFramePr>
        <p:xfrm>
          <a:off x="838200" y="1676400"/>
          <a:ext cx="6781800" cy="3886200"/>
        </p:xfrm>
        <a:graphic>
          <a:graphicData uri="http://schemas.openxmlformats.org/drawingml/2006/chart">
            <c:chart r:id="rId2"/>
          </a:graphicData>
        </a:graphic>
      </p:graphicFrame>
      <p:sp>
        <p:nvSpPr>
          <p:cNvPr id="8" name="chart-insight-message-slot Placeholder Carrier"/>
          <p:cNvSpPr txBox="1"/>
          <p:nvPr>
            <p:ph type="body" idx="2"/>
          </p:nvPr>
        </p:nvSpPr>
        <p:spPr>
          <a:xfrm>
            <a:off x="8449056" y="1993900"/>
            <a:ext cx="2580757" cy="2333244"/>
          </a:xfrm>
          <a:prstGeom prst="rect">
            <a:avLst/>
          </a:prstGeom>
          <a:noFill/>
          <a:ln>
            <a:noFill/>
          </a:ln>
        </p:spPr>
        <p:txBody>
          <a:bodyPr wrap="none" lIns="0" tIns="0" rIns="0" bIns="0" anchor="t" anchorCtr="0">
            <a:noAutofit/>
          </a:bodyPr>
          <a:lstStyle/>
          <a:p>
            <a:pPr algn="l" marL="0" indent="0">
              <a:lnSpc>
                <a:spcPts val="2250"/>
              </a:lnSpc>
              <a:buNone/>
            </a:pPr>
            <a:r>
              <a:rPr lang="es-AR" sz="1800" b="1" dirty="0">
                <a:solidFill>
                  <a:schemeClr val="accent1"/>
                </a:solidFill>
                <a:latin typeface="+mn-lt"/>
                <a:ea typeface="+mn-ea"/>
                <a:cs typeface="+mn-cs"/>
              </a:rPr>
              <a:t>La planilla 3 no tiene</a:t>
            </a:r>
          </a:p>
          <a:p>
            <a:pPr algn="l" marL="0" indent="0">
              <a:lnSpc>
                <a:spcPts val="2250"/>
              </a:lnSpc>
              <a:spcBef>
                <a:spcPts val="150"/>
              </a:spcBef>
              <a:buNone/>
            </a:pPr>
            <a:r>
              <a:rPr lang="es-AR" sz="1800" b="1" dirty="0">
                <a:solidFill>
                  <a:schemeClr val="accent1"/>
                </a:solidFill>
                <a:latin typeface="+mn-lt"/>
                <a:ea typeface="+mn-ea"/>
                <a:cs typeface="+mn-cs"/>
              </a:rPr>
              <a:t>ningún registro con los seis</a:t>
            </a:r>
          </a:p>
          <a:p>
            <a:pPr algn="l" marL="0" indent="0">
              <a:lnSpc>
                <a:spcPts val="2250"/>
              </a:lnSpc>
              <a:spcBef>
                <a:spcPts val="150"/>
              </a:spcBef>
              <a:buNone/>
            </a:pPr>
            <a:r>
              <a:rPr lang="es-AR" sz="1800" b="1" dirty="0">
                <a:solidFill>
                  <a:schemeClr val="accent1"/>
                </a:solidFill>
                <a:latin typeface="+mn-lt"/>
                <a:ea typeface="+mn-ea"/>
                <a:cs typeface="+mn-cs"/>
              </a:rPr>
              <a:t>campos bien.</a:t>
            </a:r>
          </a:p>
          <a:p>
            <a:pPr algn="l" marL="0" indent="0">
              <a:lnSpc>
                <a:spcPts val="2250"/>
              </a:lnSpc>
              <a:spcBef>
                <a:spcPts val="900"/>
              </a:spcBef>
              <a:buNone/>
            </a:pPr>
            <a:r>
              <a:rPr lang="es-AR" sz="1650" dirty="0">
                <a:solidFill>
                  <a:schemeClr val="dk1"/>
                </a:solidFill>
                <a:latin typeface="+mn-lt"/>
                <a:ea typeface="+mn-ea"/>
                <a:cs typeface="+mn-cs"/>
              </a:rPr>
              <a:t>Comparamos a mano los 80</a:t>
            </a:r>
            <a:br>
              <a:rPr lang="es-AR" sz="1650" dirty="0">
                <a:solidFill>
                  <a:schemeClr val="dk1"/>
                </a:solidFill>
                <a:latin typeface="+mn-lt"/>
                <a:ea typeface="+mn-ea"/>
                <a:cs typeface="+mn-cs"/>
              </a:rPr>
            </a:br>
            <a:r>
              <a:rPr lang="es-AR" sz="1650" dirty="0">
                <a:solidFill>
                  <a:schemeClr val="dk1"/>
                </a:solidFill>
                <a:latin typeface="+mn-lt"/>
                <a:ea typeface="+mn-ea"/>
                <a:cs typeface="+mn-cs"/>
              </a:rPr>
              <a:t>registros y coinciden todos.</a:t>
            </a:r>
          </a:p>
          <a:p>
            <a:pPr algn="l" marL="0" indent="0">
              <a:lnSpc>
                <a:spcPts val="2250"/>
              </a:lnSpc>
              <a:spcBef>
                <a:spcPts val="900"/>
              </a:spcBef>
              <a:buNone/>
            </a:pPr>
            <a:r>
              <a:rPr lang="es-AR" sz="1650" dirty="0">
                <a:solidFill>
                  <a:schemeClr val="dk1"/>
                </a:solidFill>
                <a:latin typeface="+mn-lt"/>
                <a:ea typeface="+mn-ea"/>
                <a:cs typeface="+mn-cs"/>
              </a:rPr>
              <a:t>Alumnos en L: 6, 3, 0 y 2.</a:t>
            </a:r>
            <a:br>
              <a:rPr lang="es-AR" sz="1650" dirty="0">
                <a:solidFill>
                  <a:schemeClr val="dk1"/>
                </a:solidFill>
                <a:latin typeface="+mn-lt"/>
                <a:ea typeface="+mn-ea"/>
                <a:cs typeface="+mn-cs"/>
              </a:rPr>
            </a:br>
            <a:r>
              <a:rPr lang="es-AR" sz="1650" dirty="0">
                <a:solidFill>
                  <a:schemeClr val="dk1"/>
                </a:solidFill>
                <a:latin typeface="+mn-lt"/>
                <a:ea typeface="+mn-ea"/>
                <a:cs typeface="+mn-cs"/>
              </a:rPr>
              <a:t>Alumnos en R: 4, 0, 0 y 2.</a:t>
            </a:r>
          </a:p>
        </p:txBody>
      </p:sp>
      <p:sp>
        <p:nvSpPr>
          <p:cNvPr id="9" name="chart-insight-source-slot Placeholder Carrier"/>
          <p:cNvSpPr txBox="1"/>
          <p:nvPr>
            <p:ph type="ftr" idx="3"/>
          </p:nvPr>
        </p:nvSpPr>
        <p:spPr>
          <a:xfrm>
            <a:off x="8452866" y="5359400"/>
            <a:ext cx="2282450" cy="205359"/>
          </a:xfrm>
          <a:prstGeom prst="rect">
            <a:avLst/>
          </a:prstGeom>
          <a:noFill/>
          <a:ln>
            <a:noFill/>
          </a:ln>
        </p:spPr>
        <p:txBody>
          <a:bodyPr wrap="none" lIns="0" tIns="0" rIns="0" bIns="0" anchor="t" anchorCtr="0">
            <a:spAutoFit/>
          </a:bodyPr>
          <a:lstStyle/>
          <a:p>
            <a:pPr algn="l"/>
            <a:r>
              <a:rPr lang="es-AR" sz="1050" dirty="0">
                <a:solidFill>
                  <a:schemeClr val="accent5"/>
                </a:solidFill>
                <a:latin typeface="+mn-lt"/>
                <a:ea typeface="+mn-ea"/>
                <a:cs typeface="+mn-cs"/>
              </a:rPr>
              <a:t>Fuente: tabla de resultados del informe</a:t>
            </a:r>
          </a:p>
        </p:txBody>
      </p:sp>
      <p:grpSp>
        <p:nvGrpSpPr>
          <p:cNvPr id="11" name="planilla3-note"/>
          <p:cNvGrpSpPr/>
          <p:nvPr/>
        </p:nvGrpSpPr>
        <p:grpSpPr>
          <a:xfrm>
            <a:off x="602742" y="5956300"/>
            <a:ext cx="10340252" cy="492633"/>
            <a:chOff x="602742" y="5956300"/>
            <a:chExt cx="10340252" cy="492633"/>
          </a:xfrm>
        </p:grpSpPr>
        <p:sp>
          <p:nvSpPr>
            <p:cNvPr id="10" name="TextBox 10"/>
            <p:cNvSpPr txBox="1"/>
            <p:nvPr/>
          </p:nvSpPr>
          <p:spPr>
            <a:xfrm>
              <a:off x="602742" y="5956300"/>
              <a:ext cx="10340252" cy="492633"/>
            </a:xfrm>
            <a:prstGeom prst="rect">
              <a:avLst/>
            </a:prstGeom>
            <a:noFill/>
            <a:ln>
              <a:noFill/>
            </a:ln>
          </p:spPr>
          <p:txBody>
            <a:bodyPr wrap="none" lIns="0" tIns="0" rIns="0" bIns="0" anchor="t" anchorCtr="0">
              <a:spAutoFit/>
            </a:bodyPr>
            <a:lstStyle/>
            <a:p>
              <a:pPr algn="l">
                <a:lnSpc>
                  <a:spcPts val="1800"/>
                </a:lnSpc>
              </a:pPr>
              <a:r>
                <a:rPr lang="es-AR" sz="1350" dirty="0">
                  <a:solidFill>
                    <a:schemeClr val="accent5"/>
                  </a:solidFill>
                  <a:latin typeface="+mn-lt"/>
                  <a:ea typeface="+mn-ea"/>
                  <a:cs typeface="+mn-cs"/>
                </a:rPr>
                <a:t>Planilla 3: legajos con dígitos de más o de menos, nombres de una palabra o muy largos, notas vacías o con tres caracteres y condiciones como «LL»,</a:t>
              </a:r>
              <a:br>
                <a:rPr lang="es-AR" sz="1350" dirty="0">
                  <a:solidFill>
                    <a:schemeClr val="accent5"/>
                  </a:solidFill>
                  <a:latin typeface="+mn-lt"/>
                  <a:ea typeface="+mn-ea"/>
                  <a:cs typeface="+mn-cs"/>
                </a:rPr>
              </a:br>
              <a:r>
                <a:rPr lang="es-AR" sz="1350" dirty="0">
                  <a:solidFill>
                    <a:schemeClr val="accent5"/>
                  </a:solidFill>
                  <a:latin typeface="+mn-lt"/>
                  <a:ea typeface="+mn-ea"/>
                  <a:cs typeface="+mn-cs"/>
                </a:rPr>
                <a:t>«RR» o «Rec»; su imagen de salida dice «Sin alumnos L/R». Una fila vacía cuenta como registro con todo MAL.</a:t>
              </a:r>
            </a:p>
          </p:txBody>
        </p:sp>
      </p:grpSp>
    </p:spTree>
  </p:cSld>
  <p:clrMapOvr>
    <a:masterClrMapping/>
  </p:clrMapOvr>
  <p:transition p14:dur="400">
    <p:fade/>
  </p:transition>
</p:sld>
</file>

<file path=ppt/slides/slide17.xml><?xml version="1.0" encoding="utf-8"?>
<p:sld xmlns:a="http://schemas.openxmlformats.org/drawingml/2006/main" xmlns:p="http://schemas.openxmlformats.org/presentationml/2006/main" xmlns:p14="http://schemas.microsoft.com/office/powerpoint/2010/main" xmlns:r="http://schemas.openxmlformats.org/officeDocument/2006/relationships" showMasterSp="1">
  <p:cSld>
    <p:spTree>
      <p:nvGrpSpPr>
        <p:cNvPr id="1" name=""/>
        <p:cNvGrpSpPr/>
        <p:nvPr/>
      </p:nvGrpSpPr>
      <p:grpSpPr>
        <a:xfrm>
          <a:off x="0" y="0"/>
          <a:ext cx="0" cy="0"/>
          <a:chOff x="0" y="0"/>
          <a:chExt cx="0" cy="0"/>
        </a:xfrm>
      </p:grpSpPr>
      <p:sp>
        <p:nvSpPr>
          <p:cNvPr id="11" name="screenshot-focus-title-slot Placeholder Carrier"/>
          <p:cNvSpPr txBox="1"/>
          <p:nvPr>
            <p:ph type="title"/>
          </p:nvPr>
        </p:nvSpPr>
        <p:spPr>
          <a:xfrm>
            <a:off x="595884" y="527050"/>
            <a:ext cx="6348877" cy="528066"/>
          </a:xfrm>
          <a:prstGeom prst="rect">
            <a:avLst/>
          </a:prstGeom>
          <a:noFill/>
          <a:ln>
            <a:noFill/>
          </a:ln>
        </p:spPr>
        <p:txBody>
          <a:bodyPr wrap="none" lIns="0" tIns="0" rIns="0" bIns="0" anchor="t" anchorCtr="0">
            <a:spAutoFit/>
          </a:bodyPr>
          <a:lstStyle/>
          <a:p>
            <a:pPr algn="l"/>
            <a:r>
              <a:rPr lang="es-AR" sz="2700" b="1" dirty="0">
                <a:solidFill>
                  <a:schemeClr val="accent1"/>
                </a:solidFill>
                <a:latin typeface="+mj-lt"/>
                <a:ea typeface="+mj-ea"/>
                <a:cs typeface="+mj-cs"/>
              </a:rPr>
              <a:t>Validación por celda de la planilla 1</a:t>
            </a:r>
          </a:p>
        </p:txBody>
      </p:sp>
      <p:sp>
        <p:nvSpPr>
          <p:cNvPr id="12" name="title-rule"/>
          <p:cNvSpPr/>
          <p:nvPr/>
        </p:nvSpPr>
        <p:spPr>
          <a:xfrm>
            <a:off x="609600" y="1123950"/>
            <a:ext cx="685800" cy="28575"/>
          </a:xfrm>
          <a:prstGeom prst="rect">
            <a:avLst/>
          </a:prstGeom>
          <a:solidFill>
            <a:schemeClr val="accent1"/>
          </a:solidFill>
          <a:ln>
            <a:noFill/>
          </a:ln>
        </p:spPr>
      </p:sp>
      <p:pic>
        <p:nvPicPr>
          <p:cNvPr id="13" name="screenshot-focus-picture-slot Placeholder Carrier"/>
          <p:cNvPicPr>
            <a:picLocks noChangeAspect="1"/>
          </p:cNvPicPr>
          <p:nvPr>
            <p:ph type="pic" idx="1"/>
          </p:nvPr>
        </p:nvPicPr>
        <p:blipFill>
          <a:blip r:embed="rId2"/>
          <a:stretch>
            <a:fillRect/>
          </a:stretch>
        </p:blipFill>
        <p:spPr>
          <a:xfrm>
            <a:off x="723900" y="1943100"/>
            <a:ext cx="4953000" cy="3876675"/>
          </a:xfrm>
          <a:prstGeom prst="rect">
            <a:avLst/>
          </a:prstGeom>
        </p:spPr>
      </p:pic>
      <p:grpSp>
        <p:nvGrpSpPr>
          <p:cNvPr id="15" name="nombres-group"/>
          <p:cNvGrpSpPr/>
          <p:nvPr/>
        </p:nvGrpSpPr>
        <p:grpSpPr>
          <a:xfrm>
            <a:off x="5897880" y="1981200"/>
            <a:ext cx="1221029" cy="3322320"/>
            <a:chOff x="5897880" y="1981200"/>
            <a:chExt cx="1221029" cy="3322320"/>
          </a:xfrm>
        </p:grpSpPr>
        <p:sp>
          <p:nvSpPr>
            <p:cNvPr id="14" name="TextBox 14"/>
            <p:cNvSpPr txBox="1"/>
            <p:nvPr/>
          </p:nvSpPr>
          <p:spPr>
            <a:xfrm>
              <a:off x="5897880" y="1981200"/>
              <a:ext cx="1221029" cy="3322320"/>
            </a:xfrm>
            <a:prstGeom prst="rect">
              <a:avLst/>
            </a:prstGeom>
            <a:noFill/>
            <a:ln>
              <a:noFill/>
            </a:ln>
          </p:spPr>
          <p:txBody>
            <a:bodyPr wrap="none" lIns="0" tIns="0" rIns="0" bIns="0" anchor="t" anchorCtr="0">
              <a:spAutoFit/>
            </a:bodyPr>
            <a:lstStyle/>
            <a:p>
              <a:pPr algn="l">
                <a:lnSpc>
                  <a:spcPts val="2025"/>
                </a:lnSpc>
              </a:pPr>
              <a:r>
                <a:rPr lang="es-AR" sz="1350" b="1" dirty="0">
                  <a:solidFill>
                    <a:schemeClr val="accent5"/>
                  </a:solidFill>
                  <a:latin typeface="+mn-lt"/>
                  <a:ea typeface="+mn-ea"/>
                  <a:cs typeface="+mn-cs"/>
                </a:rPr>
                <a:t>LIBRES (6)</a:t>
              </a:r>
            </a:p>
            <a:p>
              <a:pPr algn="l">
                <a:lnSpc>
                  <a:spcPts val="2025"/>
                </a:lnSpc>
                <a:spcBef>
                  <a:spcPts val="300"/>
                </a:spcBef>
              </a:pPr>
              <a:r>
                <a:rPr lang="es-AR" sz="1500" dirty="0">
                  <a:solidFill>
                    <a:schemeClr val="dk1"/>
                  </a:solidFill>
                  <a:latin typeface="+mn-lt"/>
                  <a:ea typeface="+mn-ea"/>
                  <a:cs typeface="+mn-cs"/>
                </a:rPr>
                <a:t>Bianca Monte</a:t>
              </a:r>
              <a:br>
                <a:rPr lang="es-AR" sz="1500" dirty="0">
                  <a:solidFill>
                    <a:schemeClr val="dk1"/>
                  </a:solidFill>
                  <a:latin typeface="+mn-lt"/>
                  <a:ea typeface="+mn-ea"/>
                  <a:cs typeface="+mn-cs"/>
                </a:rPr>
              </a:br>
              <a:r>
                <a:rPr lang="es-AR" sz="1500" dirty="0">
                  <a:solidFill>
                    <a:schemeClr val="dk1"/>
                  </a:solidFill>
                  <a:latin typeface="+mn-lt"/>
                  <a:ea typeface="+mn-ea"/>
                  <a:cs typeface="+mn-cs"/>
                </a:rPr>
                <a:t>Farias Jorge</a:t>
              </a:r>
              <a:br>
                <a:rPr lang="es-AR" sz="1500" dirty="0">
                  <a:solidFill>
                    <a:schemeClr val="dk1"/>
                  </a:solidFill>
                  <a:latin typeface="+mn-lt"/>
                  <a:ea typeface="+mn-ea"/>
                  <a:cs typeface="+mn-cs"/>
                </a:rPr>
              </a:br>
              <a:r>
                <a:rPr lang="es-AR" sz="1500" dirty="0">
                  <a:solidFill>
                    <a:schemeClr val="dk1"/>
                  </a:solidFill>
                  <a:latin typeface="+mn-lt"/>
                  <a:ea typeface="+mn-ea"/>
                  <a:cs typeface="+mn-cs"/>
                </a:rPr>
                <a:t>Juana Gomez</a:t>
              </a:r>
              <a:br>
                <a:rPr lang="es-AR" sz="1500" dirty="0">
                  <a:solidFill>
                    <a:schemeClr val="dk1"/>
                  </a:solidFill>
                  <a:latin typeface="+mn-lt"/>
                  <a:ea typeface="+mn-ea"/>
                  <a:cs typeface="+mn-cs"/>
                </a:rPr>
              </a:br>
              <a:r>
                <a:rPr lang="es-AR" sz="1500" dirty="0">
                  <a:solidFill>
                    <a:schemeClr val="dk1"/>
                  </a:solidFill>
                  <a:latin typeface="+mn-lt"/>
                  <a:ea typeface="+mn-ea"/>
                  <a:cs typeface="+mn-cs"/>
                </a:rPr>
                <a:t>Amanda Santos</a:t>
              </a:r>
              <a:br>
                <a:rPr lang="es-AR" sz="1500" dirty="0">
                  <a:solidFill>
                    <a:schemeClr val="dk1"/>
                  </a:solidFill>
                  <a:latin typeface="+mn-lt"/>
                  <a:ea typeface="+mn-ea"/>
                  <a:cs typeface="+mn-cs"/>
                </a:rPr>
              </a:br>
              <a:r>
                <a:rPr lang="es-AR" sz="1500" dirty="0">
                  <a:solidFill>
                    <a:schemeClr val="dk1"/>
                  </a:solidFill>
                  <a:latin typeface="+mn-lt"/>
                  <a:ea typeface="+mn-ea"/>
                  <a:cs typeface="+mn-cs"/>
                </a:rPr>
                <a:t>Nahuel Fausto</a:t>
              </a:r>
              <a:br>
                <a:rPr lang="es-AR" sz="1500" dirty="0">
                  <a:solidFill>
                    <a:schemeClr val="dk1"/>
                  </a:solidFill>
                  <a:latin typeface="+mn-lt"/>
                  <a:ea typeface="+mn-ea"/>
                  <a:cs typeface="+mn-cs"/>
                </a:rPr>
              </a:br>
              <a:r>
                <a:rPr lang="es-AR" sz="1500" dirty="0">
                  <a:solidFill>
                    <a:schemeClr val="dk1"/>
                  </a:solidFill>
                  <a:latin typeface="+mn-lt"/>
                  <a:ea typeface="+mn-ea"/>
                  <a:cs typeface="+mn-cs"/>
                </a:rPr>
                <a:t>Julio Foglia</a:t>
              </a:r>
            </a:p>
            <a:p>
              <a:pPr algn="l">
                <a:lnSpc>
                  <a:spcPts val="2025"/>
                </a:lnSpc>
                <a:spcBef>
                  <a:spcPts val="975"/>
                </a:spcBef>
              </a:pPr>
              <a:r>
                <a:rPr lang="es-AR" sz="1350" b="1" dirty="0">
                  <a:solidFill>
                    <a:schemeClr val="accent5"/>
                  </a:solidFill>
                  <a:latin typeface="+mn-lt"/>
                  <a:ea typeface="+mn-ea"/>
                  <a:cs typeface="+mn-cs"/>
                </a:rPr>
                <a:t>RECUPERAN (4)</a:t>
              </a:r>
            </a:p>
            <a:p>
              <a:pPr algn="l">
                <a:lnSpc>
                  <a:spcPts val="2025"/>
                </a:lnSpc>
                <a:spcBef>
                  <a:spcPts val="300"/>
                </a:spcBef>
              </a:pPr>
              <a:r>
                <a:rPr lang="es-AR" sz="1500" dirty="0">
                  <a:solidFill>
                    <a:schemeClr val="dk1"/>
                  </a:solidFill>
                  <a:latin typeface="+mn-lt"/>
                  <a:ea typeface="+mn-ea"/>
                  <a:cs typeface="+mn-cs"/>
                </a:rPr>
                <a:t>Rivas Hugo</a:t>
              </a:r>
              <a:br>
                <a:rPr lang="es-AR" sz="1500" dirty="0">
                  <a:solidFill>
                    <a:schemeClr val="dk1"/>
                  </a:solidFill>
                  <a:latin typeface="+mn-lt"/>
                  <a:ea typeface="+mn-ea"/>
                  <a:cs typeface="+mn-cs"/>
                </a:rPr>
              </a:br>
              <a:r>
                <a:rPr lang="es-AR" sz="1500" dirty="0">
                  <a:solidFill>
                    <a:schemeClr val="dk1"/>
                  </a:solidFill>
                  <a:latin typeface="+mn-lt"/>
                  <a:ea typeface="+mn-ea"/>
                  <a:cs typeface="+mn-cs"/>
                </a:rPr>
                <a:t>Jorge Delgado</a:t>
              </a:r>
              <a:br>
                <a:rPr lang="es-AR" sz="1500" dirty="0">
                  <a:solidFill>
                    <a:schemeClr val="dk1"/>
                  </a:solidFill>
                  <a:latin typeface="+mn-lt"/>
                  <a:ea typeface="+mn-ea"/>
                  <a:cs typeface="+mn-cs"/>
                </a:rPr>
              </a:br>
              <a:r>
                <a:rPr lang="es-AR" sz="1500" dirty="0">
                  <a:solidFill>
                    <a:schemeClr val="dk1"/>
                  </a:solidFill>
                  <a:latin typeface="+mn-lt"/>
                  <a:ea typeface="+mn-ea"/>
                  <a:cs typeface="+mn-cs"/>
                </a:rPr>
                <a:t>Jose Santini</a:t>
              </a:r>
              <a:br>
                <a:rPr lang="es-AR" sz="1500" dirty="0">
                  <a:solidFill>
                    <a:schemeClr val="dk1"/>
                  </a:solidFill>
                  <a:latin typeface="+mn-lt"/>
                  <a:ea typeface="+mn-ea"/>
                  <a:cs typeface="+mn-cs"/>
                </a:rPr>
              </a:br>
              <a:r>
                <a:rPr lang="es-AR" sz="1500" dirty="0">
                  <a:solidFill>
                    <a:schemeClr val="dk1"/>
                  </a:solidFill>
                  <a:latin typeface="+mn-lt"/>
                  <a:ea typeface="+mn-ea"/>
                  <a:cs typeface="+mn-cs"/>
                </a:rPr>
                <a:t>Camila Godoy</a:t>
              </a:r>
            </a:p>
          </p:txBody>
        </p:sp>
      </p:grpSp>
      <p:sp>
        <p:nvSpPr>
          <p:cNvPr id="16" name="screenshot-focus-annotation-slot Placeholder Carrier"/>
          <p:cNvSpPr txBox="1"/>
          <p:nvPr>
            <p:ph type="body" idx="2"/>
          </p:nvPr>
        </p:nvSpPr>
        <p:spPr>
          <a:xfrm>
            <a:off x="9211056" y="1866900"/>
            <a:ext cx="1810302" cy="1933194"/>
          </a:xfrm>
          <a:prstGeom prst="rect">
            <a:avLst/>
          </a:prstGeom>
          <a:noFill/>
          <a:ln>
            <a:noFill/>
          </a:ln>
        </p:spPr>
        <p:txBody>
          <a:bodyPr wrap="none" lIns="0" tIns="0" rIns="0" bIns="0" anchor="t" anchorCtr="0">
            <a:noAutofit/>
          </a:bodyPr>
          <a:lstStyle/>
          <a:p>
            <a:pPr algn="l" marL="0" indent="0">
              <a:lnSpc>
                <a:spcPts val="2025"/>
              </a:lnSpc>
              <a:buNone/>
            </a:pPr>
            <a:r>
              <a:rPr lang="es-AR" sz="1800" b="1" dirty="0">
                <a:solidFill>
                  <a:schemeClr val="accent1"/>
                </a:solidFill>
                <a:latin typeface="+mn-lt"/>
                <a:ea typeface="+mn-ea"/>
                <a:cs typeface="+mn-cs"/>
              </a:rPr>
              <a:t>15 registros</a:t>
            </a:r>
          </a:p>
          <a:p>
            <a:pPr algn="l" marL="0" indent="0">
              <a:lnSpc>
                <a:spcPts val="2025"/>
              </a:lnSpc>
              <a:spcBef>
                <a:spcPts val="375"/>
              </a:spcBef>
              <a:buNone/>
            </a:pPr>
            <a:r>
              <a:rPr lang="es-AR" sz="1800" b="1" dirty="0">
                <a:solidFill>
                  <a:schemeClr val="accent1"/>
                </a:solidFill>
                <a:latin typeface="+mn-lt"/>
                <a:ea typeface="+mn-ea"/>
                <a:cs typeface="+mn-cs"/>
              </a:rPr>
              <a:t>correctos de 20.</a:t>
            </a:r>
          </a:p>
          <a:p>
            <a:pPr algn="l" marL="0" indent="0">
              <a:lnSpc>
                <a:spcPts val="2025"/>
              </a:lnSpc>
              <a:spcBef>
                <a:spcPts val="1050"/>
              </a:spcBef>
              <a:buNone/>
            </a:pPr>
            <a:r>
              <a:rPr lang="es-AR" sz="1500" dirty="0">
                <a:solidFill>
                  <a:schemeClr val="dk1"/>
                </a:solidFill>
                <a:latin typeface="+mn-lt"/>
                <a:ea typeface="+mn-ea"/>
                <a:cs typeface="+mn-cs"/>
              </a:rPr>
              <a:t>Los únicos MAL son las</a:t>
            </a:r>
            <a:br>
              <a:rPr lang="es-AR" sz="1500" dirty="0">
                <a:solidFill>
                  <a:schemeClr val="dk1"/>
                </a:solidFill>
                <a:latin typeface="+mn-lt"/>
                <a:ea typeface="+mn-ea"/>
                <a:cs typeface="+mn-cs"/>
              </a:rPr>
            </a:br>
            <a:r>
              <a:rPr lang="es-AR" sz="1500" dirty="0">
                <a:solidFill>
                  <a:schemeClr val="dk1"/>
                </a:solidFill>
                <a:latin typeface="+mn-lt"/>
                <a:ea typeface="+mn-ea"/>
                <a:cs typeface="+mn-cs"/>
              </a:rPr>
              <a:t>cinco filas vacías: 3, 11,</a:t>
            </a:r>
            <a:br>
              <a:rPr lang="es-AR" sz="1500" dirty="0">
                <a:solidFill>
                  <a:schemeClr val="dk1"/>
                </a:solidFill>
                <a:latin typeface="+mn-lt"/>
                <a:ea typeface="+mn-ea"/>
                <a:cs typeface="+mn-cs"/>
              </a:rPr>
            </a:br>
            <a:r>
              <a:rPr lang="es-AR" sz="1500" dirty="0">
                <a:solidFill>
                  <a:schemeClr val="dk1"/>
                </a:solidFill>
                <a:latin typeface="+mn-lt"/>
                <a:ea typeface="+mn-ea"/>
                <a:cs typeface="+mn-cs"/>
              </a:rPr>
              <a:t>14, 15 y 20.</a:t>
            </a:r>
          </a:p>
          <a:p>
            <a:pPr algn="l" marL="0" indent="0">
              <a:lnSpc>
                <a:spcPts val="2025"/>
              </a:lnSpc>
              <a:spcBef>
                <a:spcPts val="900"/>
              </a:spcBef>
              <a:buNone/>
            </a:pPr>
            <a:r>
              <a:rPr lang="es-AR" sz="1500" dirty="0">
                <a:solidFill>
                  <a:schemeClr val="accent5"/>
                </a:solidFill>
                <a:latin typeface="+mn-lt"/>
                <a:ea typeface="+mn-ea"/>
                <a:cs typeface="+mn-cs"/>
              </a:rPr>
              <a:t>Verde, OK. Rojo, MAL.</a:t>
            </a:r>
          </a:p>
        </p:txBody>
      </p:sp>
      <p:sp>
        <p:nvSpPr>
          <p:cNvPr id="17" name="screenshot-focus-source-slot Placeholder Carrier"/>
          <p:cNvSpPr txBox="1"/>
          <p:nvPr>
            <p:ph type="ftr" idx="3"/>
          </p:nvPr>
        </p:nvSpPr>
        <p:spPr>
          <a:xfrm>
            <a:off x="9062466" y="5245100"/>
            <a:ext cx="1692736" cy="205359"/>
          </a:xfrm>
          <a:prstGeom prst="rect">
            <a:avLst/>
          </a:prstGeom>
          <a:noFill/>
          <a:ln>
            <a:noFill/>
          </a:ln>
        </p:spPr>
        <p:txBody>
          <a:bodyPr wrap="none" lIns="0" tIns="0" rIns="0" bIns="0" anchor="t" anchorCtr="0">
            <a:spAutoFit/>
          </a:bodyPr>
          <a:lstStyle/>
          <a:p>
            <a:pPr algn="l"/>
            <a:r>
              <a:rPr lang="es-AR" sz="1050" dirty="0">
                <a:solidFill>
                  <a:schemeClr val="accent5"/>
                </a:solidFill>
                <a:latin typeface="+mn-lt"/>
                <a:ea typeface="+mn-ea"/>
                <a:cs typeface="+mn-cs"/>
              </a:rPr>
              <a:t>Fuente: figura 15 del informe</a:t>
            </a:r>
          </a:p>
        </p:txBody>
      </p:sp>
    </p:spTree>
  </p:cSld>
  <p:clrMapOvr>
    <a:masterClrMapping/>
  </p:clrMapOvr>
  <p:transition p14:dur="400">
    <p:fade/>
  </p:transition>
</p:sld>
</file>

<file path=ppt/slides/slide18.xml><?xml version="1.0" encoding="utf-8"?>
<p:sld xmlns:a="http://schemas.openxmlformats.org/drawingml/2006/main" xmlns:p="http://schemas.openxmlformats.org/presentationml/2006/main" xmlns:p14="http://schemas.microsoft.com/office/powerpoint/2010/main" showMasterSp="1">
  <p:cSld>
    <p:spTree>
      <p:nvGrpSpPr>
        <p:cNvPr id="1" name=""/>
        <p:cNvGrpSpPr/>
        <p:nvPr/>
      </p:nvGrpSpPr>
      <p:grpSpPr>
        <a:xfrm>
          <a:off x="0" y="0"/>
          <a:ext cx="0" cy="0"/>
          <a:chOff x="0" y="0"/>
          <a:chExt cx="0" cy="0"/>
        </a:xfrm>
      </p:grpSpPr>
      <p:sp>
        <p:nvSpPr>
          <p:cNvPr id="6" name="three-card-title-slot Placeholder Carrier"/>
          <p:cNvSpPr txBox="1"/>
          <p:nvPr>
            <p:ph type="title"/>
          </p:nvPr>
        </p:nvSpPr>
        <p:spPr>
          <a:xfrm>
            <a:off x="595884" y="603250"/>
            <a:ext cx="6018364" cy="528066"/>
          </a:xfrm>
          <a:prstGeom prst="rect">
            <a:avLst/>
          </a:prstGeom>
          <a:noFill/>
          <a:ln>
            <a:noFill/>
          </a:ln>
        </p:spPr>
        <p:txBody>
          <a:bodyPr wrap="none" lIns="0" tIns="0" rIns="0" bIns="0" anchor="t" anchorCtr="0">
            <a:spAutoFit/>
          </a:bodyPr>
          <a:lstStyle/>
          <a:p>
            <a:pPr algn="l"/>
            <a:r>
              <a:rPr lang="es-AR" sz="2700" b="1" dirty="0">
                <a:solidFill>
                  <a:schemeClr val="accent1"/>
                </a:solidFill>
                <a:latin typeface="+mj-lt"/>
                <a:ea typeface="+mj-ea"/>
                <a:cs typeface="+mj-cs"/>
              </a:rPr>
              <a:t>Limitaciones y decisiones propias</a:t>
            </a:r>
          </a:p>
        </p:txBody>
      </p:sp>
      <p:sp>
        <p:nvSpPr>
          <p:cNvPr id="7" name="title-rule"/>
          <p:cNvSpPr/>
          <p:nvPr/>
        </p:nvSpPr>
        <p:spPr>
          <a:xfrm>
            <a:off x="609600" y="1219200"/>
            <a:ext cx="685800" cy="28575"/>
          </a:xfrm>
          <a:prstGeom prst="rect">
            <a:avLst/>
          </a:prstGeom>
          <a:solidFill>
            <a:schemeClr val="accent1"/>
          </a:solidFill>
          <a:ln>
            <a:noFill/>
          </a:ln>
        </p:spPr>
      </p:sp>
      <p:sp>
        <p:nvSpPr>
          <p:cNvPr id="8" name="three-card-one-slot Placeholder Carrier"/>
          <p:cNvSpPr txBox="1"/>
          <p:nvPr>
            <p:ph idx="1"/>
          </p:nvPr>
        </p:nvSpPr>
        <p:spPr>
          <a:xfrm>
            <a:off x="829056" y="1885950"/>
            <a:ext cx="2790680" cy="2352294"/>
          </a:xfrm>
          <a:prstGeom prst="rect">
            <a:avLst/>
          </a:prstGeom>
          <a:noFill/>
          <a:ln>
            <a:noFill/>
          </a:ln>
        </p:spPr>
        <p:txBody>
          <a:bodyPr wrap="none" lIns="0" tIns="0" rIns="0" bIns="0" anchor="t" anchorCtr="0">
            <a:noAutofit/>
          </a:bodyPr>
          <a:lstStyle/>
          <a:p>
            <a:pPr algn="l" marL="0" indent="0">
              <a:lnSpc>
                <a:spcPts val="2400"/>
              </a:lnSpc>
              <a:buNone/>
            </a:pPr>
            <a:r>
              <a:rPr lang="es-AR" sz="2100" b="1" dirty="0">
                <a:solidFill>
                  <a:schemeClr val="accent2"/>
                </a:solidFill>
                <a:latin typeface="+mn-lt"/>
                <a:ea typeface="+mn-ea"/>
                <a:cs typeface="+mn-cs"/>
              </a:rPr>
              <a:t>Ruido</a:t>
            </a:r>
          </a:p>
          <a:p>
            <a:pPr algn="l" marL="0" indent="0">
              <a:lnSpc>
                <a:spcPts val="2400"/>
              </a:lnSpc>
              <a:spcBef>
                <a:spcPts val="600"/>
              </a:spcBef>
              <a:buNone/>
            </a:pPr>
            <a:r>
              <a:rPr lang="es-AR" sz="1800" dirty="0">
                <a:solidFill>
                  <a:schemeClr val="dk1"/>
                </a:solidFill>
                <a:latin typeface="+mn-lt"/>
                <a:ea typeface="+mn-ea"/>
                <a:cs typeface="+mn-cs"/>
              </a:rPr>
              <a:t>La ecualización local amplifica</a:t>
            </a:r>
            <a:br>
              <a:rPr lang="es-AR" sz="1800" dirty="0">
                <a:solidFill>
                  <a:schemeClr val="dk1"/>
                </a:solidFill>
                <a:latin typeface="+mn-lt"/>
                <a:ea typeface="+mn-ea"/>
                <a:cs typeface="+mn-cs"/>
              </a:rPr>
            </a:br>
            <a:r>
              <a:rPr lang="es-AR" sz="1800" dirty="0">
                <a:solidFill>
                  <a:schemeClr val="dk1"/>
                </a:solidFill>
                <a:latin typeface="+mn-lt"/>
                <a:ea typeface="+mn-ea"/>
                <a:cs typeface="+mn-cs"/>
              </a:rPr>
              <a:t>el ruido.</a:t>
            </a:r>
          </a:p>
          <a:p>
            <a:pPr algn="l" marL="0" indent="0">
              <a:lnSpc>
                <a:spcPts val="2400"/>
              </a:lnSpc>
              <a:spcBef>
                <a:spcPts val="750"/>
              </a:spcBef>
              <a:buNone/>
            </a:pPr>
            <a:r>
              <a:rPr lang="es-AR" sz="1800" dirty="0">
                <a:solidFill>
                  <a:schemeClr val="dk1"/>
                </a:solidFill>
                <a:latin typeface="+mn-lt"/>
                <a:ea typeface="+mn-ea"/>
                <a:cs typeface="+mn-cs"/>
              </a:rPr>
              <a:t>En el fondo queda oscuro el</a:t>
            </a:r>
            <a:br>
              <a:rPr lang="es-AR" sz="1800" dirty="0">
                <a:solidFill>
                  <a:schemeClr val="dk1"/>
                </a:solidFill>
                <a:latin typeface="+mn-lt"/>
                <a:ea typeface="+mn-ea"/>
                <a:cs typeface="+mn-cs"/>
              </a:rPr>
            </a:br>
            <a:r>
              <a:rPr lang="es-AR" sz="1800" dirty="0">
                <a:solidFill>
                  <a:schemeClr val="dk1"/>
                </a:solidFill>
                <a:latin typeface="+mn-lt"/>
                <a:ea typeface="+mn-ea"/>
                <a:cs typeface="+mn-cs"/>
              </a:rPr>
              <a:t>2,5%: son los 1175 píxeles de</a:t>
            </a:r>
            <a:br>
              <a:rPr lang="es-AR" sz="1800" dirty="0">
                <a:solidFill>
                  <a:schemeClr val="dk1"/>
                </a:solidFill>
                <a:latin typeface="+mn-lt"/>
                <a:ea typeface="+mn-ea"/>
                <a:cs typeface="+mn-cs"/>
              </a:rPr>
            </a:br>
            <a:r>
              <a:rPr lang="es-AR" sz="1800" dirty="0">
                <a:solidFill>
                  <a:schemeClr val="dk1"/>
                </a:solidFill>
                <a:latin typeface="+mn-lt"/>
                <a:ea typeface="+mn-ea"/>
                <a:cs typeface="+mn-cs"/>
              </a:rPr>
              <a:t>nivel 226 de la imagen</a:t>
            </a:r>
            <a:br>
              <a:rPr lang="es-AR" sz="1800" dirty="0">
                <a:solidFill>
                  <a:schemeClr val="dk1"/>
                </a:solidFill>
                <a:latin typeface="+mn-lt"/>
                <a:ea typeface="+mn-ea"/>
                <a:cs typeface="+mn-cs"/>
              </a:rPr>
            </a:br>
            <a:r>
              <a:rPr lang="es-AR" sz="1800" dirty="0">
                <a:solidFill>
                  <a:schemeClr val="dk1"/>
                </a:solidFill>
                <a:latin typeface="+mn-lt"/>
                <a:ea typeface="+mn-ea"/>
                <a:cs typeface="+mn-cs"/>
              </a:rPr>
              <a:t>original.</a:t>
            </a:r>
          </a:p>
        </p:txBody>
      </p:sp>
      <p:sp>
        <p:nvSpPr>
          <p:cNvPr id="9" name="three-card-two-slot Placeholder Carrier"/>
          <p:cNvSpPr txBox="1"/>
          <p:nvPr>
            <p:ph idx="2"/>
          </p:nvPr>
        </p:nvSpPr>
        <p:spPr>
          <a:xfrm>
            <a:off x="4562856" y="1885950"/>
            <a:ext cx="2813083" cy="2028444"/>
          </a:xfrm>
          <a:prstGeom prst="rect">
            <a:avLst/>
          </a:prstGeom>
          <a:noFill/>
          <a:ln>
            <a:noFill/>
          </a:ln>
        </p:spPr>
        <p:txBody>
          <a:bodyPr wrap="none" lIns="0" tIns="0" rIns="0" bIns="0" anchor="t" anchorCtr="0">
            <a:noAutofit/>
          </a:bodyPr>
          <a:lstStyle/>
          <a:p>
            <a:pPr algn="l" marL="0" indent="0">
              <a:lnSpc>
                <a:spcPts val="2400"/>
              </a:lnSpc>
              <a:buNone/>
            </a:pPr>
            <a:r>
              <a:rPr lang="es-AR" sz="2100" b="1" dirty="0">
                <a:solidFill>
                  <a:schemeClr val="accent1"/>
                </a:solidFill>
                <a:latin typeface="+mn-lt"/>
                <a:ea typeface="+mn-ea"/>
                <a:cs typeface="+mn-cs"/>
              </a:rPr>
              <a:t>Zonas a mano</a:t>
            </a:r>
          </a:p>
          <a:p>
            <a:pPr algn="l" marL="0" indent="0">
              <a:lnSpc>
                <a:spcPts val="2400"/>
              </a:lnSpc>
              <a:spcBef>
                <a:spcPts val="450"/>
              </a:spcBef>
              <a:buNone/>
            </a:pPr>
            <a:r>
              <a:rPr lang="es-AR" sz="1800" dirty="0">
                <a:solidFill>
                  <a:schemeClr val="dk1"/>
                </a:solidFill>
                <a:latin typeface="+mn-lt"/>
                <a:ea typeface="+mn-ea"/>
                <a:cs typeface="+mn-cs"/>
              </a:rPr>
              <a:t>En el problema 1, las zonas de</a:t>
            </a:r>
            <a:br>
              <a:rPr lang="es-AR" sz="1800" dirty="0">
                <a:solidFill>
                  <a:schemeClr val="dk1"/>
                </a:solidFill>
                <a:latin typeface="+mn-lt"/>
                <a:ea typeface="+mn-ea"/>
                <a:cs typeface="+mn-cs"/>
              </a:rPr>
            </a:br>
            <a:r>
              <a:rPr lang="es-AR" sz="1800" dirty="0">
                <a:solidFill>
                  <a:schemeClr val="dk1"/>
                </a:solidFill>
                <a:latin typeface="+mn-lt"/>
                <a:ea typeface="+mn-ea"/>
                <a:cs typeface="+mn-cs"/>
              </a:rPr>
              <a:t>los cuadrados están escritas a</a:t>
            </a:r>
            <a:br>
              <a:rPr lang="es-AR" sz="1800" dirty="0">
                <a:solidFill>
                  <a:schemeClr val="dk1"/>
                </a:solidFill>
                <a:latin typeface="+mn-lt"/>
                <a:ea typeface="+mn-ea"/>
                <a:cs typeface="+mn-cs"/>
              </a:rPr>
            </a:br>
            <a:r>
              <a:rPr lang="es-AR" sz="1800" dirty="0">
                <a:solidFill>
                  <a:schemeClr val="dk1"/>
                </a:solidFill>
                <a:latin typeface="+mn-lt"/>
                <a:ea typeface="+mn-ea"/>
                <a:cs typeface="+mn-cs"/>
              </a:rPr>
              <a:t>mano.</a:t>
            </a:r>
          </a:p>
          <a:p>
            <a:pPr algn="l" marL="0" indent="0">
              <a:lnSpc>
                <a:spcPts val="2400"/>
              </a:lnSpc>
              <a:spcBef>
                <a:spcPts val="750"/>
              </a:spcBef>
              <a:buNone/>
            </a:pPr>
            <a:r>
              <a:rPr lang="es-AR" sz="1800" dirty="0">
                <a:solidFill>
                  <a:schemeClr val="dk1"/>
                </a:solidFill>
                <a:latin typeface="+mn-lt"/>
                <a:ea typeface="+mn-ea"/>
                <a:cs typeface="+mn-cs"/>
              </a:rPr>
              <a:t>Coinciden píxel a píxel con los</a:t>
            </a:r>
            <a:br>
              <a:rPr lang="es-AR" sz="1800" dirty="0">
                <a:solidFill>
                  <a:schemeClr val="dk1"/>
                </a:solidFill>
                <a:latin typeface="+mn-lt"/>
                <a:ea typeface="+mn-ea"/>
                <a:cs typeface="+mn-cs"/>
              </a:rPr>
            </a:br>
            <a:r>
              <a:rPr lang="es-AR" sz="1800" dirty="0">
                <a:solidFill>
                  <a:schemeClr val="dk1"/>
                </a:solidFill>
                <a:latin typeface="+mn-lt"/>
                <a:ea typeface="+mn-ea"/>
                <a:cs typeface="+mn-cs"/>
              </a:rPr>
              <a:t>píxeles menores que 128.</a:t>
            </a:r>
          </a:p>
        </p:txBody>
      </p:sp>
      <p:sp>
        <p:nvSpPr>
          <p:cNvPr id="10" name="three-card-three-slot Placeholder Carrier"/>
          <p:cNvSpPr txBox="1"/>
          <p:nvPr>
            <p:ph idx="3"/>
          </p:nvPr>
        </p:nvSpPr>
        <p:spPr>
          <a:xfrm>
            <a:off x="8296656" y="1885950"/>
            <a:ext cx="2454684" cy="2028444"/>
          </a:xfrm>
          <a:prstGeom prst="rect">
            <a:avLst/>
          </a:prstGeom>
          <a:noFill/>
          <a:ln>
            <a:noFill/>
          </a:ln>
        </p:spPr>
        <p:txBody>
          <a:bodyPr wrap="none" lIns="0" tIns="0" rIns="0" bIns="0" anchor="t" anchorCtr="0">
            <a:noAutofit/>
          </a:bodyPr>
          <a:lstStyle/>
          <a:p>
            <a:pPr algn="l" marL="0" indent="0">
              <a:lnSpc>
                <a:spcPts val="2400"/>
              </a:lnSpc>
              <a:buNone/>
            </a:pPr>
            <a:r>
              <a:rPr lang="es-AR" sz="2100" b="1" dirty="0">
                <a:solidFill>
                  <a:schemeClr val="accent3"/>
                </a:solidFill>
                <a:latin typeface="+mn-lt"/>
                <a:ea typeface="+mn-ea"/>
                <a:cs typeface="+mn-cs"/>
              </a:rPr>
              <a:t>Tipografía</a:t>
            </a:r>
          </a:p>
          <a:p>
            <a:pPr algn="l" marL="0" indent="0">
              <a:lnSpc>
                <a:spcPts val="2400"/>
              </a:lnSpc>
              <a:spcBef>
                <a:spcPts val="450"/>
              </a:spcBef>
              <a:buNone/>
            </a:pPr>
            <a:r>
              <a:rPr lang="es-AR" sz="1800" dirty="0">
                <a:solidFill>
                  <a:schemeClr val="dk1"/>
                </a:solidFill>
                <a:latin typeface="+mn-lt"/>
                <a:ea typeface="+mn-ea"/>
                <a:cs typeface="+mn-cs"/>
              </a:rPr>
              <a:t>El problema 2 no lee</a:t>
            </a:r>
            <a:br>
              <a:rPr lang="es-AR" sz="1800" dirty="0">
                <a:solidFill>
                  <a:schemeClr val="dk1"/>
                </a:solidFill>
                <a:latin typeface="+mn-lt"/>
                <a:ea typeface="+mn-ea"/>
                <a:cs typeface="+mn-cs"/>
              </a:rPr>
            </a:br>
            <a:r>
              <a:rPr lang="es-AR" sz="1800" dirty="0">
                <a:solidFill>
                  <a:schemeClr val="dk1"/>
                </a:solidFill>
                <a:latin typeface="+mn-lt"/>
                <a:ea typeface="+mn-ea"/>
                <a:cs typeface="+mn-cs"/>
              </a:rPr>
              <a:t>caracteres: cuenta</a:t>
            </a:r>
            <a:br>
              <a:rPr lang="es-AR" sz="1800" dirty="0">
                <a:solidFill>
                  <a:schemeClr val="dk1"/>
                </a:solidFill>
                <a:latin typeface="+mn-lt"/>
                <a:ea typeface="+mn-ea"/>
                <a:cs typeface="+mn-cs"/>
              </a:rPr>
            </a:br>
            <a:r>
              <a:rPr lang="es-AR" sz="1800" dirty="0">
                <a:solidFill>
                  <a:schemeClr val="dk1"/>
                </a:solidFill>
                <a:latin typeface="+mn-lt"/>
                <a:ea typeface="+mn-ea"/>
                <a:cs typeface="+mn-cs"/>
              </a:rPr>
              <a:t>componentes conectadas.</a:t>
            </a:r>
          </a:p>
          <a:p>
            <a:pPr algn="l" marL="0" indent="0">
              <a:lnSpc>
                <a:spcPts val="2400"/>
              </a:lnSpc>
              <a:spcBef>
                <a:spcPts val="750"/>
              </a:spcBef>
              <a:buNone/>
            </a:pPr>
            <a:r>
              <a:rPr lang="es-AR" sz="1800" dirty="0">
                <a:solidFill>
                  <a:schemeClr val="dk1"/>
                </a:solidFill>
                <a:latin typeface="+mn-lt"/>
                <a:ea typeface="+mn-ea"/>
                <a:cs typeface="+mn-cs"/>
              </a:rPr>
              <a:t>Con otra tipografía podría</a:t>
            </a:r>
            <a:br>
              <a:rPr lang="es-AR" sz="1800" dirty="0">
                <a:solidFill>
                  <a:schemeClr val="dk1"/>
                </a:solidFill>
                <a:latin typeface="+mn-lt"/>
                <a:ea typeface="+mn-ea"/>
                <a:cs typeface="+mn-cs"/>
              </a:rPr>
            </a:br>
            <a:r>
              <a:rPr lang="es-AR" sz="1800" dirty="0">
                <a:solidFill>
                  <a:schemeClr val="dk1"/>
                </a:solidFill>
                <a:latin typeface="+mn-lt"/>
                <a:ea typeface="+mn-ea"/>
                <a:cs typeface="+mn-cs"/>
              </a:rPr>
              <a:t>fallar.</a:t>
            </a:r>
          </a:p>
        </p:txBody>
      </p:sp>
      <p:grpSp>
        <p:nvGrpSpPr>
          <p:cNvPr id="12" name="card-note"/>
          <p:cNvGrpSpPr/>
          <p:nvPr/>
        </p:nvGrpSpPr>
        <p:grpSpPr>
          <a:xfrm>
            <a:off x="602742" y="6184900"/>
            <a:ext cx="10243126" cy="492633"/>
            <a:chOff x="602742" y="6184900"/>
            <a:chExt cx="10243126" cy="492633"/>
          </a:xfrm>
        </p:grpSpPr>
        <p:sp>
          <p:nvSpPr>
            <p:cNvPr id="11" name="TextBox 11"/>
            <p:cNvSpPr txBox="1"/>
            <p:nvPr/>
          </p:nvSpPr>
          <p:spPr>
            <a:xfrm>
              <a:off x="602742" y="6184900"/>
              <a:ext cx="10243126" cy="492633"/>
            </a:xfrm>
            <a:prstGeom prst="rect">
              <a:avLst/>
            </a:prstGeom>
            <a:noFill/>
            <a:ln>
              <a:noFill/>
            </a:ln>
          </p:spPr>
          <p:txBody>
            <a:bodyPr wrap="none" lIns="0" tIns="0" rIns="0" bIns="0" anchor="t" anchorCtr="0">
              <a:spAutoFit/>
            </a:bodyPr>
            <a:lstStyle/>
            <a:p>
              <a:pPr algn="l">
                <a:lnSpc>
                  <a:spcPts val="1800"/>
                </a:lnSpc>
              </a:pPr>
              <a:r>
                <a:rPr lang="es-AR" sz="1350" dirty="0">
                  <a:solidFill>
                    <a:schemeClr val="accent5"/>
                  </a:solidFill>
                  <a:latin typeface="+mn-lt"/>
                  <a:ea typeface="+mn-ea"/>
                  <a:cs typeface="+mn-cs"/>
                </a:rPr>
                <a:t>Decisiones propias: el espacio del nombre no cuenta en los 12 caracteres (pendiente consultar a la cátedra: cambiaría AMANDA SANTOS y NAHUEL</a:t>
              </a:r>
              <a:br>
                <a:rPr lang="es-AR" sz="1350" dirty="0">
                  <a:solidFill>
                    <a:schemeClr val="accent5"/>
                  </a:solidFill>
                  <a:latin typeface="+mn-lt"/>
                  <a:ea typeface="+mn-ea"/>
                  <a:cs typeface="+mn-cs"/>
                </a:rPr>
              </a:br>
              <a:r>
                <a:rPr lang="es-AR" sz="1350" dirty="0">
                  <a:solidFill>
                    <a:schemeClr val="accent5"/>
                  </a:solidFill>
                  <a:latin typeface="+mn-lt"/>
                  <a:ea typeface="+mn-ea"/>
                  <a:cs typeface="+mn-cs"/>
                </a:rPr>
                <a:t>FAUSTO) · fila vacía = todo MAL · la Ñ contaría doble (no aparece en las planillas) · umbrales propios.</a:t>
              </a:r>
            </a:p>
          </p:txBody>
        </p:sp>
      </p:grpSp>
    </p:spTree>
  </p:cSld>
  <p:clrMapOvr>
    <a:masterClrMapping/>
  </p:clrMapOvr>
  <p:transition p14:dur="400">
    <p:fade/>
  </p:transition>
</p:sld>
</file>

<file path=ppt/slides/slide19.xml><?xml version="1.0" encoding="utf-8"?>
<p:sld xmlns:a="http://schemas.openxmlformats.org/drawingml/2006/main" xmlns:p="http://schemas.openxmlformats.org/presentationml/2006/main" xmlns:p14="http://schemas.microsoft.com/office/powerpoint/2010/main" showMasterSp="1">
  <p:cSld>
    <p:spTree>
      <p:nvGrpSpPr>
        <p:cNvPr id="1" name=""/>
        <p:cNvGrpSpPr/>
        <p:nvPr/>
      </p:nvGrpSpPr>
      <p:grpSpPr>
        <a:xfrm>
          <a:off x="0" y="0"/>
          <a:ext cx="0" cy="0"/>
          <a:chOff x="0" y="0"/>
          <a:chExt cx="0" cy="0"/>
        </a:xfrm>
      </p:grpSpPr>
      <p:sp>
        <p:nvSpPr>
          <p:cNvPr id="5" name="hero-statement-title-slot Placeholder Carrier"/>
          <p:cNvSpPr txBox="1"/>
          <p:nvPr>
            <p:ph type="title"/>
          </p:nvPr>
        </p:nvSpPr>
        <p:spPr>
          <a:xfrm>
            <a:off x="895350" y="2012950"/>
            <a:ext cx="8069237" cy="1466850"/>
          </a:xfrm>
          <a:prstGeom prst="rect">
            <a:avLst/>
          </a:prstGeom>
          <a:noFill/>
          <a:ln>
            <a:noFill/>
          </a:ln>
        </p:spPr>
        <p:txBody>
          <a:bodyPr wrap="none" lIns="0" tIns="0" rIns="0" bIns="0" anchor="t" anchorCtr="0">
            <a:noAutofit/>
          </a:bodyPr>
          <a:lstStyle/>
          <a:p>
            <a:pPr algn="l">
              <a:lnSpc>
                <a:spcPts val="5100"/>
              </a:lnSpc>
            </a:pPr>
            <a:r>
              <a:rPr lang="es-AR" sz="4200" b="1" dirty="0">
                <a:solidFill>
                  <a:schemeClr val="accent1"/>
                </a:solidFill>
                <a:latin typeface="+mj-lt"/>
                <a:ea typeface="+mj-ea"/>
                <a:cs typeface="+mj-cs"/>
              </a:rPr>
              <a:t>La ecualización local muestra los</a:t>
            </a:r>
            <a:br>
              <a:rPr lang="es-AR" sz="4200" b="1" dirty="0">
                <a:solidFill>
                  <a:schemeClr val="accent1"/>
                </a:solidFill>
                <a:latin typeface="+mj-lt"/>
                <a:ea typeface="+mj-ea"/>
                <a:cs typeface="+mj-cs"/>
              </a:rPr>
            </a:br>
            <a:r>
              <a:rPr lang="es-AR" sz="4200" b="1" dirty="0">
                <a:solidFill>
                  <a:schemeClr val="accent1"/>
                </a:solidFill>
                <a:latin typeface="+mj-lt"/>
                <a:ea typeface="+mj-ea"/>
                <a:cs typeface="+mj-cs"/>
              </a:rPr>
              <a:t>cinco detalles; la global, no</a:t>
            </a:r>
          </a:p>
        </p:txBody>
      </p:sp>
      <p:sp>
        <p:nvSpPr>
          <p:cNvPr id="6" name="hero-statement-subtitle-slot Placeholder Carrier"/>
          <p:cNvSpPr txBox="1"/>
          <p:nvPr>
            <p:ph type="subTitle" idx="1"/>
          </p:nvPr>
        </p:nvSpPr>
        <p:spPr>
          <a:xfrm>
            <a:off x="903732" y="4146550"/>
            <a:ext cx="6908212" cy="410718"/>
          </a:xfrm>
          <a:prstGeom prst="rect">
            <a:avLst/>
          </a:prstGeom>
          <a:noFill/>
          <a:ln>
            <a:noFill/>
          </a:ln>
        </p:spPr>
        <p:txBody>
          <a:bodyPr wrap="none" lIns="0" tIns="0" rIns="0" bIns="0" anchor="t" anchorCtr="0">
            <a:spAutoFit/>
          </a:bodyPr>
          <a:lstStyle/>
          <a:p>
            <a:pPr algn="l" marL="0" indent="0">
              <a:buNone/>
            </a:pPr>
            <a:r>
              <a:rPr lang="es-AR" sz="2100" dirty="0">
                <a:solidFill>
                  <a:schemeClr val="accent3"/>
                </a:solidFill>
                <a:latin typeface="+mn-lt"/>
                <a:ea typeface="+mn-ea"/>
                <a:cs typeface="+mn-cs"/>
              </a:rPr>
              <a:t>Elegimos 21x21 y un mismo script valida las cuatro planillas.</a:t>
            </a:r>
          </a:p>
        </p:txBody>
      </p:sp>
      <p:grpSp>
        <p:nvGrpSpPr>
          <p:cNvPr id="8" name="limites"/>
          <p:cNvGrpSpPr/>
          <p:nvPr/>
        </p:nvGrpSpPr>
        <p:grpSpPr>
          <a:xfrm>
            <a:off x="906780" y="5289550"/>
            <a:ext cx="5609342" cy="293370"/>
            <a:chOff x="906780" y="5289550"/>
            <a:chExt cx="5609342" cy="293370"/>
          </a:xfrm>
        </p:grpSpPr>
        <p:sp>
          <p:nvSpPr>
            <p:cNvPr id="7" name="TextBox 7"/>
            <p:cNvSpPr txBox="1"/>
            <p:nvPr/>
          </p:nvSpPr>
          <p:spPr>
            <a:xfrm>
              <a:off x="906780" y="5289550"/>
              <a:ext cx="5609342" cy="293370"/>
            </a:xfrm>
            <a:prstGeom prst="rect">
              <a:avLst/>
            </a:prstGeom>
            <a:noFill/>
            <a:ln>
              <a:noFill/>
            </a:ln>
          </p:spPr>
          <p:txBody>
            <a:bodyPr wrap="none" lIns="0" tIns="0" rIns="0" bIns="0" anchor="t" anchorCtr="0">
              <a:spAutoFit/>
            </a:bodyPr>
            <a:lstStyle/>
            <a:p>
              <a:pPr algn="l"/>
              <a:r>
                <a:rPr lang="es-AR" sz="1500" dirty="0">
                  <a:solidFill>
                    <a:schemeClr val="accent5"/>
                  </a:solidFill>
                  <a:latin typeface="+mn-lt"/>
                  <a:ea typeface="+mn-ea"/>
                  <a:cs typeface="+mn-cs"/>
                </a:rPr>
                <a:t>Límites: ruido, zonas escritas a mano y dependencia de la tipografía.</a:t>
              </a:r>
            </a:p>
          </p:txBody>
        </p:sp>
      </p:grpSp>
    </p:spTree>
  </p:cSld>
  <p:clrMapOvr>
    <a:masterClrMapping/>
  </p:clrMapOvr>
  <p:transition p14:dur="400">
    <p:fade/>
  </p:transition>
</p:sld>
</file>

<file path=ppt/theme/theme1.xml><?xml version="1.0" encoding="utf-8"?>
<a:theme xmlns:a="http://schemas.openxmlformats.org/drawingml/2006/main" name="Office Theme">
  <a:themeElements>
    <a:clrScheme name="PPT Master">
      <a:dk1>
        <a:srgbClr val="1A1A1A"/>
      </a:dk1>
      <a:lt1>
        <a:srgbClr val="FFFFFF"/>
      </a:lt1>
      <a:dk2>
        <a:srgbClr val="1F497D"/>
      </a:dk2>
      <a:lt2>
        <a:srgbClr val="F2F3F5"/>
      </a:lt2>
      <a:accent1>
        <a:srgbClr val="1B2A41"/>
      </a:accent1>
      <a:accent2>
        <a:srgbClr val="C0392B"/>
      </a:accent2>
      <a:accent3>
        <a:srgbClr val="2F5D9E"/>
      </a:accent3>
      <a:accent4>
        <a:srgbClr val="1B2A41"/>
      </a:accent4>
      <a:accent5>
        <a:srgbClr val="5B6472"/>
      </a:accent5>
      <a:accent6>
        <a:srgbClr val="D6DCE3"/>
      </a:accent6>
      <a:hlink>
        <a:srgbClr val="C0392B"/>
      </a:hlink>
      <a:folHlink>
        <a:srgbClr val="2F5D9E"/>
      </a:folHlink>
    </a:clrScheme>
    <a:fontScheme name="PPT Master">
      <a:majorFont>
        <a:latin typeface="Cambria"/>
        <a:ea typeface="SimSun"/>
        <a:cs typeface="Cambria"/>
        <a:font script="Jpan" typeface="SimSun"/>
        <a:font script="Hang" typeface="SimSun"/>
        <a:font script="Hans" typeface="SimSun"/>
        <a:font script="Hant" typeface="SimSun"/>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Microsoft YaHei"/>
        <a:cs typeface="Calibri"/>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PPT Master">
      <a:dk1>
        <a:srgbClr val="1A1A1A"/>
      </a:dk1>
      <a:lt1>
        <a:srgbClr val="FFFFFF"/>
      </a:lt1>
      <a:dk2>
        <a:srgbClr val="1F497D"/>
      </a:dk2>
      <a:lt2>
        <a:srgbClr val="F2F3F5"/>
      </a:lt2>
      <a:accent1>
        <a:srgbClr val="1B2A41"/>
      </a:accent1>
      <a:accent2>
        <a:srgbClr val="C0392B"/>
      </a:accent2>
      <a:accent3>
        <a:srgbClr val="2F5D9E"/>
      </a:accent3>
      <a:accent4>
        <a:srgbClr val="1B2A41"/>
      </a:accent4>
      <a:accent5>
        <a:srgbClr val="5B6472"/>
      </a:accent5>
      <a:accent6>
        <a:srgbClr val="D6DCE3"/>
      </a:accent6>
      <a:hlink>
        <a:srgbClr val="C0392B"/>
      </a:hlink>
      <a:folHlink>
        <a:srgbClr val="2F5D9E"/>
      </a:folHlink>
    </a:clrScheme>
    <a:fontScheme name="PPT Master">
      <a:majorFont>
        <a:latin typeface="Cambria"/>
        <a:ea typeface="SimSun"/>
        <a:cs typeface="Cambria"/>
        <a:font script="Jpan" typeface="SimSun"/>
        <a:font script="Hang" typeface="SimSun"/>
        <a:font script="Hans" typeface="SimSun"/>
        <a:font script="Hant" typeface="SimSun"/>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Microsoft YaHei"/>
        <a:cs typeface="Calibri"/>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19</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es-AR</dc:language>
  <cp:lastModifiedBy/>
  <cp:revision>1</cp:revision>
  <dcterms:created xsi:type="dcterms:W3CDTF">2026-10-10T21:30:09Z</dcterms:created>
  <dcterms:modified xsi:type="dcterms:W3CDTF">2026-10-10T21:30:09Z</dcterms:modified>
  <cp:category/>
  <cp:contentStatus/>
</cp:coreProperties>
</file>