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8F1A2DE-F75D-4E95-B11A-8404A869D89C}">
  <a:tblStyle styleId="{E8F1A2DE-F75D-4E95-B11A-8404A869D89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6pPr>
            <a:lvl7pPr indent="-228600" lvl="6" marL="32004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7pPr>
            <a:lvl8pPr indent="-228600" lvl="7" marL="36576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8pPr>
            <a:lvl9pPr indent="-228600" lvl="8" marL="41148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Presentamos el TP1 de Procesamiento de Imágenes I del grupo 8. Tiene dos problemas: ecualización local de histograma y validación de planillas de calificaciones.</a:t>
            </a:r>
            <a:endParaRPr/>
          </a:p>
        </p:txBody>
      </p:sp>
      <p:sp>
        <p:nvSpPr>
          <p:cNvPr id="24" name="Google Shape;2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consigna tiene dos problemas y cada uno tiene su script. Trabajamos con Python 3.13.16 y las versiones de numpy, opencv-python y matplotlib que se ven abajo.</a:t>
            </a:r>
            <a:endParaRPr/>
          </a:p>
        </p:txBody>
      </p:sp>
      <p:sp>
        <p:nvSpPr>
          <p:cNvPr id="39" name="Google Shape;3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histograma cuenta cuántos píxeles hay de cada nivel. La ecualización global usa la función de distribución acumulada escalada a 0–255. Su límite es que usa todos los píxeles: un detalle chico casi igual a su fondo pesa muy poco.</a:t>
            </a:r>
            <a:endParaRPr/>
          </a:p>
        </p:txBody>
      </p:sp>
      <p:sp>
        <p:nvSpPr>
          <p:cNvPr id="59" name="Google Shape;5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ventana se centra en cada píxel, así que necesita la misma cantidad de píxeles a cada lado. Por eso M y N tienen que ser impares: con 5x5 hay un píxel central y con 4x4 el centro queda entre cuatro píxeles.</a:t>
            </a:r>
            <a:endParaRPr/>
          </a:p>
        </p:txBody>
      </p:sp>
      <p:sp>
        <p:nvSpPr>
          <p:cNvPr id="75" name="Google Shape;7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imagen tiene solo 15 niveles de gris en dos grupos separados. Hay cinco cuadrados oscuros de 62x62 píxeles que ocupan el 29,3% de la imagen. Dentro de cada cuadrado los detalles difieren del fondo en pocos niveles, así que no se ven a simple vista.</a:t>
            </a:r>
            <a:endParaRPr/>
          </a:p>
        </p:txBody>
      </p:sp>
      <p:sp>
        <p:nvSpPr>
          <p:cNvPr id="156" name="Google Shape;15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 que la ventana no se salga cuando el píxel central está en el borde, agregamos 10 píxeles por lado con BORDER_REPLICATE. Rellenar con ceros metería píxeles negros que alterarían el histograma de las ventanas del borde. En cada posición ecualizamos la ventana con equalizeHist y guardamos solo el píxel central.</a:t>
            </a:r>
            <a:endParaRPr/>
          </a:p>
        </p:txBody>
      </p:sp>
      <p:sp>
        <p:nvSpPr>
          <p:cNvPr id="179" name="Google Shape;17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Estos son los tipos de borde de OpenCV. Elegimos BORDER_REPLICATE porque copia el valor del borde y no agrega niveles de intensidad nuevos. Rellenar con ceros metería píxeles negros que no existen en la imagen.</a:t>
            </a:r>
            <a:endParaRPr/>
          </a:p>
        </p:txBody>
      </p:sp>
      <p:sp>
        <p:nvSpPr>
          <p:cNvPr id="203" name="Google Shape;20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Este es el núcleo del Problema 1a. Se agregan los bordes, se recorre cada píxel, se toma la ventana MxN centrada en él, se ecualiza con equalizeHist y se guarda solo el píxel central. En el código real la variable de la ventana se llama ventana y la ecualizada ventana_eq; acá las abreviamos para que entren en la diapositiva.</a:t>
            </a:r>
            <a:endParaRPr/>
          </a:p>
        </p:txBody>
      </p:sp>
      <p:sp>
        <p:nvSpPr>
          <p:cNvPr id="215" name="Google Shape;21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 la ecualización global los detalles siguen casi invisibles porque los píxeles oscuros son casi un tercio de la imagen y quedan juntos al principio de la distribución acumulada. Con la local de 21x21 se ven los cinco.</a:t>
            </a:r>
            <a:endParaRPr/>
          </a:p>
        </p:txBody>
      </p:sp>
      <p:sp>
        <p:nvSpPr>
          <p:cNvPr id="228" name="Google Shape;22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Estos son los cinco detalles que informa el script con la ventana de 21x21. Las posiciones de los cuadrados están escritas a mano en la tabla ZONAS y coinciden píxel a píxel con los píxeles menores que 128.</a:t>
            </a:r>
            <a:endParaRPr/>
          </a:p>
        </p:txBody>
      </p:sp>
      <p:sp>
        <p:nvSpPr>
          <p:cNvPr id="238" name="Google Shape;23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Probamos ventanas de 3x3, 7x7, 15x15, 21x21, 31x31, 61x61 y 101x101. Las más chicas llenan el fondo de manchas; las muy grandes apagan los detalles porque su lado se acerca al de los cuadrados.</a:t>
            </a:r>
            <a:endParaRPr/>
          </a:p>
        </p:txBody>
      </p:sp>
      <p:sp>
        <p:nvSpPr>
          <p:cNvPr id="250" name="Google Shape;25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Las ventanas chicas resaltan bordes y amplifican el ruido. Las intermedias, de 15x15 a 31x31, dan el mejor resultado. Los puntos que quedan en el fondo son los 1175 píxeles de nivel 226 de la imagen original, el 2,5% del fondo: son ruido de la imagen, no del método. Las grandes se parecen a la ecualización global.</a:t>
            </a:r>
            <a:endParaRPr/>
          </a:p>
        </p:txBody>
      </p:sp>
      <p:sp>
        <p:nvSpPr>
          <p:cNvPr id="262" name="Google Shape;26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Medimos la distancia mínima entre el detalle y el borde de su cuadrado en la imagen ecualizada con 21x21: 24 píxeles en la zona superior izquierda, 16 en la superior derecha, 20 en el centro, 10 en la inferior izquierda y 14 en la inferior derecha. Son observaciones y medidas nuestras.</a:t>
            </a:r>
            <a:endParaRPr/>
          </a:p>
        </p:txBody>
      </p:sp>
      <p:sp>
        <p:nvSpPr>
          <p:cNvPr id="281" name="Google Shape;28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 M el alto y N el ancho, las ventanas rectangulares dejan rayas con la orientación de la ventana en el fondo claro. Elegimos 21x21 porque deja menos marcas negras cortas en el fondo que 15x15.</a:t>
            </a:r>
            <a:endParaRPr/>
          </a:p>
        </p:txBody>
      </p:sp>
      <p:sp>
        <p:nvSpPr>
          <p:cNvPr id="296" name="Google Shape;29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tamaño de ventana tiene que estar entre dos límites. El mínimo es que la ventana tome parte del detalle y parte del fondo; el máximo es que no se salga de la zona del detalle. En esta imagen el rango útil va de 15x15 a 31x31 y 21x21 da el mejor equilibrio. Con una ventana rectangular, conviene alargarla en la dirección del detalle.</a:t>
            </a:r>
            <a:endParaRPr/>
          </a:p>
        </p:txBody>
      </p:sp>
      <p:sp>
        <p:nvSpPr>
          <p:cNvPr id="309" name="Google Shape;3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Probamos la función con la imagen del TP, con ventanas rectangulares y con valores inválidos. Con una imagen sintética de un cuadrado con 5 niveles de diferencia, tras la ecualización local la diferencia pasa a 255.</a:t>
            </a:r>
            <a:endParaRPr/>
          </a:p>
        </p:txBody>
      </p:sp>
      <p:sp>
        <p:nvSpPr>
          <p:cNvPr id="345" name="Google Shape;34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algoritmo es el mismo para las cuatro planillas. Primero umbralamos, después buscamos las líneas de la tabla con sumas por fila y columna, recortamos cada celda y analizamos cada carácter como una componente conectada.</a:t>
            </a:r>
            <a:endParaRPr/>
          </a:p>
        </p:txBody>
      </p:sp>
      <p:sp>
        <p:nvSpPr>
          <p:cNvPr id="359" name="Google Shape;35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Estos son los umbrales del Problema 2. Todos los ajustamos mirando las cuatro planillas, porque la consigna pide un umbral acorde. Los de las líneas son relativos al máximo para que sirvan con planillas de distinto tamaño.</a:t>
            </a:r>
            <a:endParaRPr/>
          </a:p>
        </p:txBody>
      </p:sp>
      <p:sp>
        <p:nvSpPr>
          <p:cNvPr id="399" name="Google Shape;39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umbral es relativo al máximo de cada planilla. Para las filas usamos 0,8 por el máximo, 786 píxeles en la planilla 1, y para las columnas 0,6 por el máximo, 398. Los picos que superan el umbral son las 22 líneas horizontales y las 8 verticales.</a:t>
            </a:r>
            <a:endParaRPr/>
          </a:p>
        </p:txBody>
      </p:sp>
      <p:sp>
        <p:nvSpPr>
          <p:cNvPr id="408" name="Google Shape;40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 pasar de filas en True a dónde empieza y dónde termina cada línea usamos la técnica de pulsos de la cátedra: np.diff marca los cambios, np.argwhere da los índices, a los inicios se les suma 1 y se agrupan de a pares con reshape. El ejemplo de arriba es un vector ilustrativo, no una fila real.</a:t>
            </a:r>
            <a:endParaRPr/>
          </a:p>
        </p:txBody>
      </p:sp>
      <p:sp>
        <p:nvSpPr>
          <p:cNvPr id="426" name="Google Shape;42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Cada campo tiene una regla sobre la cantidad de caracteres y de palabras. Las palabras se cuentan por la separación entre componentes: entre letras va de 0 a 4 píxeles y entre palabras de 10 a 13, así que 6 queda en el medio. La L, la R y la A se distinguen por la forma de su primera columna y por si tienen un agujero.</a:t>
            </a:r>
            <a:endParaRPr/>
          </a:p>
        </p:txBody>
      </p:sp>
      <p:sp>
        <p:nvSpPr>
          <p:cNvPr id="479" name="Google Shape;47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 distinguir las letras no hay nada en el material, así que usamos dos propiedades de forma: si la primera columna de la letra está llena y si tiene un agujero. Medimos las 56 celdas con un solo carácter: en todas las L y R la primera columna mide exactamente el alto de la letra, 12 píxeles o 10 en la planilla 4, y en todas las A mide entre 1 y 3. Esta idea es nuestra, la validamos con esas 56 celdas.</a:t>
            </a:r>
            <a:endParaRPr/>
          </a:p>
        </p:txBody>
      </p:sp>
      <p:sp>
        <p:nvSpPr>
          <p:cNvPr id="505" name="Google Shape;50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Primero filtramos los registros con todo OK y condición L o R, recortamos el nombre, le agregamos un margen blanco y escribimos la letra de la condición: azul para L y rojo para R. El formato de apilado vertical lo elegimos nosotros; el enunciado solo pide algún indicador.</a:t>
            </a:r>
            <a:endParaRPr/>
          </a:p>
        </p:txBody>
      </p:sp>
      <p:sp>
        <p:nvSpPr>
          <p:cNvPr id="520" name="Google Shape;52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 name="Google Shape;54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CSV sale directamente de la lista de OK y MAL que ya devuelve la validación. Para el punto d, un for recorre las cuatro planillas con el mismo código y arma los nombres de los archivos de salida con el índice.</a:t>
            </a:r>
            <a:endParaRPr/>
          </a:p>
        </p:txBody>
      </p:sp>
      <p:sp>
        <p:nvSpPr>
          <p:cNvPr id="543" name="Google Shape;54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 name="Google Shape;55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Los registros correctos son 15, 3, 0 y 6 de 20 por planilla. Los alumnos en L son 6, 3, 0 y 2, y los que recuperan, en R, son 4, 0, 0 y 2. La planilla 3 no tiene ningún registro con los seis campos bien.</a:t>
            </a:r>
            <a:endParaRPr/>
          </a:p>
        </p:txBody>
      </p:sp>
      <p:sp>
        <p:nvSpPr>
          <p:cNvPr id="558" name="Google Shape;55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la planilla 1 los únicos MAL son las cinco filas vacías. La planilla 3 no tiene ningún registro con los seis campos bien. Los valores de este gráfico son los de la tabla del documento de resultados.</a:t>
            </a:r>
            <a:endParaRPr/>
          </a:p>
        </p:txBody>
      </p:sp>
      <p:sp>
        <p:nvSpPr>
          <p:cNvPr id="568" name="Google Shape;56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la planilla 1 hay 15 registros correctos de 20. De los alumnos con los seis campos bien, seis están libres y cuatro recuperan. Cada celda lleva la palabra OK o MAL, además del color.</a:t>
            </a:r>
            <a:endParaRPr/>
          </a:p>
        </p:txBody>
      </p:sp>
      <p:sp>
        <p:nvSpPr>
          <p:cNvPr id="577" name="Google Shape;57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Corrimos el script sobre las cuatro planillas y comparamos a mano los 80 registros con las imágenes. Estos son algunos casos que confirman que las reglas funcionan.</a:t>
            </a:r>
            <a:endParaRPr/>
          </a:p>
        </p:txBody>
      </p:sp>
      <p:sp>
        <p:nvSpPr>
          <p:cNvPr id="594" name="Google Shape;594;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Hay decisiones que el material no define y tomamos nosotros. La más importante es si el espacio cuenta en los 12 caracteres del nombre: hoy no cuenta, y si hubiera que contarlo cambiaría el resultado de nombres como AMANDA SANTOS o NAHUEL FAUSTO. También elegimos escribir el CSV con open y write, el formato de la imagen de salida y guardar los archivos junto a cada planilla.</a:t>
            </a:r>
            <a:endParaRPr/>
          </a:p>
        </p:txBody>
      </p:sp>
      <p:sp>
        <p:nvSpPr>
          <p:cNvPr id="603" name="Google Shape;60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Cerramos con lo que aprendimos en cada problema y con las limitaciones: la ecualización local amplifica el ruido, las zonas del Problema 1 están escritas a mano y el Problema 2 depende de la tipografía de las planillas.</a:t>
            </a:r>
            <a:endParaRPr/>
          </a:p>
        </p:txBody>
      </p:sp>
      <p:sp>
        <p:nvSpPr>
          <p:cNvPr id="623" name="Google Shape;623;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 name="Google Shape;63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Estas son las versiones con las que ejecutamos y verificamos el trabajo, y los comandos para correrlo desde la carpeta del repositorio.</a:t>
            </a:r>
            <a:endParaRPr/>
          </a:p>
        </p:txBody>
      </p:sp>
      <p:sp>
        <p:nvSpPr>
          <p:cNvPr id="639" name="Google Shape;63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0" name="Google Shape;65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Esta es la lista del material de la cátedra que usamos y lo que tomamos de cada archivo. Lo único que no sale del material es la escritura del CSV con open y write, y np.vstack.</a:t>
            </a:r>
            <a:endParaRPr/>
          </a:p>
        </p:txBody>
      </p:sp>
      <p:sp>
        <p:nvSpPr>
          <p:cNvPr id="651" name="Google Shape;651;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p:cSld name="PORTADA">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p:cSld name="CONTENIDO">
    <p:bg>
      <p:bgPr>
        <a:solidFill>
          <a:schemeClr val="lt1"/>
        </a:solidFill>
      </p:bgPr>
    </p:bg>
    <p:spTree>
      <p:nvGrpSpPr>
        <p:cNvPr id="12" name="Shape 12"/>
        <p:cNvGrpSpPr/>
        <p:nvPr/>
      </p:nvGrpSpPr>
      <p:grpSpPr>
        <a:xfrm>
          <a:off x="0" y="0"/>
          <a:ext cx="0" cy="0"/>
          <a:chOff x="0" y="0"/>
          <a:chExt cx="0" cy="0"/>
        </a:xfrm>
      </p:grpSpPr>
      <p:sp>
        <p:nvSpPr>
          <p:cNvPr id="13" name="Google Shape;13;p3"/>
          <p:cNvSpPr txBox="1"/>
          <p:nvPr>
            <p:ph type="title"/>
          </p:nvPr>
        </p:nvSpPr>
        <p:spPr>
          <a:xfrm>
            <a:off x="548640" y="320040"/>
            <a:ext cx="11064240" cy="8229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3400"/>
              <a:buFont typeface="Times New Roman"/>
              <a:buNone/>
              <a:defRPr b="1" i="0" sz="3400" u="none" cap="none" strike="noStrik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3"/>
          <p:cNvSpPr/>
          <p:nvPr/>
        </p:nvSpPr>
        <p:spPr>
          <a:xfrm>
            <a:off x="548640" y="64008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Times New Roman"/>
              <a:buNone/>
            </a:pPr>
            <a:r>
              <a:rPr b="0" i="0" lang="en-US" sz="1100" u="none" cap="none" strike="noStrike">
                <a:solidFill>
                  <a:schemeClr val="dk1"/>
                </a:solidFill>
                <a:latin typeface="Times New Roman"/>
                <a:ea typeface="Times New Roman"/>
                <a:cs typeface="Times New Roman"/>
                <a:sym typeface="Times New Roman"/>
              </a:rPr>
              <a:t>IA 4.4 · Procesamiento de Imágenes I · TP1 · Grupo 8</a:t>
            </a:r>
            <a:endParaRPr b="0" i="0" sz="1100" u="none" cap="none" strike="noStrike">
              <a:solidFill>
                <a:schemeClr val="dk1"/>
              </a:solidFill>
              <a:latin typeface="Times New Roman"/>
              <a:ea typeface="Times New Roman"/>
              <a:cs typeface="Times New Roman"/>
              <a:sym typeface="Times New Roman"/>
            </a:endParaRPr>
          </a:p>
        </p:txBody>
      </p:sp>
      <p:sp>
        <p:nvSpPr>
          <p:cNvPr id="15" name="Google Shape;15;p3"/>
          <p:cNvSpPr txBox="1"/>
          <p:nvPr>
            <p:ph idx="12"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100" u="none" cap="none" strike="noStrike">
                <a:solidFill>
                  <a:schemeClr val="dk1"/>
                </a:solidFill>
                <a:latin typeface="Times New Roman"/>
                <a:ea typeface="Times New Roman"/>
                <a:cs typeface="Times New Roman"/>
                <a:sym typeface="Times New Roman"/>
              </a:defRPr>
            </a:lvl1pPr>
            <a:lvl2pPr indent="0" lvl="1" marL="0" marR="0" algn="r">
              <a:spcBef>
                <a:spcPts val="0"/>
              </a:spcBef>
              <a:buNone/>
              <a:defRPr b="0" i="0" sz="1100" u="none" cap="none" strike="noStrike">
                <a:solidFill>
                  <a:schemeClr val="dk1"/>
                </a:solidFill>
                <a:latin typeface="Times New Roman"/>
                <a:ea typeface="Times New Roman"/>
                <a:cs typeface="Times New Roman"/>
                <a:sym typeface="Times New Roman"/>
              </a:defRPr>
            </a:lvl2pPr>
            <a:lvl3pPr indent="0" lvl="2" marL="0" marR="0" algn="r">
              <a:spcBef>
                <a:spcPts val="0"/>
              </a:spcBef>
              <a:buNone/>
              <a:defRPr b="0" i="0" sz="1100" u="none" cap="none" strike="noStrike">
                <a:solidFill>
                  <a:schemeClr val="dk1"/>
                </a:solidFill>
                <a:latin typeface="Times New Roman"/>
                <a:ea typeface="Times New Roman"/>
                <a:cs typeface="Times New Roman"/>
                <a:sym typeface="Times New Roman"/>
              </a:defRPr>
            </a:lvl3pPr>
            <a:lvl4pPr indent="0" lvl="3" marL="0" marR="0" algn="r">
              <a:spcBef>
                <a:spcPts val="0"/>
              </a:spcBef>
              <a:buNone/>
              <a:defRPr b="0" i="0" sz="1100" u="none" cap="none" strike="noStrike">
                <a:solidFill>
                  <a:schemeClr val="dk1"/>
                </a:solidFill>
                <a:latin typeface="Times New Roman"/>
                <a:ea typeface="Times New Roman"/>
                <a:cs typeface="Times New Roman"/>
                <a:sym typeface="Times New Roman"/>
              </a:defRPr>
            </a:lvl4pPr>
            <a:lvl5pPr indent="0" lvl="4" marL="0" marR="0" algn="r">
              <a:spcBef>
                <a:spcPts val="0"/>
              </a:spcBef>
              <a:buNone/>
              <a:defRPr b="0" i="0" sz="1100" u="none" cap="none" strike="noStrike">
                <a:solidFill>
                  <a:schemeClr val="dk1"/>
                </a:solidFill>
                <a:latin typeface="Times New Roman"/>
                <a:ea typeface="Times New Roman"/>
                <a:cs typeface="Times New Roman"/>
                <a:sym typeface="Times New Roman"/>
              </a:defRPr>
            </a:lvl5pPr>
            <a:lvl6pPr indent="0" lvl="5" marL="0" marR="0" algn="r">
              <a:spcBef>
                <a:spcPts val="0"/>
              </a:spcBef>
              <a:buNone/>
              <a:defRPr b="0" i="0" sz="1100" u="none" cap="none" strike="noStrike">
                <a:solidFill>
                  <a:schemeClr val="dk1"/>
                </a:solidFill>
                <a:latin typeface="Times New Roman"/>
                <a:ea typeface="Times New Roman"/>
                <a:cs typeface="Times New Roman"/>
                <a:sym typeface="Times New Roman"/>
              </a:defRPr>
            </a:lvl6pPr>
            <a:lvl7pPr indent="0" lvl="6" marL="0" marR="0" algn="r">
              <a:spcBef>
                <a:spcPts val="0"/>
              </a:spcBef>
              <a:buNone/>
              <a:defRPr b="0" i="0" sz="1100" u="none" cap="none" strike="noStrike">
                <a:solidFill>
                  <a:schemeClr val="dk1"/>
                </a:solidFill>
                <a:latin typeface="Times New Roman"/>
                <a:ea typeface="Times New Roman"/>
                <a:cs typeface="Times New Roman"/>
                <a:sym typeface="Times New Roman"/>
              </a:defRPr>
            </a:lvl7pPr>
            <a:lvl8pPr indent="0" lvl="7" marL="0" marR="0" algn="r">
              <a:spcBef>
                <a:spcPts val="0"/>
              </a:spcBef>
              <a:buNone/>
              <a:defRPr b="0" i="0" sz="1100" u="none" cap="none" strike="noStrike">
                <a:solidFill>
                  <a:schemeClr val="dk1"/>
                </a:solidFill>
                <a:latin typeface="Times New Roman"/>
                <a:ea typeface="Times New Roman"/>
                <a:cs typeface="Times New Roman"/>
                <a:sym typeface="Times New Roman"/>
              </a:defRPr>
            </a:lvl8pPr>
            <a:lvl9pPr indent="0" lvl="8" marL="0" marR="0" algn="r">
              <a:spcBef>
                <a:spcPts val="0"/>
              </a:spcBef>
              <a:buNone/>
              <a:defRPr b="0" i="0" sz="11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SCURO">
  <p:cSld name="OSCURO">
    <p:bg>
      <p:bgPr>
        <a:solidFill>
          <a:schemeClr val="dk2"/>
        </a:solidFill>
      </p:bgPr>
    </p:bg>
    <p:spTree>
      <p:nvGrpSpPr>
        <p:cNvPr id="16" name="Shape 16"/>
        <p:cNvGrpSpPr/>
        <p:nvPr/>
      </p:nvGrpSpPr>
      <p:grpSpPr>
        <a:xfrm>
          <a:off x="0" y="0"/>
          <a:ext cx="0" cy="0"/>
          <a:chOff x="0" y="0"/>
          <a:chExt cx="0" cy="0"/>
        </a:xfrm>
      </p:grpSpPr>
      <p:sp>
        <p:nvSpPr>
          <p:cNvPr id="17" name="Google Shape;17;p4"/>
          <p:cNvSpPr txBox="1"/>
          <p:nvPr>
            <p:ph type="title"/>
          </p:nvPr>
        </p:nvSpPr>
        <p:spPr>
          <a:xfrm>
            <a:off x="548640" y="320040"/>
            <a:ext cx="11064240" cy="8229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400"/>
              <a:buFont typeface="Times New Roman"/>
              <a:buNone/>
              <a:defRPr b="1" i="0" sz="3400" u="none" cap="none" strike="noStrik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4"/>
          <p:cNvSpPr/>
          <p:nvPr/>
        </p:nvSpPr>
        <p:spPr>
          <a:xfrm>
            <a:off x="548640" y="64008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100"/>
              <a:buFont typeface="Times New Roman"/>
              <a:buNone/>
            </a:pPr>
            <a:r>
              <a:rPr b="0" i="0" lang="en-US" sz="1100" u="none" cap="none" strike="noStrike">
                <a:solidFill>
                  <a:schemeClr val="lt1"/>
                </a:solidFill>
                <a:latin typeface="Times New Roman"/>
                <a:ea typeface="Times New Roman"/>
                <a:cs typeface="Times New Roman"/>
                <a:sym typeface="Times New Roman"/>
              </a:rPr>
              <a:t>IA 4.4 · Procesamiento de Imágenes I · TP1 · Grupo 8</a:t>
            </a:r>
            <a:endParaRPr b="0" i="0" sz="1100" u="none" cap="none" strike="noStrike">
              <a:solidFill>
                <a:schemeClr val="dk1"/>
              </a:solidFill>
              <a:latin typeface="Times New Roman"/>
              <a:ea typeface="Times New Roman"/>
              <a:cs typeface="Times New Roman"/>
              <a:sym typeface="Times New Roman"/>
            </a:endParaRPr>
          </a:p>
        </p:txBody>
      </p:sp>
      <p:sp>
        <p:nvSpPr>
          <p:cNvPr id="19" name="Google Shape;19;p4"/>
          <p:cNvSpPr txBox="1"/>
          <p:nvPr>
            <p:ph idx="12"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100" u="none" cap="none" strike="noStrike">
                <a:solidFill>
                  <a:schemeClr val="lt1"/>
                </a:solidFill>
                <a:latin typeface="Times New Roman"/>
                <a:ea typeface="Times New Roman"/>
                <a:cs typeface="Times New Roman"/>
                <a:sym typeface="Times New Roman"/>
              </a:defRPr>
            </a:lvl1pPr>
            <a:lvl2pPr indent="0" lvl="1" marL="0" marR="0" algn="r">
              <a:spcBef>
                <a:spcPts val="0"/>
              </a:spcBef>
              <a:buNone/>
              <a:defRPr b="0" i="0" sz="1100" u="none" cap="none" strike="noStrike">
                <a:solidFill>
                  <a:schemeClr val="lt1"/>
                </a:solidFill>
                <a:latin typeface="Times New Roman"/>
                <a:ea typeface="Times New Roman"/>
                <a:cs typeface="Times New Roman"/>
                <a:sym typeface="Times New Roman"/>
              </a:defRPr>
            </a:lvl2pPr>
            <a:lvl3pPr indent="0" lvl="2" marL="0" marR="0" algn="r">
              <a:spcBef>
                <a:spcPts val="0"/>
              </a:spcBef>
              <a:buNone/>
              <a:defRPr b="0" i="0" sz="1100" u="none" cap="none" strike="noStrike">
                <a:solidFill>
                  <a:schemeClr val="lt1"/>
                </a:solidFill>
                <a:latin typeface="Times New Roman"/>
                <a:ea typeface="Times New Roman"/>
                <a:cs typeface="Times New Roman"/>
                <a:sym typeface="Times New Roman"/>
              </a:defRPr>
            </a:lvl3pPr>
            <a:lvl4pPr indent="0" lvl="3" marL="0" marR="0" algn="r">
              <a:spcBef>
                <a:spcPts val="0"/>
              </a:spcBef>
              <a:buNone/>
              <a:defRPr b="0" i="0" sz="1100" u="none" cap="none" strike="noStrike">
                <a:solidFill>
                  <a:schemeClr val="lt1"/>
                </a:solidFill>
                <a:latin typeface="Times New Roman"/>
                <a:ea typeface="Times New Roman"/>
                <a:cs typeface="Times New Roman"/>
                <a:sym typeface="Times New Roman"/>
              </a:defRPr>
            </a:lvl4pPr>
            <a:lvl5pPr indent="0" lvl="4" marL="0" marR="0" algn="r">
              <a:spcBef>
                <a:spcPts val="0"/>
              </a:spcBef>
              <a:buNone/>
              <a:defRPr b="0" i="0" sz="1100" u="none" cap="none" strike="noStrike">
                <a:solidFill>
                  <a:schemeClr val="lt1"/>
                </a:solidFill>
                <a:latin typeface="Times New Roman"/>
                <a:ea typeface="Times New Roman"/>
                <a:cs typeface="Times New Roman"/>
                <a:sym typeface="Times New Roman"/>
              </a:defRPr>
            </a:lvl5pPr>
            <a:lvl6pPr indent="0" lvl="5" marL="0" marR="0" algn="r">
              <a:spcBef>
                <a:spcPts val="0"/>
              </a:spcBef>
              <a:buNone/>
              <a:defRPr b="0" i="0" sz="1100" u="none" cap="none" strike="noStrike">
                <a:solidFill>
                  <a:schemeClr val="lt1"/>
                </a:solidFill>
                <a:latin typeface="Times New Roman"/>
                <a:ea typeface="Times New Roman"/>
                <a:cs typeface="Times New Roman"/>
                <a:sym typeface="Times New Roman"/>
              </a:defRPr>
            </a:lvl6pPr>
            <a:lvl7pPr indent="0" lvl="6" marL="0" marR="0" algn="r">
              <a:spcBef>
                <a:spcPts val="0"/>
              </a:spcBef>
              <a:buNone/>
              <a:defRPr b="0" i="0" sz="1100" u="none" cap="none" strike="noStrike">
                <a:solidFill>
                  <a:schemeClr val="lt1"/>
                </a:solidFill>
                <a:latin typeface="Times New Roman"/>
                <a:ea typeface="Times New Roman"/>
                <a:cs typeface="Times New Roman"/>
                <a:sym typeface="Times New Roman"/>
              </a:defRPr>
            </a:lvl7pPr>
            <a:lvl8pPr indent="0" lvl="7" marL="0" marR="0" algn="r">
              <a:spcBef>
                <a:spcPts val="0"/>
              </a:spcBef>
              <a:buNone/>
              <a:defRPr b="0" i="0" sz="1100" u="none" cap="none" strike="noStrike">
                <a:solidFill>
                  <a:schemeClr val="lt1"/>
                </a:solidFill>
                <a:latin typeface="Times New Roman"/>
                <a:ea typeface="Times New Roman"/>
                <a:cs typeface="Times New Roman"/>
                <a:sym typeface="Times New Roman"/>
              </a:defRPr>
            </a:lvl8pPr>
            <a:lvl9pPr indent="0" lvl="8" marL="0" marR="0" algn="r">
              <a:spcBef>
                <a:spcPts val="0"/>
              </a:spcBef>
              <a:buNone/>
              <a:defRPr b="0" i="0" sz="11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0" name="Shape 2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100" u="none" cap="none" strike="noStrike">
                <a:solidFill>
                  <a:schemeClr val="dk1"/>
                </a:solidFill>
                <a:latin typeface="Times New Roman"/>
                <a:ea typeface="Times New Roman"/>
                <a:cs typeface="Times New Roman"/>
                <a:sym typeface="Times New Roman"/>
              </a:defRPr>
            </a:lvl1pPr>
            <a:lvl2pPr indent="0" lvl="1" marL="0" marR="0" rtl="0" algn="r">
              <a:spcBef>
                <a:spcPts val="0"/>
              </a:spcBef>
              <a:buNone/>
              <a:defRPr b="0" i="0" sz="1100" u="none" cap="none" strike="noStrike">
                <a:solidFill>
                  <a:schemeClr val="dk1"/>
                </a:solidFill>
                <a:latin typeface="Times New Roman"/>
                <a:ea typeface="Times New Roman"/>
                <a:cs typeface="Times New Roman"/>
                <a:sym typeface="Times New Roman"/>
              </a:defRPr>
            </a:lvl2pPr>
            <a:lvl3pPr indent="0" lvl="2" marL="0" marR="0" rtl="0" algn="r">
              <a:spcBef>
                <a:spcPts val="0"/>
              </a:spcBef>
              <a:buNone/>
              <a:defRPr b="0" i="0" sz="1100" u="none" cap="none" strike="noStrike">
                <a:solidFill>
                  <a:schemeClr val="dk1"/>
                </a:solidFill>
                <a:latin typeface="Times New Roman"/>
                <a:ea typeface="Times New Roman"/>
                <a:cs typeface="Times New Roman"/>
                <a:sym typeface="Times New Roman"/>
              </a:defRPr>
            </a:lvl3pPr>
            <a:lvl4pPr indent="0" lvl="3" marL="0" marR="0" rtl="0" algn="r">
              <a:spcBef>
                <a:spcPts val="0"/>
              </a:spcBef>
              <a:buNone/>
              <a:defRPr b="0" i="0" sz="1100" u="none" cap="none" strike="noStrike">
                <a:solidFill>
                  <a:schemeClr val="dk1"/>
                </a:solidFill>
                <a:latin typeface="Times New Roman"/>
                <a:ea typeface="Times New Roman"/>
                <a:cs typeface="Times New Roman"/>
                <a:sym typeface="Times New Roman"/>
              </a:defRPr>
            </a:lvl4pPr>
            <a:lvl5pPr indent="0" lvl="4" marL="0" marR="0" rtl="0" algn="r">
              <a:spcBef>
                <a:spcPts val="0"/>
              </a:spcBef>
              <a:buNone/>
              <a:defRPr b="0" i="0" sz="1100" u="none" cap="none" strike="noStrike">
                <a:solidFill>
                  <a:schemeClr val="dk1"/>
                </a:solidFill>
                <a:latin typeface="Times New Roman"/>
                <a:ea typeface="Times New Roman"/>
                <a:cs typeface="Times New Roman"/>
                <a:sym typeface="Times New Roman"/>
              </a:defRPr>
            </a:lvl5pPr>
            <a:lvl6pPr indent="0" lvl="5" marL="0" marR="0" rtl="0" algn="r">
              <a:spcBef>
                <a:spcPts val="0"/>
              </a:spcBef>
              <a:buNone/>
              <a:defRPr b="0" i="0" sz="1100" u="none" cap="none" strike="noStrike">
                <a:solidFill>
                  <a:schemeClr val="dk1"/>
                </a:solidFill>
                <a:latin typeface="Times New Roman"/>
                <a:ea typeface="Times New Roman"/>
                <a:cs typeface="Times New Roman"/>
                <a:sym typeface="Times New Roman"/>
              </a:defRPr>
            </a:lvl6pPr>
            <a:lvl7pPr indent="0" lvl="6" marL="0" marR="0" rtl="0" algn="r">
              <a:spcBef>
                <a:spcPts val="0"/>
              </a:spcBef>
              <a:buNone/>
              <a:defRPr b="0" i="0" sz="1100" u="none" cap="none" strike="noStrike">
                <a:solidFill>
                  <a:schemeClr val="dk1"/>
                </a:solidFill>
                <a:latin typeface="Times New Roman"/>
                <a:ea typeface="Times New Roman"/>
                <a:cs typeface="Times New Roman"/>
                <a:sym typeface="Times New Roman"/>
              </a:defRPr>
            </a:lvl7pPr>
            <a:lvl8pPr indent="0" lvl="7" marL="0" marR="0" rtl="0" algn="r">
              <a:spcBef>
                <a:spcPts val="0"/>
              </a:spcBef>
              <a:buNone/>
              <a:defRPr b="0" i="0" sz="1100" u="none" cap="none" strike="noStrike">
                <a:solidFill>
                  <a:schemeClr val="dk1"/>
                </a:solidFill>
                <a:latin typeface="Times New Roman"/>
                <a:ea typeface="Times New Roman"/>
                <a:cs typeface="Times New Roman"/>
                <a:sym typeface="Times New Roman"/>
              </a:defRPr>
            </a:lvl8pPr>
            <a:lvl9pPr indent="0" lvl="8" marL="0" marR="0" rtl="0" algn="r">
              <a:spcBef>
                <a:spcPts val="0"/>
              </a:spcBef>
              <a:buNone/>
              <a:defRPr b="0" i="0" sz="11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pic>
        <p:nvPicPr>
          <p:cNvPr descr="Escudo de la Universidad Nacional de Rosario" id="26" name="Google Shape;26;p6"/>
          <p:cNvPicPr preferRelativeResize="0"/>
          <p:nvPr/>
        </p:nvPicPr>
        <p:blipFill rotWithShape="1">
          <a:blip r:embed="rId3">
            <a:alphaModFix/>
          </a:blip>
          <a:srcRect b="0" l="0" r="0" t="0"/>
          <a:stretch/>
        </p:blipFill>
        <p:spPr>
          <a:xfrm>
            <a:off x="731520" y="411480"/>
            <a:ext cx="1225296" cy="1188720"/>
          </a:xfrm>
          <a:prstGeom prst="rect">
            <a:avLst/>
          </a:prstGeom>
          <a:noFill/>
          <a:ln>
            <a:noFill/>
          </a:ln>
        </p:spPr>
      </p:pic>
      <p:pic>
        <p:nvPicPr>
          <p:cNvPr descr="Logo de la FCEIA" id="27" name="Google Shape;27;p6"/>
          <p:cNvPicPr preferRelativeResize="0"/>
          <p:nvPr/>
        </p:nvPicPr>
        <p:blipFill rotWithShape="1">
          <a:blip r:embed="rId4">
            <a:alphaModFix/>
          </a:blip>
          <a:srcRect b="0" l="0" r="0" t="0"/>
          <a:stretch/>
        </p:blipFill>
        <p:spPr>
          <a:xfrm>
            <a:off x="9692640" y="411480"/>
            <a:ext cx="1737360" cy="1188720"/>
          </a:xfrm>
          <a:prstGeom prst="rect">
            <a:avLst/>
          </a:prstGeom>
          <a:noFill/>
          <a:ln>
            <a:noFill/>
          </a:ln>
        </p:spPr>
      </p:pic>
      <p:sp>
        <p:nvSpPr>
          <p:cNvPr id="28" name="Google Shape;28;p6"/>
          <p:cNvSpPr txBox="1"/>
          <p:nvPr/>
        </p:nvSpPr>
        <p:spPr>
          <a:xfrm>
            <a:off x="731520" y="1783080"/>
            <a:ext cx="1072591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Universidad Nacional de Rosario</a:t>
            </a:r>
            <a:endParaRPr b="0" i="0" sz="2400" u="none" cap="none" strike="noStrike">
              <a:solidFill>
                <a:schemeClr val="dk1"/>
              </a:solidFill>
              <a:latin typeface="Times New Roman"/>
              <a:ea typeface="Times New Roman"/>
              <a:cs typeface="Times New Roman"/>
              <a:sym typeface="Times New Roman"/>
            </a:endParaRPr>
          </a:p>
        </p:txBody>
      </p:sp>
      <p:sp>
        <p:nvSpPr>
          <p:cNvPr id="29" name="Google Shape;29;p6"/>
          <p:cNvSpPr txBox="1"/>
          <p:nvPr/>
        </p:nvSpPr>
        <p:spPr>
          <a:xfrm>
            <a:off x="731520" y="2194560"/>
            <a:ext cx="1072591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Calibri"/>
              <a:buNone/>
            </a:pPr>
            <a:r>
              <a:rPr b="1" i="0" lang="en-US" sz="2200" u="none" cap="none" strike="noStrike">
                <a:solidFill>
                  <a:schemeClr val="dk1"/>
                </a:solidFill>
                <a:latin typeface="Calibri"/>
                <a:ea typeface="Calibri"/>
                <a:cs typeface="Calibri"/>
                <a:sym typeface="Calibri"/>
              </a:rPr>
              <a:t>Facultad de Ciencias Exactas, Ingeniería y Agrimensura</a:t>
            </a:r>
            <a:endParaRPr b="0" i="0" sz="2200" u="none" cap="none" strike="noStrike">
              <a:solidFill>
                <a:schemeClr val="dk1"/>
              </a:solidFill>
              <a:latin typeface="Times New Roman"/>
              <a:ea typeface="Times New Roman"/>
              <a:cs typeface="Times New Roman"/>
              <a:sym typeface="Times New Roman"/>
            </a:endParaRPr>
          </a:p>
        </p:txBody>
      </p:sp>
      <p:sp>
        <p:nvSpPr>
          <p:cNvPr id="30" name="Google Shape;30;p6"/>
          <p:cNvSpPr txBox="1"/>
          <p:nvPr/>
        </p:nvSpPr>
        <p:spPr>
          <a:xfrm>
            <a:off x="731520" y="2606040"/>
            <a:ext cx="1072591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Tecnicatura Universitaria en Inteligencia Artificial</a:t>
            </a:r>
            <a:endParaRPr b="0" i="0" sz="1600" u="none" cap="none" strike="noStrike">
              <a:solidFill>
                <a:schemeClr val="dk1"/>
              </a:solidFill>
              <a:latin typeface="Times New Roman"/>
              <a:ea typeface="Times New Roman"/>
              <a:cs typeface="Times New Roman"/>
              <a:sym typeface="Times New Roman"/>
            </a:endParaRPr>
          </a:p>
        </p:txBody>
      </p:sp>
      <p:sp>
        <p:nvSpPr>
          <p:cNvPr id="31" name="Google Shape;31;p6"/>
          <p:cNvSpPr txBox="1"/>
          <p:nvPr/>
        </p:nvSpPr>
        <p:spPr>
          <a:xfrm>
            <a:off x="731520" y="3108960"/>
            <a:ext cx="1072591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3200"/>
              <a:buFont typeface="Calibri"/>
              <a:buNone/>
            </a:pPr>
            <a:r>
              <a:rPr b="0" i="0" lang="en-US" sz="3200" u="none" cap="none" strike="noStrike">
                <a:solidFill>
                  <a:schemeClr val="dk1"/>
                </a:solidFill>
                <a:latin typeface="Calibri"/>
                <a:ea typeface="Calibri"/>
                <a:cs typeface="Calibri"/>
                <a:sym typeface="Calibri"/>
              </a:rPr>
              <a:t>IA 4.4 – Procesamiento de Imágenes I</a:t>
            </a:r>
            <a:endParaRPr b="0" i="0" sz="3200" u="none" cap="none" strike="noStrike">
              <a:solidFill>
                <a:schemeClr val="dk1"/>
              </a:solidFill>
              <a:latin typeface="Times New Roman"/>
              <a:ea typeface="Times New Roman"/>
              <a:cs typeface="Times New Roman"/>
              <a:sym typeface="Times New Roman"/>
            </a:endParaRPr>
          </a:p>
        </p:txBody>
      </p:sp>
      <p:sp>
        <p:nvSpPr>
          <p:cNvPr id="32" name="Google Shape;32;p6"/>
          <p:cNvSpPr txBox="1"/>
          <p:nvPr/>
        </p:nvSpPr>
        <p:spPr>
          <a:xfrm>
            <a:off x="731520" y="3657600"/>
            <a:ext cx="1072591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Año 2026, 2° semestre</a:t>
            </a:r>
            <a:endParaRPr b="0" i="0" sz="1600" u="none" cap="none" strike="noStrike">
              <a:solidFill>
                <a:schemeClr val="dk1"/>
              </a:solidFill>
              <a:latin typeface="Times New Roman"/>
              <a:ea typeface="Times New Roman"/>
              <a:cs typeface="Times New Roman"/>
              <a:sym typeface="Times New Roman"/>
            </a:endParaRPr>
          </a:p>
        </p:txBody>
      </p:sp>
      <p:sp>
        <p:nvSpPr>
          <p:cNvPr id="33" name="Google Shape;33;p6"/>
          <p:cNvSpPr txBox="1"/>
          <p:nvPr/>
        </p:nvSpPr>
        <p:spPr>
          <a:xfrm>
            <a:off x="731520" y="4114800"/>
            <a:ext cx="10725912"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800"/>
              <a:buFont typeface="Calibri"/>
              <a:buNone/>
            </a:pPr>
            <a:r>
              <a:rPr b="0" i="0" lang="en-US" sz="2800" u="none" cap="none" strike="noStrike">
                <a:solidFill>
                  <a:schemeClr val="dk1"/>
                </a:solidFill>
                <a:latin typeface="Calibri"/>
                <a:ea typeface="Calibri"/>
                <a:cs typeface="Calibri"/>
                <a:sym typeface="Calibri"/>
              </a:rPr>
              <a:t>TRABAJO PRÁCTICO N° 1</a:t>
            </a:r>
            <a:endParaRPr b="0" i="0" sz="2800" u="none" cap="none" strike="noStrike">
              <a:solidFill>
                <a:schemeClr val="dk1"/>
              </a:solidFill>
              <a:latin typeface="Times New Roman"/>
              <a:ea typeface="Times New Roman"/>
              <a:cs typeface="Times New Roman"/>
              <a:sym typeface="Times New Roman"/>
            </a:endParaRPr>
          </a:p>
        </p:txBody>
      </p:sp>
      <p:sp>
        <p:nvSpPr>
          <p:cNvPr id="34" name="Google Shape;34;p6"/>
          <p:cNvSpPr txBox="1"/>
          <p:nvPr/>
        </p:nvSpPr>
        <p:spPr>
          <a:xfrm>
            <a:off x="731520" y="4663440"/>
            <a:ext cx="10725912"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“Ecualización local de histograma y validación de planillas de calificaciones”</a:t>
            </a:r>
            <a:endParaRPr b="0" i="0" sz="2000" u="none" cap="none" strike="noStrike">
              <a:solidFill>
                <a:schemeClr val="dk1"/>
              </a:solidFill>
              <a:latin typeface="Times New Roman"/>
              <a:ea typeface="Times New Roman"/>
              <a:cs typeface="Times New Roman"/>
              <a:sym typeface="Times New Roman"/>
            </a:endParaRPr>
          </a:p>
        </p:txBody>
      </p:sp>
      <p:sp>
        <p:nvSpPr>
          <p:cNvPr id="35" name="Google Shape;35;p6"/>
          <p:cNvSpPr txBox="1"/>
          <p:nvPr/>
        </p:nvSpPr>
        <p:spPr>
          <a:xfrm>
            <a:off x="731520" y="5577840"/>
            <a:ext cx="10725912"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GRUPO 8   Integrantes: </a:t>
            </a:r>
            <a:r>
              <a:rPr b="0" i="0" lang="en-US" sz="1600" u="none" cap="none" strike="noStrike">
                <a:solidFill>
                  <a:schemeClr val="dk1"/>
                </a:solidFill>
                <a:latin typeface="Calibri"/>
                <a:ea typeface="Calibri"/>
                <a:cs typeface="Calibri"/>
                <a:sym typeface="Calibri"/>
              </a:rPr>
              <a:t>CIVETTA, Valentino · FRANK, Maximiliano · FUCCI, Milagros · WINTER, Federico</a:t>
            </a:r>
            <a:endParaRPr b="0" i="0" sz="1600" u="none" cap="none" strike="noStrike">
              <a:solidFill>
                <a:schemeClr val="dk1"/>
              </a:solidFill>
              <a:latin typeface="Times New Roman"/>
              <a:ea typeface="Times New Roman"/>
              <a:cs typeface="Times New Roman"/>
              <a:sym typeface="Times New Roman"/>
            </a:endParaRPr>
          </a:p>
          <a:p>
            <a:pPr indent="0" lvl="0" marL="0" marR="0" rtl="0" algn="l">
              <a:spcBef>
                <a:spcPts val="40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Fecha: </a:t>
            </a:r>
            <a:r>
              <a:rPr b="0" i="0" lang="en-US" sz="1600" u="none" cap="none" strike="noStrike">
                <a:solidFill>
                  <a:schemeClr val="dk1"/>
                </a:solidFill>
                <a:latin typeface="Calibri"/>
                <a:ea typeface="Calibri"/>
                <a:cs typeface="Calibri"/>
                <a:sym typeface="Calibri"/>
              </a:rPr>
              <a:t>05/10/2026</a:t>
            </a:r>
            <a:endParaRPr b="0" i="0" sz="1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7"/>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Dos problemas, dos scripts</a:t>
            </a:r>
            <a:endParaRPr sz="3400"/>
          </a:p>
        </p:txBody>
      </p:sp>
      <p:sp>
        <p:nvSpPr>
          <p:cNvPr id="42" name="Google Shape;42;p7"/>
          <p:cNvSpPr/>
          <p:nvPr/>
        </p:nvSpPr>
        <p:spPr>
          <a:xfrm>
            <a:off x="548640" y="1371600"/>
            <a:ext cx="5394960" cy="420624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7"/>
          <p:cNvSpPr/>
          <p:nvPr/>
        </p:nvSpPr>
        <p:spPr>
          <a:xfrm>
            <a:off x="822960" y="1645920"/>
            <a:ext cx="548640" cy="54864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7"/>
          <p:cNvSpPr txBox="1"/>
          <p:nvPr/>
        </p:nvSpPr>
        <p:spPr>
          <a:xfrm>
            <a:off x="822960" y="164592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000"/>
              <a:buFont typeface="Times New Roman"/>
              <a:buNone/>
            </a:pPr>
            <a:r>
              <a:rPr b="1" i="0" lang="en-US" sz="2000" u="none" cap="none" strike="noStrike">
                <a:solidFill>
                  <a:schemeClr val="lt1"/>
                </a:solidFill>
                <a:latin typeface="Times New Roman"/>
                <a:ea typeface="Times New Roman"/>
                <a:cs typeface="Times New Roman"/>
                <a:sym typeface="Times New Roman"/>
              </a:rPr>
              <a:t>1</a:t>
            </a:r>
            <a:endParaRPr b="0" i="0" sz="2000" u="none" cap="none" strike="noStrike">
              <a:solidFill>
                <a:schemeClr val="dk1"/>
              </a:solidFill>
              <a:latin typeface="Times New Roman"/>
              <a:ea typeface="Times New Roman"/>
              <a:cs typeface="Times New Roman"/>
              <a:sym typeface="Times New Roman"/>
            </a:endParaRPr>
          </a:p>
        </p:txBody>
      </p:sp>
      <p:sp>
        <p:nvSpPr>
          <p:cNvPr id="45" name="Google Shape;45;p7"/>
          <p:cNvSpPr txBox="1"/>
          <p:nvPr/>
        </p:nvSpPr>
        <p:spPr>
          <a:xfrm>
            <a:off x="1554480" y="1600200"/>
            <a:ext cx="4206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200"/>
              <a:buFont typeface="Times New Roman"/>
              <a:buNone/>
            </a:pPr>
            <a:r>
              <a:rPr b="1" i="0" lang="en-US" sz="2200" u="none" cap="none" strike="noStrike">
                <a:solidFill>
                  <a:schemeClr val="dk1"/>
                </a:solidFill>
                <a:latin typeface="Times New Roman"/>
                <a:ea typeface="Times New Roman"/>
                <a:cs typeface="Times New Roman"/>
                <a:sym typeface="Times New Roman"/>
              </a:rPr>
              <a:t>Ecualización local de histograma</a:t>
            </a:r>
            <a:endParaRPr b="0" i="0" sz="2200" u="none" cap="none" strike="noStrike">
              <a:solidFill>
                <a:schemeClr val="dk1"/>
              </a:solidFill>
              <a:latin typeface="Times New Roman"/>
              <a:ea typeface="Times New Roman"/>
              <a:cs typeface="Times New Roman"/>
              <a:sym typeface="Times New Roman"/>
            </a:endParaRPr>
          </a:p>
        </p:txBody>
      </p:sp>
      <p:sp>
        <p:nvSpPr>
          <p:cNvPr id="46" name="Google Shape;46;p7"/>
          <p:cNvSpPr txBox="1"/>
          <p:nvPr/>
        </p:nvSpPr>
        <p:spPr>
          <a:xfrm>
            <a:off x="822960" y="2468880"/>
            <a:ext cx="4846320" cy="228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Función con ventana MxN que recorre la imagen píxel a píxel</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spcBef>
                <a:spcPts val="80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Encontrar los detalles ocultos en cada zona de la imagen</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spcBef>
                <a:spcPts val="80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Analizar cómo cambia el resultado con el tamaño de ventana</a:t>
            </a:r>
            <a:endParaRPr b="0" i="0" sz="1600" u="none" cap="none" strike="noStrike">
              <a:solidFill>
                <a:schemeClr val="dk1"/>
              </a:solidFill>
              <a:latin typeface="Times New Roman"/>
              <a:ea typeface="Times New Roman"/>
              <a:cs typeface="Times New Roman"/>
              <a:sym typeface="Times New Roman"/>
            </a:endParaRPr>
          </a:p>
        </p:txBody>
      </p:sp>
      <p:sp>
        <p:nvSpPr>
          <p:cNvPr id="47" name="Google Shape;47;p7"/>
          <p:cNvSpPr txBox="1"/>
          <p:nvPr/>
        </p:nvSpPr>
        <p:spPr>
          <a:xfrm>
            <a:off x="822960" y="502920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problema1.py</a:t>
            </a:r>
            <a:endParaRPr b="0" i="0" sz="1400" u="none" cap="none" strike="noStrike">
              <a:solidFill>
                <a:schemeClr val="dk1"/>
              </a:solidFill>
              <a:latin typeface="Times New Roman"/>
              <a:ea typeface="Times New Roman"/>
              <a:cs typeface="Times New Roman"/>
              <a:sym typeface="Times New Roman"/>
            </a:endParaRPr>
          </a:p>
        </p:txBody>
      </p:sp>
      <p:sp>
        <p:nvSpPr>
          <p:cNvPr id="48" name="Google Shape;48;p7"/>
          <p:cNvSpPr/>
          <p:nvPr/>
        </p:nvSpPr>
        <p:spPr>
          <a:xfrm>
            <a:off x="6217920" y="1371600"/>
            <a:ext cx="5394960" cy="420624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7"/>
          <p:cNvSpPr/>
          <p:nvPr/>
        </p:nvSpPr>
        <p:spPr>
          <a:xfrm>
            <a:off x="6492240" y="1645920"/>
            <a:ext cx="548640" cy="54864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7"/>
          <p:cNvSpPr txBox="1"/>
          <p:nvPr/>
        </p:nvSpPr>
        <p:spPr>
          <a:xfrm>
            <a:off x="6492240" y="164592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000"/>
              <a:buFont typeface="Times New Roman"/>
              <a:buNone/>
            </a:pPr>
            <a:r>
              <a:rPr b="1" i="0" lang="en-US" sz="2000" u="none" cap="none" strike="noStrike">
                <a:solidFill>
                  <a:schemeClr val="lt1"/>
                </a:solidFill>
                <a:latin typeface="Times New Roman"/>
                <a:ea typeface="Times New Roman"/>
                <a:cs typeface="Times New Roman"/>
                <a:sym typeface="Times New Roman"/>
              </a:rPr>
              <a:t>2</a:t>
            </a:r>
            <a:endParaRPr b="0" i="0" sz="2000" u="none" cap="none" strike="noStrike">
              <a:solidFill>
                <a:schemeClr val="dk1"/>
              </a:solidFill>
              <a:latin typeface="Times New Roman"/>
              <a:ea typeface="Times New Roman"/>
              <a:cs typeface="Times New Roman"/>
              <a:sym typeface="Times New Roman"/>
            </a:endParaRPr>
          </a:p>
        </p:txBody>
      </p:sp>
      <p:sp>
        <p:nvSpPr>
          <p:cNvPr id="51" name="Google Shape;51;p7"/>
          <p:cNvSpPr txBox="1"/>
          <p:nvPr/>
        </p:nvSpPr>
        <p:spPr>
          <a:xfrm>
            <a:off x="7223760" y="1600200"/>
            <a:ext cx="4206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200"/>
              <a:buFont typeface="Times New Roman"/>
              <a:buNone/>
            </a:pPr>
            <a:r>
              <a:rPr b="1" i="0" lang="en-US" sz="2200" u="none" cap="none" strike="noStrike">
                <a:solidFill>
                  <a:schemeClr val="dk1"/>
                </a:solidFill>
                <a:latin typeface="Times New Roman"/>
                <a:ea typeface="Times New Roman"/>
                <a:cs typeface="Times New Roman"/>
                <a:sym typeface="Times New Roman"/>
              </a:rPr>
              <a:t>Validación de planillas</a:t>
            </a:r>
            <a:endParaRPr b="0" i="0" sz="2200" u="none" cap="none" strike="noStrike">
              <a:solidFill>
                <a:schemeClr val="dk1"/>
              </a:solidFill>
              <a:latin typeface="Times New Roman"/>
              <a:ea typeface="Times New Roman"/>
              <a:cs typeface="Times New Roman"/>
              <a:sym typeface="Times New Roman"/>
            </a:endParaRPr>
          </a:p>
        </p:txBody>
      </p:sp>
      <p:sp>
        <p:nvSpPr>
          <p:cNvPr id="52" name="Google Shape;52;p7"/>
          <p:cNvSpPr txBox="1"/>
          <p:nvPr/>
        </p:nvSpPr>
        <p:spPr>
          <a:xfrm>
            <a:off x="6492240" y="2468880"/>
            <a:ext cx="4846320" cy="228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Informar qué campos están OK y cuáles MAL</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spcBef>
                <a:spcPts val="80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Imagen de salida con los alumnos que no aprobaron (L o R)</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spcBef>
                <a:spcPts val="80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Archivo CSV con una fila por registro</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spcBef>
                <a:spcPts val="80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Repetir el proceso con las cuatro planillas</a:t>
            </a:r>
            <a:endParaRPr b="0" i="0" sz="1600" u="none" cap="none" strike="noStrike">
              <a:solidFill>
                <a:schemeClr val="dk1"/>
              </a:solidFill>
              <a:latin typeface="Times New Roman"/>
              <a:ea typeface="Times New Roman"/>
              <a:cs typeface="Times New Roman"/>
              <a:sym typeface="Times New Roman"/>
            </a:endParaRPr>
          </a:p>
        </p:txBody>
      </p:sp>
      <p:sp>
        <p:nvSpPr>
          <p:cNvPr id="53" name="Google Shape;53;p7"/>
          <p:cNvSpPr txBox="1"/>
          <p:nvPr/>
        </p:nvSpPr>
        <p:spPr>
          <a:xfrm>
            <a:off x="6492240" y="502920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problema2.py</a:t>
            </a:r>
            <a:endParaRPr b="0" i="0" sz="1400" u="none" cap="none" strike="noStrike">
              <a:solidFill>
                <a:schemeClr val="dk1"/>
              </a:solidFill>
              <a:latin typeface="Times New Roman"/>
              <a:ea typeface="Times New Roman"/>
              <a:cs typeface="Times New Roman"/>
              <a:sym typeface="Times New Roman"/>
            </a:endParaRPr>
          </a:p>
        </p:txBody>
      </p:sp>
      <p:sp>
        <p:nvSpPr>
          <p:cNvPr id="54" name="Google Shape;54;p7"/>
          <p:cNvSpPr txBox="1"/>
          <p:nvPr/>
        </p:nvSpPr>
        <p:spPr>
          <a:xfrm>
            <a:off x="548640" y="5852160"/>
            <a:ext cx="11064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ourier New"/>
              <a:buNone/>
            </a:pPr>
            <a:r>
              <a:rPr b="0" i="0" lang="en-US" sz="1200" u="none" cap="none" strike="noStrike">
                <a:solidFill>
                  <a:schemeClr val="dk1"/>
                </a:solidFill>
                <a:latin typeface="Courier New"/>
                <a:ea typeface="Courier New"/>
                <a:cs typeface="Courier New"/>
                <a:sym typeface="Courier New"/>
              </a:rPr>
              <a:t>Python 3.13.16 · numpy 2.5.3 · opencv-python 5.0.0.93 · matplotlib 3.11.2</a:t>
            </a:r>
            <a:endParaRPr b="0" i="0" sz="1200" u="none" cap="none" strike="noStrike">
              <a:solidFill>
                <a:schemeClr val="dk1"/>
              </a:solidFill>
              <a:latin typeface="Times New Roman"/>
              <a:ea typeface="Times New Roman"/>
              <a:cs typeface="Times New Roman"/>
              <a:sym typeface="Times New Roman"/>
            </a:endParaRPr>
          </a:p>
        </p:txBody>
      </p:sp>
      <p:sp>
        <p:nvSpPr>
          <p:cNvPr id="55" name="Google Shape;55;p7"/>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8"/>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Marco teórico: histograma y ecualización</a:t>
            </a:r>
            <a:endParaRPr sz="3400"/>
          </a:p>
        </p:txBody>
      </p:sp>
      <p:sp>
        <p:nvSpPr>
          <p:cNvPr id="62" name="Google Shape;62;p8"/>
          <p:cNvSpPr/>
          <p:nvPr/>
        </p:nvSpPr>
        <p:spPr>
          <a:xfrm>
            <a:off x="548640" y="1371600"/>
            <a:ext cx="5394960" cy="214884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8"/>
          <p:cNvSpPr txBox="1"/>
          <p:nvPr/>
        </p:nvSpPr>
        <p:spPr>
          <a:xfrm>
            <a:off x="777240" y="1508760"/>
            <a:ext cx="4937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Histograma</a:t>
            </a:r>
            <a:endParaRPr b="0" i="0" sz="1800" u="none" cap="none" strike="noStrike">
              <a:solidFill>
                <a:schemeClr val="dk1"/>
              </a:solidFill>
              <a:latin typeface="Times New Roman"/>
              <a:ea typeface="Times New Roman"/>
              <a:cs typeface="Times New Roman"/>
              <a:sym typeface="Times New Roman"/>
            </a:endParaRPr>
          </a:p>
        </p:txBody>
      </p:sp>
      <p:sp>
        <p:nvSpPr>
          <p:cNvPr id="64" name="Google Shape;64;p8"/>
          <p:cNvSpPr txBox="1"/>
          <p:nvPr/>
        </p:nvSpPr>
        <p:spPr>
          <a:xfrm>
            <a:off x="777240" y="2057400"/>
            <a:ext cx="4937760" cy="1325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Cuenta cuántos píxeles hay de cada nivel r_k (L = 256 para uint8).</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h(r_k) = n_k</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p(r_k) = n_k / total de píxeles</a:t>
            </a:r>
            <a:endParaRPr b="0" i="0" sz="1400" u="none" cap="none" strike="noStrike">
              <a:solidFill>
                <a:schemeClr val="dk1"/>
              </a:solidFill>
              <a:latin typeface="Times New Roman"/>
              <a:ea typeface="Times New Roman"/>
              <a:cs typeface="Times New Roman"/>
              <a:sym typeface="Times New Roman"/>
            </a:endParaRPr>
          </a:p>
        </p:txBody>
      </p:sp>
      <p:sp>
        <p:nvSpPr>
          <p:cNvPr id="65" name="Google Shape;65;p8"/>
          <p:cNvSpPr/>
          <p:nvPr/>
        </p:nvSpPr>
        <p:spPr>
          <a:xfrm>
            <a:off x="6217920" y="1371600"/>
            <a:ext cx="5394960" cy="214884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8"/>
          <p:cNvSpPr txBox="1"/>
          <p:nvPr/>
        </p:nvSpPr>
        <p:spPr>
          <a:xfrm>
            <a:off x="6446520" y="1508760"/>
            <a:ext cx="4937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Ecualización global</a:t>
            </a:r>
            <a:endParaRPr b="0" i="0" sz="1800" u="none" cap="none" strike="noStrike">
              <a:solidFill>
                <a:schemeClr val="dk1"/>
              </a:solidFill>
              <a:latin typeface="Times New Roman"/>
              <a:ea typeface="Times New Roman"/>
              <a:cs typeface="Times New Roman"/>
              <a:sym typeface="Times New Roman"/>
            </a:endParaRPr>
          </a:p>
        </p:txBody>
      </p:sp>
      <p:sp>
        <p:nvSpPr>
          <p:cNvPr id="67" name="Google Shape;67;p8"/>
          <p:cNvSpPr txBox="1"/>
          <p:nvPr/>
        </p:nvSpPr>
        <p:spPr>
          <a:xfrm>
            <a:off x="6446520" y="2057400"/>
            <a:ext cx="4937760" cy="1325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La transformación es la CDF escalada al rango de salida:</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s_k = (L − 1) · Σ p(r_j), j = 0..k</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En OpenCV: cv2.equalizeHist(img).</a:t>
            </a:r>
            <a:endParaRPr b="0" i="0" sz="1400" u="none" cap="none" strike="noStrike">
              <a:solidFill>
                <a:schemeClr val="dk1"/>
              </a:solidFill>
              <a:latin typeface="Times New Roman"/>
              <a:ea typeface="Times New Roman"/>
              <a:cs typeface="Times New Roman"/>
              <a:sym typeface="Times New Roman"/>
            </a:endParaRPr>
          </a:p>
        </p:txBody>
      </p:sp>
      <p:graphicFrame>
        <p:nvGraphicFramePr>
          <p:cNvPr id="68" name="Google Shape;68;p8"/>
          <p:cNvGraphicFramePr/>
          <p:nvPr/>
        </p:nvGraphicFramePr>
        <p:xfrm>
          <a:off x="548640" y="3749040"/>
          <a:ext cx="3000000" cy="3000000"/>
        </p:xfrm>
        <a:graphic>
          <a:graphicData uri="http://schemas.openxmlformats.org/drawingml/2006/table">
            <a:tbl>
              <a:tblPr>
                <a:noFill/>
                <a:tableStyleId>{E8F1A2DE-F75D-4E95-B11A-8404A869D89C}</a:tableStyleId>
              </a:tblPr>
              <a:tblGrid>
                <a:gridCol w="2194550"/>
                <a:gridCol w="3840475"/>
              </a:tblGrid>
              <a:tr h="457200">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Forma de calcularlo</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Uso</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r>
              <a:tr h="457200">
                <a:tc>
                  <a:txBody>
                    <a:bodyPr/>
                    <a:lstStyle/>
                    <a:p>
                      <a:pPr indent="0" lvl="0" marL="0" marR="0" rtl="0" algn="l">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cv2.calcHist()</a:t>
                      </a:r>
                      <a:endParaRPr sz="1400" u="none" cap="none" strike="noStrike">
                        <a:latin typeface="Courier New"/>
                        <a:ea typeface="Courier New"/>
                        <a:cs typeface="Courier New"/>
                        <a:sym typeface="Courier New"/>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La más rápida; varios canales y máscaras</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200">
                <a:tc>
                  <a:txBody>
                    <a:bodyPr/>
                    <a:lstStyle/>
                    <a:p>
                      <a:pPr indent="0" lvl="0" marL="0" marR="0" rtl="0" algn="l">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np.histogram()</a:t>
                      </a:r>
                      <a:endParaRPr sz="1400" u="none" cap="none" strike="noStrike">
                        <a:latin typeface="Courier New"/>
                        <a:ea typeface="Courier New"/>
                        <a:cs typeface="Courier New"/>
                        <a:sym typeface="Courier New"/>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Velocidad media; sin máscaras</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200">
                <a:tc>
                  <a:txBody>
                    <a:bodyPr/>
                    <a:lstStyle/>
                    <a:p>
                      <a:pPr indent="0" lvl="0" marL="0" marR="0" rtl="0" algn="l">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plt.hist()</a:t>
                      </a:r>
                      <a:endParaRPr sz="1400" u="none" cap="none" strike="noStrike">
                        <a:latin typeface="Courier New"/>
                        <a:ea typeface="Courier New"/>
                        <a:cs typeface="Courier New"/>
                        <a:sym typeface="Courier New"/>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La más lenta; solo para visualizar</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69" name="Google Shape;69;p8"/>
          <p:cNvSpPr/>
          <p:nvPr/>
        </p:nvSpPr>
        <p:spPr>
          <a:xfrm>
            <a:off x="6858000" y="3749040"/>
            <a:ext cx="4754880" cy="2286000"/>
          </a:xfrm>
          <a:prstGeom prst="rect">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8"/>
          <p:cNvSpPr txBox="1"/>
          <p:nvPr/>
        </p:nvSpPr>
        <p:spPr>
          <a:xfrm>
            <a:off x="7086600" y="3886200"/>
            <a:ext cx="429768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Limitación</a:t>
            </a:r>
            <a:endParaRPr b="0" i="0" sz="1600" u="none" cap="none" strike="noStrike">
              <a:solidFill>
                <a:schemeClr val="dk1"/>
              </a:solidFill>
              <a:latin typeface="Times New Roman"/>
              <a:ea typeface="Times New Roman"/>
              <a:cs typeface="Times New Roman"/>
              <a:sym typeface="Times New Roman"/>
            </a:endParaRPr>
          </a:p>
          <a:p>
            <a:pPr indent="0" lvl="0" marL="0" marR="0" rtl="0" algn="l">
              <a:spcBef>
                <a:spcPts val="60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El histograma usa todos los píxeles. Un detalle casi igual a su fondo local y de pocos píxeles casi no pesa y la ecualización no lo resalta.</a:t>
            </a:r>
            <a:endParaRPr b="0" i="0" sz="1600" u="none" cap="none" strike="noStrike">
              <a:solidFill>
                <a:schemeClr val="dk1"/>
              </a:solidFill>
              <a:latin typeface="Times New Roman"/>
              <a:ea typeface="Times New Roman"/>
              <a:cs typeface="Times New Roman"/>
              <a:sym typeface="Times New Roman"/>
            </a:endParaRPr>
          </a:p>
        </p:txBody>
      </p:sp>
      <p:sp>
        <p:nvSpPr>
          <p:cNvPr id="71" name="Google Shape;71;p8"/>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9"/>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Ecualización local, paso a paso</a:t>
            </a:r>
            <a:endParaRPr sz="3400"/>
          </a:p>
        </p:txBody>
      </p:sp>
      <p:sp>
        <p:nvSpPr>
          <p:cNvPr id="78" name="Google Shape;78;p9"/>
          <p:cNvSpPr/>
          <p:nvPr/>
        </p:nvSpPr>
        <p:spPr>
          <a:xfrm>
            <a:off x="548640" y="1371600"/>
            <a:ext cx="2011680" cy="210312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9"/>
          <p:cNvSpPr/>
          <p:nvPr/>
        </p:nvSpPr>
        <p:spPr>
          <a:xfrm>
            <a:off x="731520" y="1554480"/>
            <a:ext cx="457200" cy="4572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9"/>
          <p:cNvSpPr txBox="1"/>
          <p:nvPr/>
        </p:nvSpPr>
        <p:spPr>
          <a:xfrm>
            <a:off x="731520" y="15544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1</a:t>
            </a:r>
            <a:endParaRPr b="0" i="0" sz="1600" u="none" cap="none" strike="noStrike">
              <a:solidFill>
                <a:schemeClr val="dk1"/>
              </a:solidFill>
              <a:latin typeface="Times New Roman"/>
              <a:ea typeface="Times New Roman"/>
              <a:cs typeface="Times New Roman"/>
              <a:sym typeface="Times New Roman"/>
            </a:endParaRPr>
          </a:p>
        </p:txBody>
      </p:sp>
      <p:sp>
        <p:nvSpPr>
          <p:cNvPr id="81" name="Google Shape;81;p9"/>
          <p:cNvSpPr txBox="1"/>
          <p:nvPr/>
        </p:nvSpPr>
        <p:spPr>
          <a:xfrm>
            <a:off x="1280160" y="1554480"/>
            <a:ext cx="1188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Ventana</a:t>
            </a:r>
            <a:endParaRPr b="0" i="0" sz="1600" u="none" cap="none" strike="noStrike">
              <a:solidFill>
                <a:schemeClr val="dk1"/>
              </a:solidFill>
              <a:latin typeface="Times New Roman"/>
              <a:ea typeface="Times New Roman"/>
              <a:cs typeface="Times New Roman"/>
              <a:sym typeface="Times New Roman"/>
            </a:endParaRPr>
          </a:p>
        </p:txBody>
      </p:sp>
      <p:sp>
        <p:nvSpPr>
          <p:cNvPr id="82" name="Google Shape;82;p9"/>
          <p:cNvSpPr txBox="1"/>
          <p:nvPr/>
        </p:nvSpPr>
        <p:spPr>
          <a:xfrm>
            <a:off x="731520" y="2194560"/>
            <a:ext cx="164592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Definimos una ventana de M×N píxeles.</a:t>
            </a:r>
            <a:endParaRPr b="0" i="0" sz="1400" u="none" cap="none" strike="noStrike">
              <a:solidFill>
                <a:schemeClr val="dk1"/>
              </a:solidFill>
              <a:latin typeface="Times New Roman"/>
              <a:ea typeface="Times New Roman"/>
              <a:cs typeface="Times New Roman"/>
              <a:sym typeface="Times New Roman"/>
            </a:endParaRPr>
          </a:p>
        </p:txBody>
      </p:sp>
      <p:sp>
        <p:nvSpPr>
          <p:cNvPr id="83" name="Google Shape;83;p9"/>
          <p:cNvSpPr/>
          <p:nvPr/>
        </p:nvSpPr>
        <p:spPr>
          <a:xfrm>
            <a:off x="2587752" y="2331720"/>
            <a:ext cx="196596" cy="320040"/>
          </a:xfrm>
          <a:prstGeom prst="rightArrow">
            <a:avLst>
              <a:gd fmla="val 50000" name="adj1"/>
              <a:gd fmla="val 50000" name="adj2"/>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9"/>
          <p:cNvSpPr/>
          <p:nvPr/>
        </p:nvSpPr>
        <p:spPr>
          <a:xfrm>
            <a:off x="2811780" y="1371600"/>
            <a:ext cx="2011680" cy="210312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9"/>
          <p:cNvSpPr/>
          <p:nvPr/>
        </p:nvSpPr>
        <p:spPr>
          <a:xfrm>
            <a:off x="2994660" y="1554480"/>
            <a:ext cx="457200" cy="4572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9"/>
          <p:cNvSpPr txBox="1"/>
          <p:nvPr/>
        </p:nvSpPr>
        <p:spPr>
          <a:xfrm>
            <a:off x="2994660" y="15544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2</a:t>
            </a:r>
            <a:endParaRPr b="0" i="0" sz="1600" u="none" cap="none" strike="noStrike">
              <a:solidFill>
                <a:schemeClr val="dk1"/>
              </a:solidFill>
              <a:latin typeface="Times New Roman"/>
              <a:ea typeface="Times New Roman"/>
              <a:cs typeface="Times New Roman"/>
              <a:sym typeface="Times New Roman"/>
            </a:endParaRPr>
          </a:p>
        </p:txBody>
      </p:sp>
      <p:sp>
        <p:nvSpPr>
          <p:cNvPr id="87" name="Google Shape;87;p9"/>
          <p:cNvSpPr txBox="1"/>
          <p:nvPr/>
        </p:nvSpPr>
        <p:spPr>
          <a:xfrm>
            <a:off x="3543300" y="1554480"/>
            <a:ext cx="1188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Centro</a:t>
            </a:r>
            <a:endParaRPr b="0" i="0" sz="1600" u="none" cap="none" strike="noStrike">
              <a:solidFill>
                <a:schemeClr val="dk1"/>
              </a:solidFill>
              <a:latin typeface="Times New Roman"/>
              <a:ea typeface="Times New Roman"/>
              <a:cs typeface="Times New Roman"/>
              <a:sym typeface="Times New Roman"/>
            </a:endParaRPr>
          </a:p>
        </p:txBody>
      </p:sp>
      <p:sp>
        <p:nvSpPr>
          <p:cNvPr id="88" name="Google Shape;88;p9"/>
          <p:cNvSpPr txBox="1"/>
          <p:nvPr/>
        </p:nvSpPr>
        <p:spPr>
          <a:xfrm>
            <a:off x="2994660" y="2194560"/>
            <a:ext cx="164592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La centramos en un píxel.</a:t>
            </a:r>
            <a:endParaRPr b="0" i="0" sz="1400" u="none" cap="none" strike="noStrike">
              <a:solidFill>
                <a:schemeClr val="dk1"/>
              </a:solidFill>
              <a:latin typeface="Times New Roman"/>
              <a:ea typeface="Times New Roman"/>
              <a:cs typeface="Times New Roman"/>
              <a:sym typeface="Times New Roman"/>
            </a:endParaRPr>
          </a:p>
        </p:txBody>
      </p:sp>
      <p:sp>
        <p:nvSpPr>
          <p:cNvPr id="89" name="Google Shape;89;p9"/>
          <p:cNvSpPr/>
          <p:nvPr/>
        </p:nvSpPr>
        <p:spPr>
          <a:xfrm>
            <a:off x="4850892" y="2331720"/>
            <a:ext cx="196596" cy="320040"/>
          </a:xfrm>
          <a:prstGeom prst="rightArrow">
            <a:avLst>
              <a:gd fmla="val 50000" name="adj1"/>
              <a:gd fmla="val 50000" name="adj2"/>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a:off x="5074920" y="1371600"/>
            <a:ext cx="2011680" cy="210312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a:off x="5257800" y="1554480"/>
            <a:ext cx="457200" cy="4572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txBox="1"/>
          <p:nvPr/>
        </p:nvSpPr>
        <p:spPr>
          <a:xfrm>
            <a:off x="5257800" y="15544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3</a:t>
            </a:r>
            <a:endParaRPr b="0" i="0" sz="1600" u="none" cap="none" strike="noStrike">
              <a:solidFill>
                <a:schemeClr val="dk1"/>
              </a:solidFill>
              <a:latin typeface="Times New Roman"/>
              <a:ea typeface="Times New Roman"/>
              <a:cs typeface="Times New Roman"/>
              <a:sym typeface="Times New Roman"/>
            </a:endParaRPr>
          </a:p>
        </p:txBody>
      </p:sp>
      <p:sp>
        <p:nvSpPr>
          <p:cNvPr id="93" name="Google Shape;93;p9"/>
          <p:cNvSpPr txBox="1"/>
          <p:nvPr/>
        </p:nvSpPr>
        <p:spPr>
          <a:xfrm>
            <a:off x="5806440" y="1554480"/>
            <a:ext cx="1188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Histograma</a:t>
            </a:r>
            <a:endParaRPr b="0" i="0" sz="1600" u="none" cap="none" strike="noStrike">
              <a:solidFill>
                <a:schemeClr val="dk1"/>
              </a:solidFill>
              <a:latin typeface="Times New Roman"/>
              <a:ea typeface="Times New Roman"/>
              <a:cs typeface="Times New Roman"/>
              <a:sym typeface="Times New Roman"/>
            </a:endParaRPr>
          </a:p>
        </p:txBody>
      </p:sp>
      <p:sp>
        <p:nvSpPr>
          <p:cNvPr id="94" name="Google Shape;94;p9"/>
          <p:cNvSpPr txBox="1"/>
          <p:nvPr/>
        </p:nvSpPr>
        <p:spPr>
          <a:xfrm>
            <a:off x="5257800" y="2194560"/>
            <a:ext cx="164592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Calculamos el histograma solo de la ventana y su transformación.</a:t>
            </a:r>
            <a:endParaRPr b="0" i="0" sz="1400" u="none" cap="none" strike="noStrike">
              <a:solidFill>
                <a:schemeClr val="dk1"/>
              </a:solidFill>
              <a:latin typeface="Times New Roman"/>
              <a:ea typeface="Times New Roman"/>
              <a:cs typeface="Times New Roman"/>
              <a:sym typeface="Times New Roman"/>
            </a:endParaRPr>
          </a:p>
        </p:txBody>
      </p:sp>
      <p:sp>
        <p:nvSpPr>
          <p:cNvPr id="95" name="Google Shape;95;p9"/>
          <p:cNvSpPr/>
          <p:nvPr/>
        </p:nvSpPr>
        <p:spPr>
          <a:xfrm>
            <a:off x="7114032" y="2331720"/>
            <a:ext cx="196596" cy="320040"/>
          </a:xfrm>
          <a:prstGeom prst="rightArrow">
            <a:avLst>
              <a:gd fmla="val 50000" name="adj1"/>
              <a:gd fmla="val 50000" name="adj2"/>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a:off x="7338060" y="1371600"/>
            <a:ext cx="2011680" cy="210312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7520940" y="1554480"/>
            <a:ext cx="457200" cy="4572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txBox="1"/>
          <p:nvPr/>
        </p:nvSpPr>
        <p:spPr>
          <a:xfrm>
            <a:off x="7520940" y="15544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4</a:t>
            </a:r>
            <a:endParaRPr b="0" i="0" sz="1600" u="none" cap="none" strike="noStrike">
              <a:solidFill>
                <a:schemeClr val="dk1"/>
              </a:solidFill>
              <a:latin typeface="Times New Roman"/>
              <a:ea typeface="Times New Roman"/>
              <a:cs typeface="Times New Roman"/>
              <a:sym typeface="Times New Roman"/>
            </a:endParaRPr>
          </a:p>
        </p:txBody>
      </p:sp>
      <p:sp>
        <p:nvSpPr>
          <p:cNvPr id="99" name="Google Shape;99;p9"/>
          <p:cNvSpPr txBox="1"/>
          <p:nvPr/>
        </p:nvSpPr>
        <p:spPr>
          <a:xfrm>
            <a:off x="8069580" y="1554480"/>
            <a:ext cx="1188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Píxel central</a:t>
            </a:r>
            <a:endParaRPr b="0" i="0" sz="1600" u="none" cap="none" strike="noStrike">
              <a:solidFill>
                <a:schemeClr val="dk1"/>
              </a:solidFill>
              <a:latin typeface="Times New Roman"/>
              <a:ea typeface="Times New Roman"/>
              <a:cs typeface="Times New Roman"/>
              <a:sym typeface="Times New Roman"/>
            </a:endParaRPr>
          </a:p>
        </p:txBody>
      </p:sp>
      <p:sp>
        <p:nvSpPr>
          <p:cNvPr id="100" name="Google Shape;100;p9"/>
          <p:cNvSpPr txBox="1"/>
          <p:nvPr/>
        </p:nvSpPr>
        <p:spPr>
          <a:xfrm>
            <a:off x="7520940" y="2194560"/>
            <a:ext cx="164592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Aplicamos esa transformación solo al píxel central.</a:t>
            </a:r>
            <a:endParaRPr b="0" i="0" sz="1400" u="none" cap="none" strike="noStrike">
              <a:solidFill>
                <a:schemeClr val="dk1"/>
              </a:solidFill>
              <a:latin typeface="Times New Roman"/>
              <a:ea typeface="Times New Roman"/>
              <a:cs typeface="Times New Roman"/>
              <a:sym typeface="Times New Roman"/>
            </a:endParaRPr>
          </a:p>
        </p:txBody>
      </p:sp>
      <p:sp>
        <p:nvSpPr>
          <p:cNvPr id="101" name="Google Shape;101;p9"/>
          <p:cNvSpPr/>
          <p:nvPr/>
        </p:nvSpPr>
        <p:spPr>
          <a:xfrm>
            <a:off x="9377172" y="2331720"/>
            <a:ext cx="196596" cy="320040"/>
          </a:xfrm>
          <a:prstGeom prst="rightArrow">
            <a:avLst>
              <a:gd fmla="val 50000" name="adj1"/>
              <a:gd fmla="val 50000" name="adj2"/>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
          <p:cNvSpPr/>
          <p:nvPr/>
        </p:nvSpPr>
        <p:spPr>
          <a:xfrm>
            <a:off x="9601200" y="1371600"/>
            <a:ext cx="2011680" cy="210312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a:off x="9784080" y="1554480"/>
            <a:ext cx="457200" cy="4572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txBox="1"/>
          <p:nvPr/>
        </p:nvSpPr>
        <p:spPr>
          <a:xfrm>
            <a:off x="9784080" y="15544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5</a:t>
            </a:r>
            <a:endParaRPr b="0" i="0" sz="1600" u="none" cap="none" strike="noStrike">
              <a:solidFill>
                <a:schemeClr val="dk1"/>
              </a:solidFill>
              <a:latin typeface="Times New Roman"/>
              <a:ea typeface="Times New Roman"/>
              <a:cs typeface="Times New Roman"/>
              <a:sym typeface="Times New Roman"/>
            </a:endParaRPr>
          </a:p>
        </p:txBody>
      </p:sp>
      <p:sp>
        <p:nvSpPr>
          <p:cNvPr id="105" name="Google Shape;105;p9"/>
          <p:cNvSpPr txBox="1"/>
          <p:nvPr/>
        </p:nvSpPr>
        <p:spPr>
          <a:xfrm>
            <a:off x="10332720" y="1554480"/>
            <a:ext cx="1188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Avanzar</a:t>
            </a:r>
            <a:endParaRPr b="0" i="0" sz="1600" u="none" cap="none" strike="noStrike">
              <a:solidFill>
                <a:schemeClr val="dk1"/>
              </a:solidFill>
              <a:latin typeface="Times New Roman"/>
              <a:ea typeface="Times New Roman"/>
              <a:cs typeface="Times New Roman"/>
              <a:sym typeface="Times New Roman"/>
            </a:endParaRPr>
          </a:p>
        </p:txBody>
      </p:sp>
      <p:sp>
        <p:nvSpPr>
          <p:cNvPr id="106" name="Google Shape;106;p9"/>
          <p:cNvSpPr txBox="1"/>
          <p:nvPr/>
        </p:nvSpPr>
        <p:spPr>
          <a:xfrm>
            <a:off x="9784080" y="2194560"/>
            <a:ext cx="164592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Corremos la ventana un píxel y repetimos.</a:t>
            </a:r>
            <a:endParaRPr b="0" i="0" sz="1400" u="none" cap="none" strike="noStrike">
              <a:solidFill>
                <a:schemeClr val="dk1"/>
              </a:solidFill>
              <a:latin typeface="Times New Roman"/>
              <a:ea typeface="Times New Roman"/>
              <a:cs typeface="Times New Roman"/>
              <a:sym typeface="Times New Roman"/>
            </a:endParaRPr>
          </a:p>
        </p:txBody>
      </p:sp>
      <p:sp>
        <p:nvSpPr>
          <p:cNvPr id="107" name="Google Shape;107;p9"/>
          <p:cNvSpPr txBox="1"/>
          <p:nvPr/>
        </p:nvSpPr>
        <p:spPr>
          <a:xfrm>
            <a:off x="548640" y="374904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¿Por qué M y N tienen que ser impares?</a:t>
            </a:r>
            <a:endParaRPr b="0" i="0" sz="1800" u="none" cap="none" strike="noStrike">
              <a:solidFill>
                <a:schemeClr val="dk1"/>
              </a:solidFill>
              <a:latin typeface="Times New Roman"/>
              <a:ea typeface="Times New Roman"/>
              <a:cs typeface="Times New Roman"/>
              <a:sym typeface="Times New Roman"/>
            </a:endParaRPr>
          </a:p>
        </p:txBody>
      </p:sp>
      <p:sp>
        <p:nvSpPr>
          <p:cNvPr id="108" name="Google Shape;108;p9"/>
          <p:cNvSpPr txBox="1"/>
          <p:nvPr/>
        </p:nvSpPr>
        <p:spPr>
          <a:xfrm>
            <a:off x="548640" y="4206240"/>
            <a:ext cx="603504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Con M = 2m + 1 y N = 2n + 1 hay la misma cantidad de píxeles a cada lado y un único píxel central. Con un tamaño par el centro queda entre dos píxeles.</a:t>
            </a:r>
            <a:endParaRPr b="0" i="0" sz="1600" u="none" cap="none" strike="noStrike">
              <a:solidFill>
                <a:schemeClr val="dk1"/>
              </a:solidFill>
              <a:latin typeface="Times New Roman"/>
              <a:ea typeface="Times New Roman"/>
              <a:cs typeface="Times New Roman"/>
              <a:sym typeface="Times New Roman"/>
            </a:endParaRPr>
          </a:p>
        </p:txBody>
      </p:sp>
      <p:sp>
        <p:nvSpPr>
          <p:cNvPr id="109" name="Google Shape;109;p9"/>
          <p:cNvSpPr/>
          <p:nvPr/>
        </p:nvSpPr>
        <p:spPr>
          <a:xfrm>
            <a:off x="7589520" y="3931920"/>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9"/>
          <p:cNvSpPr/>
          <p:nvPr/>
        </p:nvSpPr>
        <p:spPr>
          <a:xfrm>
            <a:off x="7900416" y="3931920"/>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9"/>
          <p:cNvSpPr/>
          <p:nvPr/>
        </p:nvSpPr>
        <p:spPr>
          <a:xfrm>
            <a:off x="8211312" y="3931920"/>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9"/>
          <p:cNvSpPr/>
          <p:nvPr/>
        </p:nvSpPr>
        <p:spPr>
          <a:xfrm>
            <a:off x="8522208" y="3931920"/>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9"/>
          <p:cNvSpPr/>
          <p:nvPr/>
        </p:nvSpPr>
        <p:spPr>
          <a:xfrm>
            <a:off x="8833104" y="3931920"/>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9"/>
          <p:cNvSpPr/>
          <p:nvPr/>
        </p:nvSpPr>
        <p:spPr>
          <a:xfrm>
            <a:off x="7589520" y="4242816"/>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9"/>
          <p:cNvSpPr/>
          <p:nvPr/>
        </p:nvSpPr>
        <p:spPr>
          <a:xfrm>
            <a:off x="7900416" y="4242816"/>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
          <p:cNvSpPr/>
          <p:nvPr/>
        </p:nvSpPr>
        <p:spPr>
          <a:xfrm>
            <a:off x="8211312" y="4242816"/>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p:cNvSpPr/>
          <p:nvPr/>
        </p:nvSpPr>
        <p:spPr>
          <a:xfrm>
            <a:off x="8522208" y="4242816"/>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9"/>
          <p:cNvSpPr/>
          <p:nvPr/>
        </p:nvSpPr>
        <p:spPr>
          <a:xfrm>
            <a:off x="8833104" y="4242816"/>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9"/>
          <p:cNvSpPr/>
          <p:nvPr/>
        </p:nvSpPr>
        <p:spPr>
          <a:xfrm>
            <a:off x="7589520" y="4553712"/>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9"/>
          <p:cNvSpPr/>
          <p:nvPr/>
        </p:nvSpPr>
        <p:spPr>
          <a:xfrm>
            <a:off x="7900416" y="4553712"/>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p:nvPr/>
        </p:nvSpPr>
        <p:spPr>
          <a:xfrm>
            <a:off x="8211312" y="4553712"/>
            <a:ext cx="310896" cy="310896"/>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9"/>
          <p:cNvSpPr/>
          <p:nvPr/>
        </p:nvSpPr>
        <p:spPr>
          <a:xfrm>
            <a:off x="8522208" y="4553712"/>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9"/>
          <p:cNvSpPr/>
          <p:nvPr/>
        </p:nvSpPr>
        <p:spPr>
          <a:xfrm>
            <a:off x="8833104" y="4553712"/>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9"/>
          <p:cNvSpPr/>
          <p:nvPr/>
        </p:nvSpPr>
        <p:spPr>
          <a:xfrm>
            <a:off x="7589520" y="4864608"/>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9"/>
          <p:cNvSpPr/>
          <p:nvPr/>
        </p:nvSpPr>
        <p:spPr>
          <a:xfrm>
            <a:off x="7900416" y="4864608"/>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9"/>
          <p:cNvSpPr/>
          <p:nvPr/>
        </p:nvSpPr>
        <p:spPr>
          <a:xfrm>
            <a:off x="8211312" y="4864608"/>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9"/>
          <p:cNvSpPr/>
          <p:nvPr/>
        </p:nvSpPr>
        <p:spPr>
          <a:xfrm>
            <a:off x="8522208" y="4864608"/>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9"/>
          <p:cNvSpPr/>
          <p:nvPr/>
        </p:nvSpPr>
        <p:spPr>
          <a:xfrm>
            <a:off x="8833104" y="4864608"/>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
          <p:cNvSpPr/>
          <p:nvPr/>
        </p:nvSpPr>
        <p:spPr>
          <a:xfrm>
            <a:off x="7589520" y="5175504"/>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a:off x="7900416" y="5175504"/>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9"/>
          <p:cNvSpPr/>
          <p:nvPr/>
        </p:nvSpPr>
        <p:spPr>
          <a:xfrm>
            <a:off x="8211312" y="5175504"/>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
          <p:cNvSpPr/>
          <p:nvPr/>
        </p:nvSpPr>
        <p:spPr>
          <a:xfrm>
            <a:off x="8522208" y="5175504"/>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
          <p:cNvSpPr/>
          <p:nvPr/>
        </p:nvSpPr>
        <p:spPr>
          <a:xfrm>
            <a:off x="8833104" y="5175504"/>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9"/>
          <p:cNvSpPr txBox="1"/>
          <p:nvPr/>
        </p:nvSpPr>
        <p:spPr>
          <a:xfrm>
            <a:off x="7315200" y="5577840"/>
            <a:ext cx="210312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5x5: hay un centro</a:t>
            </a:r>
            <a:endParaRPr b="0" i="0" sz="1400" u="none" cap="none" strike="noStrike">
              <a:solidFill>
                <a:schemeClr val="dk1"/>
              </a:solidFill>
              <a:latin typeface="Times New Roman"/>
              <a:ea typeface="Times New Roman"/>
              <a:cs typeface="Times New Roman"/>
              <a:sym typeface="Times New Roman"/>
            </a:endParaRPr>
          </a:p>
        </p:txBody>
      </p:sp>
      <p:sp>
        <p:nvSpPr>
          <p:cNvPr id="135" name="Google Shape;135;p9"/>
          <p:cNvSpPr/>
          <p:nvPr/>
        </p:nvSpPr>
        <p:spPr>
          <a:xfrm>
            <a:off x="9966960" y="3931920"/>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
          <p:cNvSpPr/>
          <p:nvPr/>
        </p:nvSpPr>
        <p:spPr>
          <a:xfrm>
            <a:off x="10277856" y="3931920"/>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9"/>
          <p:cNvSpPr/>
          <p:nvPr/>
        </p:nvSpPr>
        <p:spPr>
          <a:xfrm>
            <a:off x="10588752" y="3931920"/>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9"/>
          <p:cNvSpPr/>
          <p:nvPr/>
        </p:nvSpPr>
        <p:spPr>
          <a:xfrm>
            <a:off x="10899648" y="3931920"/>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9"/>
          <p:cNvSpPr/>
          <p:nvPr/>
        </p:nvSpPr>
        <p:spPr>
          <a:xfrm>
            <a:off x="9966960" y="4242816"/>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
          <p:cNvSpPr/>
          <p:nvPr/>
        </p:nvSpPr>
        <p:spPr>
          <a:xfrm>
            <a:off x="10277856" y="4242816"/>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9"/>
          <p:cNvSpPr/>
          <p:nvPr/>
        </p:nvSpPr>
        <p:spPr>
          <a:xfrm>
            <a:off x="10588752" y="4242816"/>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9"/>
          <p:cNvSpPr/>
          <p:nvPr/>
        </p:nvSpPr>
        <p:spPr>
          <a:xfrm>
            <a:off x="10899648" y="4242816"/>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9"/>
          <p:cNvSpPr/>
          <p:nvPr/>
        </p:nvSpPr>
        <p:spPr>
          <a:xfrm>
            <a:off x="9966960" y="4553712"/>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9"/>
          <p:cNvSpPr/>
          <p:nvPr/>
        </p:nvSpPr>
        <p:spPr>
          <a:xfrm>
            <a:off x="10277856" y="4553712"/>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9"/>
          <p:cNvSpPr/>
          <p:nvPr/>
        </p:nvSpPr>
        <p:spPr>
          <a:xfrm>
            <a:off x="10588752" y="4553712"/>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9"/>
          <p:cNvSpPr/>
          <p:nvPr/>
        </p:nvSpPr>
        <p:spPr>
          <a:xfrm>
            <a:off x="10899648" y="4553712"/>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9"/>
          <p:cNvSpPr/>
          <p:nvPr/>
        </p:nvSpPr>
        <p:spPr>
          <a:xfrm>
            <a:off x="9966960" y="4864608"/>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9"/>
          <p:cNvSpPr/>
          <p:nvPr/>
        </p:nvSpPr>
        <p:spPr>
          <a:xfrm>
            <a:off x="10277856" y="4864608"/>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9"/>
          <p:cNvSpPr/>
          <p:nvPr/>
        </p:nvSpPr>
        <p:spPr>
          <a:xfrm>
            <a:off x="10588752" y="4864608"/>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9"/>
          <p:cNvSpPr/>
          <p:nvPr/>
        </p:nvSpPr>
        <p:spPr>
          <a:xfrm>
            <a:off x="10899648" y="4864608"/>
            <a:ext cx="310896" cy="31089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
          <p:cNvSpPr txBox="1"/>
          <p:nvPr/>
        </p:nvSpPr>
        <p:spPr>
          <a:xfrm>
            <a:off x="9692640" y="5266944"/>
            <a:ext cx="1792224"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4x4: no hay centro</a:t>
            </a:r>
            <a:endParaRPr b="0" i="0" sz="1400" u="none" cap="none" strike="noStrike">
              <a:solidFill>
                <a:schemeClr val="dk1"/>
              </a:solidFill>
              <a:latin typeface="Times New Roman"/>
              <a:ea typeface="Times New Roman"/>
              <a:cs typeface="Times New Roman"/>
              <a:sym typeface="Times New Roman"/>
            </a:endParaRPr>
          </a:p>
        </p:txBody>
      </p:sp>
      <p:sp>
        <p:nvSpPr>
          <p:cNvPr id="152" name="Google Shape;152;p9"/>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0"/>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Los detalles no se ven en el histograma</a:t>
            </a:r>
            <a:endParaRPr sz="3400"/>
          </a:p>
        </p:txBody>
      </p:sp>
      <p:pic>
        <p:nvPicPr>
          <p:cNvPr descr="Imagen original de 256x256 y su histograma con dos grupos de niveles" id="159" name="Google Shape;159;p10"/>
          <p:cNvPicPr preferRelativeResize="0"/>
          <p:nvPr/>
        </p:nvPicPr>
        <p:blipFill rotWithShape="1">
          <a:blip r:embed="rId3">
            <a:alphaModFix/>
          </a:blip>
          <a:srcRect b="0" l="0" r="0" t="0"/>
          <a:stretch/>
        </p:blipFill>
        <p:spPr>
          <a:xfrm>
            <a:off x="548640" y="1491996"/>
            <a:ext cx="6766560" cy="2593848"/>
          </a:xfrm>
          <a:prstGeom prst="rect">
            <a:avLst/>
          </a:prstGeom>
          <a:noFill/>
          <a:ln>
            <a:noFill/>
          </a:ln>
        </p:spPr>
      </p:pic>
      <p:sp>
        <p:nvSpPr>
          <p:cNvPr id="160" name="Google Shape;160;p10"/>
          <p:cNvSpPr/>
          <p:nvPr/>
        </p:nvSpPr>
        <p:spPr>
          <a:xfrm>
            <a:off x="548640" y="1491996"/>
            <a:ext cx="6766560" cy="2593848"/>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0"/>
          <p:cNvSpPr txBox="1"/>
          <p:nvPr/>
        </p:nvSpPr>
        <p:spPr>
          <a:xfrm>
            <a:off x="548640" y="4177284"/>
            <a:ext cx="67665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Times New Roman"/>
              <a:buNone/>
            </a:pPr>
            <a:r>
              <a:rPr b="1" i="0" lang="en-US" sz="1200" u="none" cap="none" strike="noStrike">
                <a:solidFill>
                  <a:schemeClr val="dk1"/>
                </a:solidFill>
                <a:latin typeface="Times New Roman"/>
                <a:ea typeface="Times New Roman"/>
                <a:cs typeface="Times New Roman"/>
                <a:sym typeface="Times New Roman"/>
              </a:rPr>
              <a:t>Figura 1. </a:t>
            </a:r>
            <a:r>
              <a:rPr b="0" i="0" lang="en-US" sz="1200" u="none" cap="none" strike="noStrike">
                <a:solidFill>
                  <a:schemeClr val="dk1"/>
                </a:solidFill>
                <a:latin typeface="Times New Roman"/>
                <a:ea typeface="Times New Roman"/>
                <a:cs typeface="Times New Roman"/>
                <a:sym typeface="Times New Roman"/>
              </a:rPr>
              <a:t>Imagen original e histograma en escala logarítmica: dos grupos de niveles, 0 a 11 y 226 a 228.</a:t>
            </a:r>
            <a:endParaRPr b="0" i="0" sz="1200" u="none" cap="none" strike="noStrike">
              <a:solidFill>
                <a:schemeClr val="dk1"/>
              </a:solidFill>
              <a:latin typeface="Times New Roman"/>
              <a:ea typeface="Times New Roman"/>
              <a:cs typeface="Times New Roman"/>
              <a:sym typeface="Times New Roman"/>
            </a:endParaRPr>
          </a:p>
        </p:txBody>
      </p:sp>
      <p:sp>
        <p:nvSpPr>
          <p:cNvPr id="162" name="Google Shape;162;p10"/>
          <p:cNvSpPr txBox="1"/>
          <p:nvPr/>
        </p:nvSpPr>
        <p:spPr>
          <a:xfrm>
            <a:off x="548640" y="4846320"/>
            <a:ext cx="676656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Dentro de cada cuadrado los niveles van de 0 a 11 como máximo. Los detalles difieren de su fondo en pocos niveles sobre 255, por eso no se ven en la imagen original.</a:t>
            </a:r>
            <a:endParaRPr b="0" i="0" sz="1600" u="none" cap="none" strike="noStrike">
              <a:solidFill>
                <a:schemeClr val="dk1"/>
              </a:solidFill>
              <a:latin typeface="Times New Roman"/>
              <a:ea typeface="Times New Roman"/>
              <a:cs typeface="Times New Roman"/>
              <a:sym typeface="Times New Roman"/>
            </a:endParaRPr>
          </a:p>
        </p:txBody>
      </p:sp>
      <p:sp>
        <p:nvSpPr>
          <p:cNvPr id="163" name="Google Shape;163;p10"/>
          <p:cNvSpPr/>
          <p:nvPr/>
        </p:nvSpPr>
        <p:spPr>
          <a:xfrm>
            <a:off x="7772400" y="1463040"/>
            <a:ext cx="1920240" cy="201168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0"/>
          <p:cNvSpPr txBox="1"/>
          <p:nvPr/>
        </p:nvSpPr>
        <p:spPr>
          <a:xfrm>
            <a:off x="7772400" y="1691640"/>
            <a:ext cx="192024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256x256</a:t>
            </a:r>
            <a:endParaRPr b="0" i="0" sz="3200" u="none" cap="none" strike="noStrike">
              <a:solidFill>
                <a:schemeClr val="dk1"/>
              </a:solidFill>
              <a:latin typeface="Times New Roman"/>
              <a:ea typeface="Times New Roman"/>
              <a:cs typeface="Times New Roman"/>
              <a:sym typeface="Times New Roman"/>
            </a:endParaRPr>
          </a:p>
        </p:txBody>
      </p:sp>
      <p:sp>
        <p:nvSpPr>
          <p:cNvPr id="165" name="Google Shape;165;p10"/>
          <p:cNvSpPr txBox="1"/>
          <p:nvPr/>
        </p:nvSpPr>
        <p:spPr>
          <a:xfrm>
            <a:off x="7909560" y="2514600"/>
            <a:ext cx="1645920" cy="8229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píxeles, 8 bits</a:t>
            </a:r>
            <a:endParaRPr b="0" i="0" sz="1400" u="none" cap="none" strike="noStrike">
              <a:solidFill>
                <a:schemeClr val="dk1"/>
              </a:solidFill>
              <a:latin typeface="Times New Roman"/>
              <a:ea typeface="Times New Roman"/>
              <a:cs typeface="Times New Roman"/>
              <a:sym typeface="Times New Roman"/>
            </a:endParaRPr>
          </a:p>
        </p:txBody>
      </p:sp>
      <p:sp>
        <p:nvSpPr>
          <p:cNvPr id="166" name="Google Shape;166;p10"/>
          <p:cNvSpPr/>
          <p:nvPr/>
        </p:nvSpPr>
        <p:spPr>
          <a:xfrm>
            <a:off x="9784080" y="1463040"/>
            <a:ext cx="1920240" cy="201168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0"/>
          <p:cNvSpPr txBox="1"/>
          <p:nvPr/>
        </p:nvSpPr>
        <p:spPr>
          <a:xfrm>
            <a:off x="9784080" y="1691640"/>
            <a:ext cx="192024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15</a:t>
            </a:r>
            <a:endParaRPr b="0" i="0" sz="3200" u="none" cap="none" strike="noStrike">
              <a:solidFill>
                <a:schemeClr val="dk1"/>
              </a:solidFill>
              <a:latin typeface="Times New Roman"/>
              <a:ea typeface="Times New Roman"/>
              <a:cs typeface="Times New Roman"/>
              <a:sym typeface="Times New Roman"/>
            </a:endParaRPr>
          </a:p>
        </p:txBody>
      </p:sp>
      <p:sp>
        <p:nvSpPr>
          <p:cNvPr id="168" name="Google Shape;168;p10"/>
          <p:cNvSpPr txBox="1"/>
          <p:nvPr/>
        </p:nvSpPr>
        <p:spPr>
          <a:xfrm>
            <a:off x="9921240" y="2514600"/>
            <a:ext cx="1645920" cy="8229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niveles de gris distintos</a:t>
            </a:r>
            <a:endParaRPr b="0" i="0" sz="1400" u="none" cap="none" strike="noStrike">
              <a:solidFill>
                <a:schemeClr val="dk1"/>
              </a:solidFill>
              <a:latin typeface="Times New Roman"/>
              <a:ea typeface="Times New Roman"/>
              <a:cs typeface="Times New Roman"/>
              <a:sym typeface="Times New Roman"/>
            </a:endParaRPr>
          </a:p>
        </p:txBody>
      </p:sp>
      <p:sp>
        <p:nvSpPr>
          <p:cNvPr id="169" name="Google Shape;169;p10"/>
          <p:cNvSpPr/>
          <p:nvPr/>
        </p:nvSpPr>
        <p:spPr>
          <a:xfrm>
            <a:off x="7772400" y="3657600"/>
            <a:ext cx="1920240" cy="201168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0"/>
          <p:cNvSpPr txBox="1"/>
          <p:nvPr/>
        </p:nvSpPr>
        <p:spPr>
          <a:xfrm>
            <a:off x="7772400" y="3886200"/>
            <a:ext cx="192024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5</a:t>
            </a:r>
            <a:endParaRPr b="0" i="0" sz="3200" u="none" cap="none" strike="noStrike">
              <a:solidFill>
                <a:schemeClr val="dk1"/>
              </a:solidFill>
              <a:latin typeface="Times New Roman"/>
              <a:ea typeface="Times New Roman"/>
              <a:cs typeface="Times New Roman"/>
              <a:sym typeface="Times New Roman"/>
            </a:endParaRPr>
          </a:p>
        </p:txBody>
      </p:sp>
      <p:sp>
        <p:nvSpPr>
          <p:cNvPr id="171" name="Google Shape;171;p10"/>
          <p:cNvSpPr txBox="1"/>
          <p:nvPr/>
        </p:nvSpPr>
        <p:spPr>
          <a:xfrm>
            <a:off x="7909560" y="4709160"/>
            <a:ext cx="1645920" cy="8229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cuadrados oscuros de 62x62 píxeles</a:t>
            </a:r>
            <a:endParaRPr b="0" i="0" sz="1400" u="none" cap="none" strike="noStrike">
              <a:solidFill>
                <a:schemeClr val="dk1"/>
              </a:solidFill>
              <a:latin typeface="Times New Roman"/>
              <a:ea typeface="Times New Roman"/>
              <a:cs typeface="Times New Roman"/>
              <a:sym typeface="Times New Roman"/>
            </a:endParaRPr>
          </a:p>
        </p:txBody>
      </p:sp>
      <p:sp>
        <p:nvSpPr>
          <p:cNvPr id="172" name="Google Shape;172;p10"/>
          <p:cNvSpPr/>
          <p:nvPr/>
        </p:nvSpPr>
        <p:spPr>
          <a:xfrm>
            <a:off x="9784080" y="3657600"/>
            <a:ext cx="1920240" cy="201168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0"/>
          <p:cNvSpPr txBox="1"/>
          <p:nvPr/>
        </p:nvSpPr>
        <p:spPr>
          <a:xfrm>
            <a:off x="9784080" y="3886200"/>
            <a:ext cx="192024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29,3%</a:t>
            </a:r>
            <a:endParaRPr b="0" i="0" sz="3200" u="none" cap="none" strike="noStrike">
              <a:solidFill>
                <a:schemeClr val="dk1"/>
              </a:solidFill>
              <a:latin typeface="Times New Roman"/>
              <a:ea typeface="Times New Roman"/>
              <a:cs typeface="Times New Roman"/>
              <a:sym typeface="Times New Roman"/>
            </a:endParaRPr>
          </a:p>
        </p:txBody>
      </p:sp>
      <p:sp>
        <p:nvSpPr>
          <p:cNvPr id="174" name="Google Shape;174;p10"/>
          <p:cNvSpPr txBox="1"/>
          <p:nvPr/>
        </p:nvSpPr>
        <p:spPr>
          <a:xfrm>
            <a:off x="9921240" y="4709160"/>
            <a:ext cx="1645920" cy="8229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de los píxeles son oscuros</a:t>
            </a:r>
            <a:endParaRPr b="0" i="0" sz="1400" u="none" cap="none" strike="noStrike">
              <a:solidFill>
                <a:schemeClr val="dk1"/>
              </a:solidFill>
              <a:latin typeface="Times New Roman"/>
              <a:ea typeface="Times New Roman"/>
              <a:cs typeface="Times New Roman"/>
              <a:sym typeface="Times New Roman"/>
            </a:endParaRPr>
          </a:p>
        </p:txBody>
      </p:sp>
      <p:sp>
        <p:nvSpPr>
          <p:cNvPr id="175" name="Google Shape;175;p10"/>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1"/>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Ventana deslizante con borde replicado</a:t>
            </a:r>
            <a:endParaRPr sz="3400"/>
          </a:p>
        </p:txBody>
      </p:sp>
      <p:pic>
        <p:nvPicPr>
          <p:cNvPr descr="Ventana de 21x21 antes y después de ecualizar" id="182" name="Google Shape;182;p11"/>
          <p:cNvPicPr preferRelativeResize="0"/>
          <p:nvPr/>
        </p:nvPicPr>
        <p:blipFill rotWithShape="1">
          <a:blip r:embed="rId3">
            <a:alphaModFix/>
          </a:blip>
          <a:srcRect b="0" l="0" r="0" t="0"/>
          <a:stretch/>
        </p:blipFill>
        <p:spPr>
          <a:xfrm>
            <a:off x="548640" y="1483941"/>
            <a:ext cx="6766560" cy="2609959"/>
          </a:xfrm>
          <a:prstGeom prst="rect">
            <a:avLst/>
          </a:prstGeom>
          <a:noFill/>
          <a:ln>
            <a:noFill/>
          </a:ln>
        </p:spPr>
      </p:pic>
      <p:sp>
        <p:nvSpPr>
          <p:cNvPr id="183" name="Google Shape;183;p11"/>
          <p:cNvSpPr/>
          <p:nvPr/>
        </p:nvSpPr>
        <p:spPr>
          <a:xfrm>
            <a:off x="548640" y="1483941"/>
            <a:ext cx="6766560" cy="2609959"/>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1"/>
          <p:cNvSpPr txBox="1"/>
          <p:nvPr/>
        </p:nvSpPr>
        <p:spPr>
          <a:xfrm>
            <a:off x="548640" y="4185339"/>
            <a:ext cx="67665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Times New Roman"/>
              <a:buNone/>
            </a:pPr>
            <a:r>
              <a:rPr b="1" i="0" lang="en-US" sz="1200" u="none" cap="none" strike="noStrike">
                <a:solidFill>
                  <a:schemeClr val="dk1"/>
                </a:solidFill>
                <a:latin typeface="Times New Roman"/>
                <a:ea typeface="Times New Roman"/>
                <a:cs typeface="Times New Roman"/>
                <a:sym typeface="Times New Roman"/>
              </a:rPr>
              <a:t>Figura 4. </a:t>
            </a:r>
            <a:r>
              <a:rPr b="0" i="0" lang="en-US" sz="1200" u="none" cap="none" strike="noStrike">
                <a:solidFill>
                  <a:schemeClr val="dk1"/>
                </a:solidFill>
                <a:latin typeface="Times New Roman"/>
                <a:ea typeface="Times New Roman"/>
                <a:cs typeface="Times New Roman"/>
                <a:sym typeface="Times New Roman"/>
              </a:rPr>
              <a:t>Ventana de 21x21 centrada en (212, 207): el píxel central pasa de 10 a 247.</a:t>
            </a:r>
            <a:endParaRPr b="0" i="0" sz="1200" u="none" cap="none" strike="noStrike">
              <a:solidFill>
                <a:schemeClr val="dk1"/>
              </a:solidFill>
              <a:latin typeface="Times New Roman"/>
              <a:ea typeface="Times New Roman"/>
              <a:cs typeface="Times New Roman"/>
              <a:sym typeface="Times New Roman"/>
            </a:endParaRPr>
          </a:p>
        </p:txBody>
      </p:sp>
      <p:sp>
        <p:nvSpPr>
          <p:cNvPr id="185" name="Google Shape;185;p11"/>
          <p:cNvSpPr/>
          <p:nvPr/>
        </p:nvSpPr>
        <p:spPr>
          <a:xfrm>
            <a:off x="548640" y="4754880"/>
            <a:ext cx="6766560" cy="1371600"/>
          </a:xfrm>
          <a:prstGeom prst="rect">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txBox="1"/>
          <p:nvPr/>
        </p:nvSpPr>
        <p:spPr>
          <a:xfrm>
            <a:off x="731520" y="4846320"/>
            <a:ext cx="64008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cv2.copyMakeBorder(img, 10, 10, 10, 10,</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                   cv2.BORDER_REPLICATE)</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cv2.equalizeHist(ventana)</a:t>
            </a:r>
            <a:endParaRPr b="0" i="0" sz="1400" u="none" cap="none" strike="noStrike">
              <a:solidFill>
                <a:schemeClr val="dk1"/>
              </a:solidFill>
              <a:latin typeface="Times New Roman"/>
              <a:ea typeface="Times New Roman"/>
              <a:cs typeface="Times New Roman"/>
              <a:sym typeface="Times New Roman"/>
            </a:endParaRPr>
          </a:p>
        </p:txBody>
      </p:sp>
      <p:sp>
        <p:nvSpPr>
          <p:cNvPr id="187" name="Google Shape;187;p11"/>
          <p:cNvSpPr/>
          <p:nvPr/>
        </p:nvSpPr>
        <p:spPr>
          <a:xfrm>
            <a:off x="7772400" y="1508760"/>
            <a:ext cx="457200" cy="4572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txBox="1"/>
          <p:nvPr/>
        </p:nvSpPr>
        <p:spPr>
          <a:xfrm>
            <a:off x="7772400" y="15087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1</a:t>
            </a:r>
            <a:endParaRPr b="0" i="0" sz="1600" u="none" cap="none" strike="noStrike">
              <a:solidFill>
                <a:schemeClr val="dk1"/>
              </a:solidFill>
              <a:latin typeface="Times New Roman"/>
              <a:ea typeface="Times New Roman"/>
              <a:cs typeface="Times New Roman"/>
              <a:sym typeface="Times New Roman"/>
            </a:endParaRPr>
          </a:p>
        </p:txBody>
      </p:sp>
      <p:sp>
        <p:nvSpPr>
          <p:cNvPr id="189" name="Google Shape;189;p11"/>
          <p:cNvSpPr txBox="1"/>
          <p:nvPr/>
        </p:nvSpPr>
        <p:spPr>
          <a:xfrm>
            <a:off x="8412480" y="1463040"/>
            <a:ext cx="32004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Agregamos 10 píxeles por lado</a:t>
            </a:r>
            <a:endParaRPr b="0" i="0" sz="16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La imagen pasa de 256x256 a 276x276. Replicar el borde no agrega niveles de gris nuevos.</a:t>
            </a:r>
            <a:endParaRPr b="0" i="0" sz="1600" u="none" cap="none" strike="noStrike">
              <a:solidFill>
                <a:schemeClr val="dk1"/>
              </a:solidFill>
              <a:latin typeface="Times New Roman"/>
              <a:ea typeface="Times New Roman"/>
              <a:cs typeface="Times New Roman"/>
              <a:sym typeface="Times New Roman"/>
            </a:endParaRPr>
          </a:p>
        </p:txBody>
      </p:sp>
      <p:sp>
        <p:nvSpPr>
          <p:cNvPr id="190" name="Google Shape;190;p11"/>
          <p:cNvSpPr/>
          <p:nvPr/>
        </p:nvSpPr>
        <p:spPr>
          <a:xfrm>
            <a:off x="7772400" y="2679192"/>
            <a:ext cx="457200" cy="4572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txBox="1"/>
          <p:nvPr/>
        </p:nvSpPr>
        <p:spPr>
          <a:xfrm>
            <a:off x="7772400" y="267919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2</a:t>
            </a:r>
            <a:endParaRPr b="0" i="0" sz="1600" u="none" cap="none" strike="noStrike">
              <a:solidFill>
                <a:schemeClr val="dk1"/>
              </a:solidFill>
              <a:latin typeface="Times New Roman"/>
              <a:ea typeface="Times New Roman"/>
              <a:cs typeface="Times New Roman"/>
              <a:sym typeface="Times New Roman"/>
            </a:endParaRPr>
          </a:p>
        </p:txBody>
      </p:sp>
      <p:sp>
        <p:nvSpPr>
          <p:cNvPr id="192" name="Google Shape;192;p11"/>
          <p:cNvSpPr txBox="1"/>
          <p:nvPr/>
        </p:nvSpPr>
        <p:spPr>
          <a:xfrm>
            <a:off x="8412480" y="2633472"/>
            <a:ext cx="32004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Ventana MxN centrada en cada píxel</a:t>
            </a:r>
            <a:endParaRPr b="0" i="0" sz="16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M y N son impares, así existe un píxel central.</a:t>
            </a:r>
            <a:endParaRPr b="0" i="0" sz="1600" u="none" cap="none" strike="noStrike">
              <a:solidFill>
                <a:schemeClr val="dk1"/>
              </a:solidFill>
              <a:latin typeface="Times New Roman"/>
              <a:ea typeface="Times New Roman"/>
              <a:cs typeface="Times New Roman"/>
              <a:sym typeface="Times New Roman"/>
            </a:endParaRPr>
          </a:p>
        </p:txBody>
      </p:sp>
      <p:sp>
        <p:nvSpPr>
          <p:cNvPr id="193" name="Google Shape;193;p11"/>
          <p:cNvSpPr/>
          <p:nvPr/>
        </p:nvSpPr>
        <p:spPr>
          <a:xfrm>
            <a:off x="7772400" y="3849624"/>
            <a:ext cx="457200" cy="4572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1"/>
          <p:cNvSpPr txBox="1"/>
          <p:nvPr/>
        </p:nvSpPr>
        <p:spPr>
          <a:xfrm>
            <a:off x="7772400" y="384962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3</a:t>
            </a:r>
            <a:endParaRPr b="0" i="0" sz="1600" u="none" cap="none" strike="noStrike">
              <a:solidFill>
                <a:schemeClr val="dk1"/>
              </a:solidFill>
              <a:latin typeface="Times New Roman"/>
              <a:ea typeface="Times New Roman"/>
              <a:cs typeface="Times New Roman"/>
              <a:sym typeface="Times New Roman"/>
            </a:endParaRPr>
          </a:p>
        </p:txBody>
      </p:sp>
      <p:sp>
        <p:nvSpPr>
          <p:cNvPr id="195" name="Google Shape;195;p11"/>
          <p:cNvSpPr txBox="1"/>
          <p:nvPr/>
        </p:nvSpPr>
        <p:spPr>
          <a:xfrm>
            <a:off x="8412480" y="3803904"/>
            <a:ext cx="32004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Ecualizamos solo la ventana</a:t>
            </a:r>
            <a:endParaRPr b="0" i="0" sz="16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El resultado se guarda únicamente en el píxel central.</a:t>
            </a:r>
            <a:endParaRPr b="0" i="0" sz="1600" u="none" cap="none" strike="noStrike">
              <a:solidFill>
                <a:schemeClr val="dk1"/>
              </a:solidFill>
              <a:latin typeface="Times New Roman"/>
              <a:ea typeface="Times New Roman"/>
              <a:cs typeface="Times New Roman"/>
              <a:sym typeface="Times New Roman"/>
            </a:endParaRPr>
          </a:p>
        </p:txBody>
      </p:sp>
      <p:sp>
        <p:nvSpPr>
          <p:cNvPr id="196" name="Google Shape;196;p11"/>
          <p:cNvSpPr/>
          <p:nvPr/>
        </p:nvSpPr>
        <p:spPr>
          <a:xfrm>
            <a:off x="7772400" y="5020056"/>
            <a:ext cx="457200" cy="4572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txBox="1"/>
          <p:nvPr/>
        </p:nvSpPr>
        <p:spPr>
          <a:xfrm>
            <a:off x="7772400" y="5020056"/>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4</a:t>
            </a:r>
            <a:endParaRPr b="0" i="0" sz="1600" u="none" cap="none" strike="noStrike">
              <a:solidFill>
                <a:schemeClr val="dk1"/>
              </a:solidFill>
              <a:latin typeface="Times New Roman"/>
              <a:ea typeface="Times New Roman"/>
              <a:cs typeface="Times New Roman"/>
              <a:sym typeface="Times New Roman"/>
            </a:endParaRPr>
          </a:p>
        </p:txBody>
      </p:sp>
      <p:sp>
        <p:nvSpPr>
          <p:cNvPr id="198" name="Google Shape;198;p11"/>
          <p:cNvSpPr txBox="1"/>
          <p:nvPr/>
        </p:nvSpPr>
        <p:spPr>
          <a:xfrm>
            <a:off x="8412480" y="4974336"/>
            <a:ext cx="32004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Repetimos en toda la imagen</a:t>
            </a:r>
            <a:endParaRPr b="0" i="0" sz="16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65.536 llamadas para una imagen de 256x256.</a:t>
            </a:r>
            <a:endParaRPr b="0" i="0" sz="1600" u="none" cap="none" strike="noStrike">
              <a:solidFill>
                <a:schemeClr val="dk1"/>
              </a:solidFill>
              <a:latin typeface="Times New Roman"/>
              <a:ea typeface="Times New Roman"/>
              <a:cs typeface="Times New Roman"/>
              <a:sym typeface="Times New Roman"/>
            </a:endParaRPr>
          </a:p>
        </p:txBody>
      </p:sp>
      <p:sp>
        <p:nvSpPr>
          <p:cNvPr id="199" name="Google Shape;199;p11"/>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2"/>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Tipos de borde de OpenCV</a:t>
            </a:r>
            <a:endParaRPr sz="3400"/>
          </a:p>
        </p:txBody>
      </p:sp>
      <p:graphicFrame>
        <p:nvGraphicFramePr>
          <p:cNvPr id="206" name="Google Shape;206;p12"/>
          <p:cNvGraphicFramePr/>
          <p:nvPr/>
        </p:nvGraphicFramePr>
        <p:xfrm>
          <a:off x="548640" y="1463040"/>
          <a:ext cx="3000000" cy="3000000"/>
        </p:xfrm>
        <a:graphic>
          <a:graphicData uri="http://schemas.openxmlformats.org/drawingml/2006/table">
            <a:tbl>
              <a:tblPr>
                <a:noFill/>
                <a:tableStyleId>{E8F1A2DE-F75D-4E95-B11A-8404A869D89C}</a:tableStyleId>
              </a:tblPr>
              <a:tblGrid>
                <a:gridCol w="2834650"/>
                <a:gridCol w="3840475"/>
              </a:tblGrid>
              <a:tr h="640075">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Tipo</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Resultado en una fila</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r>
              <a:tr h="640075">
                <a:tc>
                  <a:txBody>
                    <a:bodyPr/>
                    <a:lstStyle/>
                    <a:p>
                      <a:pPr indent="0" lvl="0" marL="0" marR="0" rtl="0" algn="l">
                        <a:spcBef>
                          <a:spcPts val="0"/>
                        </a:spcBef>
                        <a:spcAft>
                          <a:spcPts val="0"/>
                        </a:spcAft>
                        <a:buClr>
                          <a:schemeClr val="accent6"/>
                        </a:buClr>
                        <a:buSzPts val="1400"/>
                        <a:buFont typeface="Courier New"/>
                        <a:buNone/>
                      </a:pPr>
                      <a:r>
                        <a:rPr b="1" lang="en-US" sz="1400" u="none" cap="none" strike="noStrike">
                          <a:solidFill>
                            <a:schemeClr val="accent6"/>
                          </a:solidFill>
                          <a:latin typeface="Courier New"/>
                          <a:ea typeface="Courier New"/>
                          <a:cs typeface="Courier New"/>
                          <a:sym typeface="Courier New"/>
                        </a:rPr>
                        <a:t>BORDER_REPLICATE</a:t>
                      </a:r>
                      <a:endParaRPr sz="1400" u="none" cap="none" strike="noStrike">
                        <a:latin typeface="Courier New"/>
                        <a:ea typeface="Courier New"/>
                        <a:cs typeface="Courier New"/>
                        <a:sym typeface="Courier New"/>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c>
                  <a:txBody>
                    <a:bodyPr/>
                    <a:lstStyle/>
                    <a:p>
                      <a:pPr indent="0" lvl="0" marL="0" marR="0" rtl="0" algn="l">
                        <a:spcBef>
                          <a:spcPts val="0"/>
                        </a:spcBef>
                        <a:spcAft>
                          <a:spcPts val="0"/>
                        </a:spcAft>
                        <a:buClr>
                          <a:schemeClr val="accent6"/>
                        </a:buClr>
                        <a:buSzPts val="1400"/>
                        <a:buFont typeface="Courier New"/>
                        <a:buNone/>
                      </a:pPr>
                      <a:r>
                        <a:rPr b="1" lang="en-US" sz="1400" u="none" cap="none" strike="noStrike">
                          <a:solidFill>
                            <a:schemeClr val="accent6"/>
                          </a:solidFill>
                          <a:latin typeface="Courier New"/>
                          <a:ea typeface="Courier New"/>
                          <a:cs typeface="Courier New"/>
                          <a:sym typeface="Courier New"/>
                        </a:rPr>
                        <a:t>aaaaaa|abcdefgh|hhhhhhh</a:t>
                      </a:r>
                      <a:endParaRPr sz="1400" u="none" cap="none" strike="noStrike">
                        <a:latin typeface="Courier New"/>
                        <a:ea typeface="Courier New"/>
                        <a:cs typeface="Courier New"/>
                        <a:sym typeface="Courier New"/>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r>
              <a:tr h="640075">
                <a:tc>
                  <a:txBody>
                    <a:bodyPr/>
                    <a:lstStyle/>
                    <a:p>
                      <a:pPr indent="0" lvl="0" marL="0" marR="0" rtl="0" algn="l">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BORDER_REFLECT</a:t>
                      </a:r>
                      <a:endParaRPr sz="1400" u="none" cap="none" strike="noStrike">
                        <a:latin typeface="Courier New"/>
                        <a:ea typeface="Courier New"/>
                        <a:cs typeface="Courier New"/>
                        <a:sym typeface="Courier New"/>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fedcba|abcdefgh|hgfedcb</a:t>
                      </a:r>
                      <a:endParaRPr sz="1400" u="none" cap="none" strike="noStrike">
                        <a:latin typeface="Courier New"/>
                        <a:ea typeface="Courier New"/>
                        <a:cs typeface="Courier New"/>
                        <a:sym typeface="Courier New"/>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40075">
                <a:tc>
                  <a:txBody>
                    <a:bodyPr/>
                    <a:lstStyle/>
                    <a:p>
                      <a:pPr indent="0" lvl="0" marL="0" marR="0" rtl="0" algn="l">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BORDER_REFLECT_101</a:t>
                      </a:r>
                      <a:endParaRPr sz="1400" u="none" cap="none" strike="noStrike">
                        <a:latin typeface="Courier New"/>
                        <a:ea typeface="Courier New"/>
                        <a:cs typeface="Courier New"/>
                        <a:sym typeface="Courier New"/>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gfedcb|abcdefgh|gfedcba</a:t>
                      </a:r>
                      <a:endParaRPr sz="1400" u="none" cap="none" strike="noStrike">
                        <a:latin typeface="Courier New"/>
                        <a:ea typeface="Courier New"/>
                        <a:cs typeface="Courier New"/>
                        <a:sym typeface="Courier New"/>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40075">
                <a:tc>
                  <a:txBody>
                    <a:bodyPr/>
                    <a:lstStyle/>
                    <a:p>
                      <a:pPr indent="0" lvl="0" marL="0" marR="0" rtl="0" algn="l">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BORDER_WRAP</a:t>
                      </a:r>
                      <a:endParaRPr sz="1400" u="none" cap="none" strike="noStrike">
                        <a:latin typeface="Courier New"/>
                        <a:ea typeface="Courier New"/>
                        <a:cs typeface="Courier New"/>
                        <a:sym typeface="Courier New"/>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cdefgh|abcdefgh|abcdefg</a:t>
                      </a:r>
                      <a:endParaRPr sz="1400" u="none" cap="none" strike="noStrike">
                        <a:latin typeface="Courier New"/>
                        <a:ea typeface="Courier New"/>
                        <a:cs typeface="Courier New"/>
                        <a:sym typeface="Courier New"/>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40075">
                <a:tc>
                  <a:txBody>
                    <a:bodyPr/>
                    <a:lstStyle/>
                    <a:p>
                      <a:pPr indent="0" lvl="0" marL="0" marR="0" rtl="0" algn="l">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BORDER_CONSTANT</a:t>
                      </a:r>
                      <a:endParaRPr sz="1400" u="none" cap="none" strike="noStrike">
                        <a:latin typeface="Courier New"/>
                        <a:ea typeface="Courier New"/>
                        <a:cs typeface="Courier New"/>
                        <a:sym typeface="Courier New"/>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4"/>
                    </a:solidFill>
                  </a:tcPr>
                </a:tc>
                <a:tc>
                  <a:txBody>
                    <a:bodyPr/>
                    <a:lstStyle/>
                    <a:p>
                      <a:pPr indent="0" lvl="0" marL="0" marR="0" rtl="0" algn="l">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iiiiii|abcdefgh|iiiiiii</a:t>
                      </a:r>
                      <a:endParaRPr sz="1400" u="none" cap="none" strike="noStrike">
                        <a:latin typeface="Courier New"/>
                        <a:ea typeface="Courier New"/>
                        <a:cs typeface="Courier New"/>
                        <a:sym typeface="Courier New"/>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4"/>
                    </a:solidFill>
                  </a:tcPr>
                </a:tc>
              </a:tr>
            </a:tbl>
          </a:graphicData>
        </a:graphic>
      </p:graphicFrame>
      <p:sp>
        <p:nvSpPr>
          <p:cNvPr id="207" name="Google Shape;207;p12"/>
          <p:cNvSpPr txBox="1"/>
          <p:nvPr/>
        </p:nvSpPr>
        <p:spPr>
          <a:xfrm>
            <a:off x="7680960" y="1463040"/>
            <a:ext cx="3931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Elegimos BORDER_REPLICATE</a:t>
            </a:r>
            <a:endParaRPr b="0" i="0" sz="1800" u="none" cap="none" strike="noStrike">
              <a:solidFill>
                <a:schemeClr val="dk1"/>
              </a:solidFill>
              <a:latin typeface="Times New Roman"/>
              <a:ea typeface="Times New Roman"/>
              <a:cs typeface="Times New Roman"/>
              <a:sym typeface="Times New Roman"/>
            </a:endParaRPr>
          </a:p>
        </p:txBody>
      </p:sp>
      <p:sp>
        <p:nvSpPr>
          <p:cNvPr id="208" name="Google Shape;208;p12"/>
          <p:cNvSpPr txBox="1"/>
          <p:nvPr/>
        </p:nvSpPr>
        <p:spPr>
          <a:xfrm>
            <a:off x="7680960" y="1965960"/>
            <a:ext cx="393192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Copia el valor del borde y no agrega intensidades que la imagen no tiene.</a:t>
            </a:r>
            <a:endParaRPr b="0" i="0" sz="1600" u="none" cap="none" strike="noStrike">
              <a:solidFill>
                <a:schemeClr val="dk1"/>
              </a:solidFill>
              <a:latin typeface="Times New Roman"/>
              <a:ea typeface="Times New Roman"/>
              <a:cs typeface="Times New Roman"/>
              <a:sym typeface="Times New Roman"/>
            </a:endParaRPr>
          </a:p>
        </p:txBody>
      </p:sp>
      <p:sp>
        <p:nvSpPr>
          <p:cNvPr id="209" name="Google Shape;209;p12"/>
          <p:cNvSpPr txBox="1"/>
          <p:nvPr/>
        </p:nvSpPr>
        <p:spPr>
          <a:xfrm>
            <a:off x="7680960" y="3291840"/>
            <a:ext cx="3931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Rellenar con ceros</a:t>
            </a:r>
            <a:endParaRPr b="0" i="0" sz="1800" u="none" cap="none" strike="noStrike">
              <a:solidFill>
                <a:schemeClr val="dk1"/>
              </a:solidFill>
              <a:latin typeface="Times New Roman"/>
              <a:ea typeface="Times New Roman"/>
              <a:cs typeface="Times New Roman"/>
              <a:sym typeface="Times New Roman"/>
            </a:endParaRPr>
          </a:p>
        </p:txBody>
      </p:sp>
      <p:sp>
        <p:nvSpPr>
          <p:cNvPr id="210" name="Google Shape;210;p12"/>
          <p:cNvSpPr txBox="1"/>
          <p:nvPr/>
        </p:nvSpPr>
        <p:spPr>
          <a:xfrm>
            <a:off x="7680960" y="3794760"/>
            <a:ext cx="393192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BORDER_CONSTANT metería píxeles negros artificiales en el histograma de las ventanas del borde y alteraría la ecualización.</a:t>
            </a:r>
            <a:endParaRPr b="0" i="0" sz="1600" u="none" cap="none" strike="noStrike">
              <a:solidFill>
                <a:schemeClr val="dk1"/>
              </a:solidFill>
              <a:latin typeface="Times New Roman"/>
              <a:ea typeface="Times New Roman"/>
              <a:cs typeface="Times New Roman"/>
              <a:sym typeface="Times New Roman"/>
            </a:endParaRPr>
          </a:p>
        </p:txBody>
      </p:sp>
      <p:sp>
        <p:nvSpPr>
          <p:cNvPr id="211" name="Google Shape;211;p12"/>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3"/>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La función ecualizacion_local</a:t>
            </a:r>
            <a:endParaRPr sz="3400"/>
          </a:p>
        </p:txBody>
      </p:sp>
      <p:sp>
        <p:nvSpPr>
          <p:cNvPr id="218" name="Google Shape;218;p13"/>
          <p:cNvSpPr/>
          <p:nvPr/>
        </p:nvSpPr>
        <p:spPr>
          <a:xfrm>
            <a:off x="548640" y="1371600"/>
            <a:ext cx="6309360" cy="4663440"/>
          </a:xfrm>
          <a:prstGeom prst="rect">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3"/>
          <p:cNvSpPr txBox="1"/>
          <p:nvPr/>
        </p:nvSpPr>
        <p:spPr>
          <a:xfrm>
            <a:off x="731520" y="1463040"/>
            <a:ext cx="5943600" cy="4480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def ecualizacion_local(img, M, N):</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    m, n = M // 2, N // 2</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    img_borde = cv2.copyMakeBorder(</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        img, m, m, n, n,</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        cv2.BORDER_REPLICATE)</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    y = np.zeros_like(img)</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    for i in range(img.shape[0]):</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      for j in range(img.shape[1]):</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        v = img_borde[i:i + M, j:j + N]</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        v_eq = cv2.equalizeHist(v)</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        y[i, j] = v_eq[m, n]</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    return y</a:t>
            </a:r>
            <a:endParaRPr b="0" i="0" sz="1400" u="none" cap="none" strike="noStrike">
              <a:solidFill>
                <a:schemeClr val="dk1"/>
              </a:solidFill>
              <a:latin typeface="Times New Roman"/>
              <a:ea typeface="Times New Roman"/>
              <a:cs typeface="Times New Roman"/>
              <a:sym typeface="Times New Roman"/>
            </a:endParaRPr>
          </a:p>
        </p:txBody>
      </p:sp>
      <p:sp>
        <p:nvSpPr>
          <p:cNvPr id="220" name="Google Shape;220;p13"/>
          <p:cNvSpPr txBox="1"/>
          <p:nvPr/>
        </p:nvSpPr>
        <p:spPr>
          <a:xfrm>
            <a:off x="7223760" y="1371600"/>
            <a:ext cx="43891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1" i="0" lang="en-US" sz="1400" u="none" cap="none" strike="noStrike">
                <a:solidFill>
                  <a:schemeClr val="dk1"/>
                </a:solidFill>
                <a:latin typeface="Courier New"/>
                <a:ea typeface="Courier New"/>
                <a:cs typeface="Courier New"/>
                <a:sym typeface="Courier New"/>
              </a:rPr>
              <a:t>Validación</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40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M y N deben ser enteros positivos e impares (acepta np.int64); si no, lanza ValueError.</a:t>
            </a:r>
            <a:endParaRPr b="0" i="0" sz="1400" u="none" cap="none" strike="noStrike">
              <a:solidFill>
                <a:schemeClr val="dk1"/>
              </a:solidFill>
              <a:latin typeface="Times New Roman"/>
              <a:ea typeface="Times New Roman"/>
              <a:cs typeface="Times New Roman"/>
              <a:sym typeface="Times New Roman"/>
            </a:endParaRPr>
          </a:p>
        </p:txBody>
      </p:sp>
      <p:sp>
        <p:nvSpPr>
          <p:cNvPr id="221" name="Google Shape;221;p13"/>
          <p:cNvSpPr txBox="1"/>
          <p:nvPr/>
        </p:nvSpPr>
        <p:spPr>
          <a:xfrm>
            <a:off x="7223760" y="2560320"/>
            <a:ext cx="43891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1" i="0" lang="en-US" sz="1400" u="none" cap="none" strike="noStrike">
                <a:solidFill>
                  <a:schemeClr val="dk1"/>
                </a:solidFill>
                <a:latin typeface="Courier New"/>
                <a:ea typeface="Courier New"/>
                <a:cs typeface="Courier New"/>
                <a:sym typeface="Courier New"/>
              </a:rPr>
              <a:t>m, n = M // 2, N // 2</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40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Filas y columnas que se agregan. M es el alto y N el ancho: también sirve para ventanas rectangulares.</a:t>
            </a:r>
            <a:endParaRPr b="0" i="0" sz="1400" u="none" cap="none" strike="noStrike">
              <a:solidFill>
                <a:schemeClr val="dk1"/>
              </a:solidFill>
              <a:latin typeface="Times New Roman"/>
              <a:ea typeface="Times New Roman"/>
              <a:cs typeface="Times New Roman"/>
              <a:sym typeface="Times New Roman"/>
            </a:endParaRPr>
          </a:p>
        </p:txBody>
      </p:sp>
      <p:sp>
        <p:nvSpPr>
          <p:cNvPr id="222" name="Google Shape;222;p13"/>
          <p:cNvSpPr txBox="1"/>
          <p:nvPr/>
        </p:nvSpPr>
        <p:spPr>
          <a:xfrm>
            <a:off x="7223760" y="3749040"/>
            <a:ext cx="43891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1" i="0" lang="en-US" sz="1400" u="none" cap="none" strike="noStrike">
                <a:solidFill>
                  <a:schemeClr val="dk1"/>
                </a:solidFill>
                <a:latin typeface="Courier New"/>
                <a:ea typeface="Courier New"/>
                <a:cs typeface="Courier New"/>
                <a:sym typeface="Courier New"/>
              </a:rPr>
              <a:t>img_borde[i:i + M, j:j + N]</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40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Es la ventana centrada en (i, j): el píxel (i, j) queda en (i + m, j + n) de la imagen con borde.</a:t>
            </a:r>
            <a:endParaRPr b="0" i="0" sz="1400" u="none" cap="none" strike="noStrike">
              <a:solidFill>
                <a:schemeClr val="dk1"/>
              </a:solidFill>
              <a:latin typeface="Times New Roman"/>
              <a:ea typeface="Times New Roman"/>
              <a:cs typeface="Times New Roman"/>
              <a:sym typeface="Times New Roman"/>
            </a:endParaRPr>
          </a:p>
        </p:txBody>
      </p:sp>
      <p:sp>
        <p:nvSpPr>
          <p:cNvPr id="223" name="Google Shape;223;p13"/>
          <p:cNvSpPr txBox="1"/>
          <p:nvPr/>
        </p:nvSpPr>
        <p:spPr>
          <a:xfrm>
            <a:off x="7223760" y="4937760"/>
            <a:ext cx="43891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1" i="0" lang="en-US" sz="1400" u="none" cap="none" strike="noStrike">
                <a:solidFill>
                  <a:schemeClr val="dk1"/>
                </a:solidFill>
                <a:latin typeface="Courier New"/>
                <a:ea typeface="Courier New"/>
                <a:cs typeface="Courier New"/>
                <a:sym typeface="Courier New"/>
              </a:rPr>
              <a:t>v_eq[m, n]</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40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De la ventana ecualizada solo se guarda el píxel central.</a:t>
            </a:r>
            <a:endParaRPr b="0" i="0" sz="1400" u="none" cap="none" strike="noStrike">
              <a:solidFill>
                <a:schemeClr val="dk1"/>
              </a:solidFill>
              <a:latin typeface="Times New Roman"/>
              <a:ea typeface="Times New Roman"/>
              <a:cs typeface="Times New Roman"/>
              <a:sym typeface="Times New Roman"/>
            </a:endParaRPr>
          </a:p>
        </p:txBody>
      </p:sp>
      <p:sp>
        <p:nvSpPr>
          <p:cNvPr id="224" name="Google Shape;224;p13"/>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4"/>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Ecualización global frente a local</a:t>
            </a:r>
            <a:endParaRPr sz="3400"/>
          </a:p>
        </p:txBody>
      </p:sp>
      <p:pic>
        <p:nvPicPr>
          <p:cNvPr descr="Imagen original, ecualización global y ecualización local de 21x21" id="231" name="Google Shape;231;p14"/>
          <p:cNvPicPr preferRelativeResize="0"/>
          <p:nvPr/>
        </p:nvPicPr>
        <p:blipFill rotWithShape="1">
          <a:blip r:embed="rId3">
            <a:alphaModFix/>
          </a:blip>
          <a:srcRect b="0" l="0" r="0" t="0"/>
          <a:stretch/>
        </p:blipFill>
        <p:spPr>
          <a:xfrm>
            <a:off x="858145" y="1371600"/>
            <a:ext cx="10445231" cy="3931920"/>
          </a:xfrm>
          <a:prstGeom prst="rect">
            <a:avLst/>
          </a:prstGeom>
          <a:noFill/>
          <a:ln>
            <a:noFill/>
          </a:ln>
        </p:spPr>
      </p:pic>
      <p:sp>
        <p:nvSpPr>
          <p:cNvPr id="232" name="Google Shape;232;p14"/>
          <p:cNvSpPr/>
          <p:nvPr/>
        </p:nvSpPr>
        <p:spPr>
          <a:xfrm>
            <a:off x="858145" y="1371600"/>
            <a:ext cx="10445231" cy="393192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4"/>
          <p:cNvSpPr txBox="1"/>
          <p:nvPr/>
        </p:nvSpPr>
        <p:spPr>
          <a:xfrm>
            <a:off x="822960" y="5440680"/>
            <a:ext cx="10515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Times New Roman"/>
              <a:buNone/>
            </a:pPr>
            <a:r>
              <a:rPr b="1" i="0" lang="en-US" sz="1200" u="none" cap="none" strike="noStrike">
                <a:solidFill>
                  <a:schemeClr val="dk1"/>
                </a:solidFill>
                <a:latin typeface="Times New Roman"/>
                <a:ea typeface="Times New Roman"/>
                <a:cs typeface="Times New Roman"/>
                <a:sym typeface="Times New Roman"/>
              </a:rPr>
              <a:t>Figura 5. </a:t>
            </a:r>
            <a:r>
              <a:rPr b="0" i="0" lang="en-US" sz="1200" u="none" cap="none" strike="noStrike">
                <a:solidFill>
                  <a:schemeClr val="dk1"/>
                </a:solidFill>
                <a:latin typeface="Times New Roman"/>
                <a:ea typeface="Times New Roman"/>
                <a:cs typeface="Times New Roman"/>
                <a:sym typeface="Times New Roman"/>
              </a:rPr>
              <a:t>Original, ecualización global y ecualización local con ventana de 21x21. La global deja los cuadrados casi igual y agrega puntos negros sueltos; la local muestra un objeto claro dentro de cada cuadrado.</a:t>
            </a:r>
            <a:endParaRPr b="0" i="0" sz="1200" u="none" cap="none" strike="noStrike">
              <a:solidFill>
                <a:schemeClr val="dk1"/>
              </a:solidFill>
              <a:latin typeface="Times New Roman"/>
              <a:ea typeface="Times New Roman"/>
              <a:cs typeface="Times New Roman"/>
              <a:sym typeface="Times New Roman"/>
            </a:endParaRPr>
          </a:p>
        </p:txBody>
      </p:sp>
      <p:sp>
        <p:nvSpPr>
          <p:cNvPr id="234" name="Google Shape;234;p14"/>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5"/>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Los cinco detalles ocultos</a:t>
            </a:r>
            <a:endParaRPr sz="3400"/>
          </a:p>
        </p:txBody>
      </p:sp>
      <p:pic>
        <p:nvPicPr>
          <p:cNvPr descr="Cada zona antes y después de la ecualización local de 21x21" id="241" name="Google Shape;241;p15"/>
          <p:cNvPicPr preferRelativeResize="0"/>
          <p:nvPr/>
        </p:nvPicPr>
        <p:blipFill rotWithShape="1">
          <a:blip r:embed="rId3">
            <a:alphaModFix/>
          </a:blip>
          <a:srcRect b="0" l="0" r="0" t="0"/>
          <a:stretch/>
        </p:blipFill>
        <p:spPr>
          <a:xfrm>
            <a:off x="548640" y="1485081"/>
            <a:ext cx="6675120" cy="3064878"/>
          </a:xfrm>
          <a:prstGeom prst="rect">
            <a:avLst/>
          </a:prstGeom>
          <a:noFill/>
          <a:ln>
            <a:noFill/>
          </a:ln>
        </p:spPr>
      </p:pic>
      <p:sp>
        <p:nvSpPr>
          <p:cNvPr id="242" name="Google Shape;242;p15"/>
          <p:cNvSpPr/>
          <p:nvPr/>
        </p:nvSpPr>
        <p:spPr>
          <a:xfrm>
            <a:off x="548640" y="1485081"/>
            <a:ext cx="6675120" cy="3064878"/>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5"/>
          <p:cNvSpPr txBox="1"/>
          <p:nvPr/>
        </p:nvSpPr>
        <p:spPr>
          <a:xfrm>
            <a:off x="548640" y="4641399"/>
            <a:ext cx="66751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Times New Roman"/>
              <a:buNone/>
            </a:pPr>
            <a:r>
              <a:rPr b="1" i="0" lang="en-US" sz="1200" u="none" cap="none" strike="noStrike">
                <a:solidFill>
                  <a:schemeClr val="dk1"/>
                </a:solidFill>
                <a:latin typeface="Times New Roman"/>
                <a:ea typeface="Times New Roman"/>
                <a:cs typeface="Times New Roman"/>
                <a:sym typeface="Times New Roman"/>
              </a:rPr>
              <a:t>Figura 6. </a:t>
            </a:r>
            <a:r>
              <a:rPr b="0" i="0" lang="en-US" sz="1200" u="none" cap="none" strike="noStrike">
                <a:solidFill>
                  <a:schemeClr val="dk1"/>
                </a:solidFill>
                <a:latin typeface="Times New Roman"/>
                <a:ea typeface="Times New Roman"/>
                <a:cs typeface="Times New Roman"/>
                <a:sym typeface="Times New Roman"/>
              </a:rPr>
              <a:t>Cada cuadrado antes (arriba) y después (abajo) de la ecualización local de 21x21.</a:t>
            </a:r>
            <a:endParaRPr b="0" i="0" sz="1200" u="none" cap="none" strike="noStrike">
              <a:solidFill>
                <a:schemeClr val="dk1"/>
              </a:solidFill>
              <a:latin typeface="Times New Roman"/>
              <a:ea typeface="Times New Roman"/>
              <a:cs typeface="Times New Roman"/>
              <a:sym typeface="Times New Roman"/>
            </a:endParaRPr>
          </a:p>
        </p:txBody>
      </p:sp>
      <p:sp>
        <p:nvSpPr>
          <p:cNvPr id="244" name="Google Shape;244;p15"/>
          <p:cNvSpPr txBox="1"/>
          <p:nvPr/>
        </p:nvSpPr>
        <p:spPr>
          <a:xfrm>
            <a:off x="548640" y="5120640"/>
            <a:ext cx="667512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Con la ecualización global ninguno de los cinco se ve. Con ventana de 21x21 aparecen completos.</a:t>
            </a:r>
            <a:endParaRPr b="0" i="0" sz="1600" u="none" cap="none" strike="noStrike">
              <a:solidFill>
                <a:schemeClr val="dk1"/>
              </a:solidFill>
              <a:latin typeface="Times New Roman"/>
              <a:ea typeface="Times New Roman"/>
              <a:cs typeface="Times New Roman"/>
              <a:sym typeface="Times New Roman"/>
            </a:endParaRPr>
          </a:p>
        </p:txBody>
      </p:sp>
      <p:graphicFrame>
        <p:nvGraphicFramePr>
          <p:cNvPr id="245" name="Google Shape;245;p15"/>
          <p:cNvGraphicFramePr/>
          <p:nvPr/>
        </p:nvGraphicFramePr>
        <p:xfrm>
          <a:off x="7589520" y="1463040"/>
          <a:ext cx="3000000" cy="3000000"/>
        </p:xfrm>
        <a:graphic>
          <a:graphicData uri="http://schemas.openxmlformats.org/drawingml/2006/table">
            <a:tbl>
              <a:tblPr>
                <a:noFill/>
                <a:tableStyleId>{E8F1A2DE-F75D-4E95-B11A-8404A869D89C}</a:tableStyleId>
              </a:tblPr>
              <a:tblGrid>
                <a:gridCol w="1645925"/>
                <a:gridCol w="2377450"/>
              </a:tblGrid>
              <a:tr h="640075">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Zona</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Detalle oculto</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r>
              <a:tr h="640075">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Superior izquierda</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Un cuadrado pequeño</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40075">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Superior derecha</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Una línea diagonal</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40075">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Centro</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La letra “a” minúscula</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40075">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Inferior izquierda</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Cuatro líneas horizontales paralelas</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40075">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Inferior derecha</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Un círculo</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46" name="Google Shape;246;p15"/>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6"/>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El tamaño de ventana cambia lo que se ve</a:t>
            </a:r>
            <a:endParaRPr sz="3400"/>
          </a:p>
        </p:txBody>
      </p:sp>
      <p:pic>
        <p:nvPicPr>
          <p:cNvPr descr="Imagen con ventanas cuadradas de 3x3 hasta 101x101" id="253" name="Google Shape;253;p16"/>
          <p:cNvPicPr preferRelativeResize="0"/>
          <p:nvPr/>
        </p:nvPicPr>
        <p:blipFill rotWithShape="1">
          <a:blip r:embed="rId3">
            <a:alphaModFix/>
          </a:blip>
          <a:srcRect b="0" l="0" r="0" t="0"/>
          <a:stretch/>
        </p:blipFill>
        <p:spPr>
          <a:xfrm>
            <a:off x="637800" y="1325880"/>
            <a:ext cx="4302241" cy="4572000"/>
          </a:xfrm>
          <a:prstGeom prst="rect">
            <a:avLst/>
          </a:prstGeom>
          <a:noFill/>
          <a:ln>
            <a:noFill/>
          </a:ln>
        </p:spPr>
      </p:pic>
      <p:sp>
        <p:nvSpPr>
          <p:cNvPr id="254" name="Google Shape;254;p16"/>
          <p:cNvSpPr/>
          <p:nvPr/>
        </p:nvSpPr>
        <p:spPr>
          <a:xfrm>
            <a:off x="637800" y="1325880"/>
            <a:ext cx="4302241" cy="457200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6"/>
          <p:cNvSpPr txBox="1"/>
          <p:nvPr/>
        </p:nvSpPr>
        <p:spPr>
          <a:xfrm>
            <a:off x="548640" y="5971032"/>
            <a:ext cx="44805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Times New Roman"/>
              <a:buNone/>
            </a:pPr>
            <a:r>
              <a:rPr b="1" i="0" lang="en-US" sz="1200" u="none" cap="none" strike="noStrike">
                <a:solidFill>
                  <a:schemeClr val="dk1"/>
                </a:solidFill>
                <a:latin typeface="Times New Roman"/>
                <a:ea typeface="Times New Roman"/>
                <a:cs typeface="Times New Roman"/>
                <a:sym typeface="Times New Roman"/>
              </a:rPr>
              <a:t>Figura 7. </a:t>
            </a:r>
            <a:r>
              <a:rPr b="0" i="0" lang="en-US" sz="1200" u="none" cap="none" strike="noStrike">
                <a:solidFill>
                  <a:schemeClr val="dk1"/>
                </a:solidFill>
                <a:latin typeface="Times New Roman"/>
                <a:ea typeface="Times New Roman"/>
                <a:cs typeface="Times New Roman"/>
                <a:sym typeface="Times New Roman"/>
              </a:rPr>
              <a:t>Ventanas de 3x3 a 101x101.</a:t>
            </a:r>
            <a:endParaRPr b="0" i="0" sz="1200" u="none" cap="none" strike="noStrike">
              <a:solidFill>
                <a:schemeClr val="dk1"/>
              </a:solidFill>
              <a:latin typeface="Times New Roman"/>
              <a:ea typeface="Times New Roman"/>
              <a:cs typeface="Times New Roman"/>
              <a:sym typeface="Times New Roman"/>
            </a:endParaRPr>
          </a:p>
        </p:txBody>
      </p:sp>
      <p:graphicFrame>
        <p:nvGraphicFramePr>
          <p:cNvPr id="256" name="Google Shape;256;p16"/>
          <p:cNvGraphicFramePr/>
          <p:nvPr/>
        </p:nvGraphicFramePr>
        <p:xfrm>
          <a:off x="5486400" y="1463040"/>
          <a:ext cx="3000000" cy="3000000"/>
        </p:xfrm>
        <a:graphic>
          <a:graphicData uri="http://schemas.openxmlformats.org/drawingml/2006/table">
            <a:tbl>
              <a:tblPr>
                <a:noFill/>
                <a:tableStyleId>{E8F1A2DE-F75D-4E95-B11A-8404A869D89C}</a:tableStyleId>
              </a:tblPr>
              <a:tblGrid>
                <a:gridCol w="1554475"/>
                <a:gridCol w="4572000"/>
              </a:tblGrid>
              <a:tr h="457200">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Ventana</a:t>
                      </a:r>
                      <a:endParaRPr sz="1400" u="none" cap="none" strike="noStrike">
                        <a:latin typeface="Times New Roman"/>
                        <a:ea typeface="Times New Roman"/>
                        <a:cs typeface="Times New Roman"/>
                        <a:sym typeface="Times New Roman"/>
                      </a:endParaRPr>
                    </a:p>
                  </a:txBody>
                  <a:tcPr marT="54875" marB="548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Qué se ve</a:t>
                      </a:r>
                      <a:endParaRPr sz="1400" u="none" cap="none" strike="noStrike">
                        <a:latin typeface="Times New Roman"/>
                        <a:ea typeface="Times New Roman"/>
                        <a:cs typeface="Times New Roman"/>
                        <a:sym typeface="Times New Roman"/>
                      </a:endParaRPr>
                    </a:p>
                  </a:txBody>
                  <a:tcPr marT="54875" marB="548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r>
              <a:tr h="914400">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3x3 y 7x7</a:t>
                      </a:r>
                      <a:endParaRPr sz="1400" u="none" cap="none" strike="noStrike">
                        <a:latin typeface="Times New Roman"/>
                        <a:ea typeface="Times New Roman"/>
                        <a:cs typeface="Times New Roman"/>
                        <a:sym typeface="Times New Roman"/>
                      </a:endParaRPr>
                    </a:p>
                  </a:txBody>
                  <a:tcPr marT="54875" marB="548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El fondo claro se llena de manchas oscuras. El círculo y el cuadrado aparecen rellenos o solo con su contorno.</a:t>
                      </a:r>
                      <a:endParaRPr sz="1400" u="none" cap="none" strike="noStrike">
                        <a:latin typeface="Times New Roman"/>
                        <a:ea typeface="Times New Roman"/>
                        <a:cs typeface="Times New Roman"/>
                        <a:sym typeface="Times New Roman"/>
                      </a:endParaRPr>
                    </a:p>
                  </a:txBody>
                  <a:tcPr marT="54875" marB="548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1525">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15x15 a 31x31</a:t>
                      </a:r>
                      <a:endParaRPr sz="1400" u="none" cap="none" strike="noStrike">
                        <a:latin typeface="Times New Roman"/>
                        <a:ea typeface="Times New Roman"/>
                        <a:cs typeface="Times New Roman"/>
                        <a:sym typeface="Times New Roman"/>
                      </a:endParaRPr>
                    </a:p>
                  </a:txBody>
                  <a:tcPr marT="54875" marB="548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Los cinco detalles se ven completos y el fondo queda casi limpio.</a:t>
                      </a:r>
                      <a:endParaRPr sz="1400" u="none" cap="none" strike="noStrike">
                        <a:latin typeface="Times New Roman"/>
                        <a:ea typeface="Times New Roman"/>
                        <a:cs typeface="Times New Roman"/>
                        <a:sym typeface="Times New Roman"/>
                      </a:endParaRPr>
                    </a:p>
                  </a:txBody>
                  <a:tcPr marT="54875" marB="548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1525">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61x61</a:t>
                      </a:r>
                      <a:endParaRPr sz="1400" u="none" cap="none" strike="noStrike">
                        <a:latin typeface="Times New Roman"/>
                        <a:ea typeface="Times New Roman"/>
                        <a:cs typeface="Times New Roman"/>
                        <a:sym typeface="Times New Roman"/>
                      </a:endParaRPr>
                    </a:p>
                  </a:txBody>
                  <a:tcPr marT="54875" marB="548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Los detalles pierden brillo: el centro es más claro que los bordes.</a:t>
                      </a:r>
                      <a:endParaRPr sz="1400" u="none" cap="none" strike="noStrike">
                        <a:latin typeface="Times New Roman"/>
                        <a:ea typeface="Times New Roman"/>
                        <a:cs typeface="Times New Roman"/>
                        <a:sym typeface="Times New Roman"/>
                      </a:endParaRPr>
                    </a:p>
                  </a:txBody>
                  <a:tcPr marT="54875" marB="548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1525">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101x101</a:t>
                      </a:r>
                      <a:endParaRPr sz="1400" u="none" cap="none" strike="noStrike">
                        <a:latin typeface="Times New Roman"/>
                        <a:ea typeface="Times New Roman"/>
                        <a:cs typeface="Times New Roman"/>
                        <a:sym typeface="Times New Roman"/>
                      </a:endParaRPr>
                    </a:p>
                  </a:txBody>
                  <a:tcPr marT="54875" marB="548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Los detalles casi no se distinguen, como en la ecualización global.</a:t>
                      </a:r>
                      <a:endParaRPr sz="1400" u="none" cap="none" strike="noStrike">
                        <a:latin typeface="Times New Roman"/>
                        <a:ea typeface="Times New Roman"/>
                        <a:cs typeface="Times New Roman"/>
                        <a:sym typeface="Times New Roman"/>
                      </a:endParaRPr>
                    </a:p>
                  </a:txBody>
                  <a:tcPr marT="54875" marB="548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57" name="Google Shape;257;p16"/>
          <p:cNvSpPr txBox="1"/>
          <p:nvPr/>
        </p:nvSpPr>
        <p:spPr>
          <a:xfrm>
            <a:off x="5486400" y="5303520"/>
            <a:ext cx="61264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Una ventana chica ve vecinos casi iguales y amplifica diferencias de uno o dos niveles. Una grande se sale del cuadrado de 62 píxeles y el fondo domina el histograma local.</a:t>
            </a:r>
            <a:endParaRPr b="0" i="0" sz="1400" u="none" cap="none" strike="noStrike">
              <a:solidFill>
                <a:schemeClr val="dk1"/>
              </a:solidFill>
              <a:latin typeface="Times New Roman"/>
              <a:ea typeface="Times New Roman"/>
              <a:cs typeface="Times New Roman"/>
              <a:sym typeface="Times New Roman"/>
            </a:endParaRPr>
          </a:p>
        </p:txBody>
      </p:sp>
      <p:sp>
        <p:nvSpPr>
          <p:cNvPr id="258" name="Google Shape;258;p16"/>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7"/>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Ventanas chicas, medias y grandes</a:t>
            </a:r>
            <a:endParaRPr sz="3400"/>
          </a:p>
        </p:txBody>
      </p:sp>
      <p:sp>
        <p:nvSpPr>
          <p:cNvPr id="265" name="Google Shape;265;p17"/>
          <p:cNvSpPr/>
          <p:nvPr/>
        </p:nvSpPr>
        <p:spPr>
          <a:xfrm>
            <a:off x="548640" y="1371600"/>
            <a:ext cx="3566160" cy="475488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7"/>
          <p:cNvSpPr txBox="1"/>
          <p:nvPr/>
        </p:nvSpPr>
        <p:spPr>
          <a:xfrm>
            <a:off x="777240" y="1481328"/>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Chicas: 3x3 y 7x7</a:t>
            </a:r>
            <a:endParaRPr b="0" i="0" sz="1800" u="none" cap="none" strike="noStrike">
              <a:solidFill>
                <a:schemeClr val="dk1"/>
              </a:solidFill>
              <a:latin typeface="Times New Roman"/>
              <a:ea typeface="Times New Roman"/>
              <a:cs typeface="Times New Roman"/>
              <a:sym typeface="Times New Roman"/>
            </a:endParaRPr>
          </a:p>
        </p:txBody>
      </p:sp>
      <p:pic>
        <p:nvPicPr>
          <p:cNvPr descr="Recorte de la figura 7: Chicas: 3x3 y 7x7" id="267" name="Google Shape;267;p17"/>
          <p:cNvPicPr preferRelativeResize="0"/>
          <p:nvPr/>
        </p:nvPicPr>
        <p:blipFill rotWithShape="1">
          <a:blip r:embed="rId3">
            <a:alphaModFix/>
          </a:blip>
          <a:srcRect b="0" l="0" r="0" t="0"/>
          <a:stretch/>
        </p:blipFill>
        <p:spPr>
          <a:xfrm>
            <a:off x="1472384" y="1965960"/>
            <a:ext cx="1718672" cy="1828800"/>
          </a:xfrm>
          <a:prstGeom prst="rect">
            <a:avLst/>
          </a:prstGeom>
          <a:noFill/>
          <a:ln>
            <a:noFill/>
          </a:ln>
        </p:spPr>
      </p:pic>
      <p:sp>
        <p:nvSpPr>
          <p:cNvPr id="268" name="Google Shape;268;p17"/>
          <p:cNvSpPr txBox="1"/>
          <p:nvPr/>
        </p:nvSpPr>
        <p:spPr>
          <a:xfrm>
            <a:off x="777240" y="3931920"/>
            <a:ext cx="3108960" cy="2103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Resaltan bordes y amplifican el ruido. Con 3x3 los detalles grandes salen huecos: solo se ve el contorno. En el fondo, una diferencia de 1 nivel pasa de blanco a negro.</a:t>
            </a:r>
            <a:endParaRPr b="0" i="0" sz="1400" u="none" cap="none" strike="noStrike">
              <a:solidFill>
                <a:schemeClr val="dk1"/>
              </a:solidFill>
              <a:latin typeface="Times New Roman"/>
              <a:ea typeface="Times New Roman"/>
              <a:cs typeface="Times New Roman"/>
              <a:sym typeface="Times New Roman"/>
            </a:endParaRPr>
          </a:p>
        </p:txBody>
      </p:sp>
      <p:sp>
        <p:nvSpPr>
          <p:cNvPr id="269" name="Google Shape;269;p17"/>
          <p:cNvSpPr/>
          <p:nvPr/>
        </p:nvSpPr>
        <p:spPr>
          <a:xfrm>
            <a:off x="4297680" y="1371600"/>
            <a:ext cx="3566160" cy="475488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7"/>
          <p:cNvSpPr txBox="1"/>
          <p:nvPr/>
        </p:nvSpPr>
        <p:spPr>
          <a:xfrm>
            <a:off x="4526280" y="1481328"/>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Medias: 15x15 a 31x31</a:t>
            </a:r>
            <a:endParaRPr b="0" i="0" sz="1800" u="none" cap="none" strike="noStrike">
              <a:solidFill>
                <a:schemeClr val="dk1"/>
              </a:solidFill>
              <a:latin typeface="Times New Roman"/>
              <a:ea typeface="Times New Roman"/>
              <a:cs typeface="Times New Roman"/>
              <a:sym typeface="Times New Roman"/>
            </a:endParaRPr>
          </a:p>
        </p:txBody>
      </p:sp>
      <p:pic>
        <p:nvPicPr>
          <p:cNvPr descr="Recorte de la figura 7: Medias: 15x15 a 31x31" id="271" name="Google Shape;271;p17"/>
          <p:cNvPicPr preferRelativeResize="0"/>
          <p:nvPr/>
        </p:nvPicPr>
        <p:blipFill rotWithShape="1">
          <a:blip r:embed="rId4">
            <a:alphaModFix/>
          </a:blip>
          <a:srcRect b="0" l="0" r="0" t="0"/>
          <a:stretch/>
        </p:blipFill>
        <p:spPr>
          <a:xfrm>
            <a:off x="5202185" y="1965960"/>
            <a:ext cx="1757149" cy="1828800"/>
          </a:xfrm>
          <a:prstGeom prst="rect">
            <a:avLst/>
          </a:prstGeom>
          <a:noFill/>
          <a:ln>
            <a:noFill/>
          </a:ln>
        </p:spPr>
      </p:pic>
      <p:sp>
        <p:nvSpPr>
          <p:cNvPr id="272" name="Google Shape;272;p17"/>
          <p:cNvSpPr txBox="1"/>
          <p:nvPr/>
        </p:nvSpPr>
        <p:spPr>
          <a:xfrm>
            <a:off x="4526280" y="3931920"/>
            <a:ext cx="3108960" cy="2103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El mejor resultado: los cinco detalles se ven completos y nítidos. En el fondo quedan solo puntos sueltos: son los 1175 píxeles de nivel 226 de la imagen original.</a:t>
            </a:r>
            <a:endParaRPr b="0" i="0" sz="1400" u="none" cap="none" strike="noStrike">
              <a:solidFill>
                <a:schemeClr val="dk1"/>
              </a:solidFill>
              <a:latin typeface="Times New Roman"/>
              <a:ea typeface="Times New Roman"/>
              <a:cs typeface="Times New Roman"/>
              <a:sym typeface="Times New Roman"/>
            </a:endParaRPr>
          </a:p>
        </p:txBody>
      </p:sp>
      <p:sp>
        <p:nvSpPr>
          <p:cNvPr id="273" name="Google Shape;273;p17"/>
          <p:cNvSpPr/>
          <p:nvPr/>
        </p:nvSpPr>
        <p:spPr>
          <a:xfrm>
            <a:off x="8046720" y="1371600"/>
            <a:ext cx="3566160" cy="475488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7"/>
          <p:cNvSpPr txBox="1"/>
          <p:nvPr/>
        </p:nvSpPr>
        <p:spPr>
          <a:xfrm>
            <a:off x="8275320" y="1481328"/>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Grandes: 61x61 o más</a:t>
            </a:r>
            <a:endParaRPr b="0" i="0" sz="1800" u="none" cap="none" strike="noStrike">
              <a:solidFill>
                <a:schemeClr val="dk1"/>
              </a:solidFill>
              <a:latin typeface="Times New Roman"/>
              <a:ea typeface="Times New Roman"/>
              <a:cs typeface="Times New Roman"/>
              <a:sym typeface="Times New Roman"/>
            </a:endParaRPr>
          </a:p>
        </p:txBody>
      </p:sp>
      <p:pic>
        <p:nvPicPr>
          <p:cNvPr descr="Recorte de la figura 7: Grandes: 61x61 o más" id="275" name="Google Shape;275;p17"/>
          <p:cNvPicPr preferRelativeResize="0"/>
          <p:nvPr/>
        </p:nvPicPr>
        <p:blipFill rotWithShape="1">
          <a:blip r:embed="rId5">
            <a:alphaModFix/>
          </a:blip>
          <a:srcRect b="0" l="0" r="0" t="0"/>
          <a:stretch/>
        </p:blipFill>
        <p:spPr>
          <a:xfrm>
            <a:off x="8970464" y="1965960"/>
            <a:ext cx="1718672" cy="1828800"/>
          </a:xfrm>
          <a:prstGeom prst="rect">
            <a:avLst/>
          </a:prstGeom>
          <a:noFill/>
          <a:ln>
            <a:noFill/>
          </a:ln>
        </p:spPr>
      </p:pic>
      <p:sp>
        <p:nvSpPr>
          <p:cNvPr id="276" name="Google Shape;276;p17"/>
          <p:cNvSpPr txBox="1"/>
          <p:nvPr/>
        </p:nvSpPr>
        <p:spPr>
          <a:xfrm>
            <a:off x="8275320" y="3931920"/>
            <a:ext cx="3108960" cy="2103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Se parecen a la ecualización global. Con 61x61 los detalles se ven grises y con 101x101 casi no se distinguen. Con 61x61 el centro queda más claro que los bordes.</a:t>
            </a:r>
            <a:endParaRPr b="0" i="0" sz="1400" u="none" cap="none" strike="noStrike">
              <a:solidFill>
                <a:schemeClr val="dk1"/>
              </a:solidFill>
              <a:latin typeface="Times New Roman"/>
              <a:ea typeface="Times New Roman"/>
              <a:cs typeface="Times New Roman"/>
              <a:sym typeface="Times New Roman"/>
            </a:endParaRPr>
          </a:p>
        </p:txBody>
      </p:sp>
      <p:sp>
        <p:nvSpPr>
          <p:cNvPr id="277" name="Google Shape;277;p17"/>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8"/>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Por qué se apagan con ventanas grandes</a:t>
            </a:r>
            <a:endParaRPr sz="3400"/>
          </a:p>
        </p:txBody>
      </p:sp>
      <p:sp>
        <p:nvSpPr>
          <p:cNvPr id="284" name="Google Shape;284;p18"/>
          <p:cNvSpPr txBox="1"/>
          <p:nvPr/>
        </p:nvSpPr>
        <p:spPr>
          <a:xfrm>
            <a:off x="548640" y="1371600"/>
            <a:ext cx="59436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Cuando la ventana se sale del cuadrado de 62x62, entran píxeles del fondo claro (226 a 228). Ocupan la parte alta de la CDF y los niveles oscuros (0 a 11) quedan comprimidos en:</a:t>
            </a:r>
            <a:endParaRPr b="0" i="0" sz="1600" u="none" cap="none" strike="noStrike">
              <a:solidFill>
                <a:schemeClr val="dk1"/>
              </a:solidFill>
              <a:latin typeface="Times New Roman"/>
              <a:ea typeface="Times New Roman"/>
              <a:cs typeface="Times New Roman"/>
              <a:sym typeface="Times New Roman"/>
            </a:endParaRPr>
          </a:p>
        </p:txBody>
      </p:sp>
      <p:sp>
        <p:nvSpPr>
          <p:cNvPr id="285" name="Google Shape;285;p18"/>
          <p:cNvSpPr/>
          <p:nvPr/>
        </p:nvSpPr>
        <p:spPr>
          <a:xfrm>
            <a:off x="548640" y="2834640"/>
            <a:ext cx="5943600" cy="822960"/>
          </a:xfrm>
          <a:prstGeom prst="rect">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8"/>
          <p:cNvSpPr txBox="1"/>
          <p:nvPr/>
        </p:nvSpPr>
        <p:spPr>
          <a:xfrm>
            <a:off x="548640" y="2834640"/>
            <a:ext cx="594360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3000"/>
              <a:buFont typeface="Courier New"/>
              <a:buNone/>
            </a:pPr>
            <a:r>
              <a:rPr b="1" i="0" lang="en-US" sz="3000" u="none" cap="none" strike="noStrike">
                <a:solidFill>
                  <a:schemeClr val="dk1"/>
                </a:solidFill>
                <a:latin typeface="Courier New"/>
                <a:ea typeface="Courier New"/>
                <a:cs typeface="Courier New"/>
                <a:sym typeface="Courier New"/>
              </a:rPr>
              <a:t>[0, 255 · p]</a:t>
            </a:r>
            <a:endParaRPr b="0" i="0" sz="3000" u="none" cap="none" strike="noStrike">
              <a:solidFill>
                <a:schemeClr val="dk1"/>
              </a:solidFill>
              <a:latin typeface="Times New Roman"/>
              <a:ea typeface="Times New Roman"/>
              <a:cs typeface="Times New Roman"/>
              <a:sym typeface="Times New Roman"/>
            </a:endParaRPr>
          </a:p>
        </p:txBody>
      </p:sp>
      <p:sp>
        <p:nvSpPr>
          <p:cNvPr id="287" name="Google Shape;287;p18"/>
          <p:cNvSpPr txBox="1"/>
          <p:nvPr/>
        </p:nvSpPr>
        <p:spPr>
          <a:xfrm>
            <a:off x="548640" y="3840480"/>
            <a:ext cx="594360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p es la fracción de píxeles oscuros de la ventana. Cuanto más grande la ventana, más chico p y más oscuro queda el detalle.</a:t>
            </a:r>
            <a:endParaRPr b="0" i="0" sz="1600" u="none" cap="none" strike="noStrike">
              <a:solidFill>
                <a:schemeClr val="dk1"/>
              </a:solidFill>
              <a:latin typeface="Times New Roman"/>
              <a:ea typeface="Times New Roman"/>
              <a:cs typeface="Times New Roman"/>
              <a:sym typeface="Times New Roman"/>
            </a:endParaRPr>
          </a:p>
        </p:txBody>
      </p:sp>
      <p:sp>
        <p:nvSpPr>
          <p:cNvPr id="288" name="Google Shape;288;p18"/>
          <p:cNvSpPr/>
          <p:nvPr/>
        </p:nvSpPr>
        <p:spPr>
          <a:xfrm>
            <a:off x="548640" y="5029200"/>
            <a:ext cx="5943600" cy="109728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8"/>
          <p:cNvSpPr txBox="1"/>
          <p:nvPr/>
        </p:nvSpPr>
        <p:spPr>
          <a:xfrm>
            <a:off x="731520" y="5074920"/>
            <a:ext cx="557784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Cada zona se apaga cuando M//2 supera la distancia del detalle al borde de su cuadrado.</a:t>
            </a:r>
            <a:endParaRPr b="0" i="0" sz="1600" u="none" cap="none" strike="noStrike">
              <a:solidFill>
                <a:schemeClr val="dk1"/>
              </a:solidFill>
              <a:latin typeface="Times New Roman"/>
              <a:ea typeface="Times New Roman"/>
              <a:cs typeface="Times New Roman"/>
              <a:sym typeface="Times New Roman"/>
            </a:endParaRPr>
          </a:p>
        </p:txBody>
      </p:sp>
      <p:pic>
        <p:nvPicPr>
          <p:cNvPr id="290" name="Google Shape;290;p18"/>
          <p:cNvPicPr preferRelativeResize="0"/>
          <p:nvPr/>
        </p:nvPicPr>
        <p:blipFill rotWithShape="1">
          <a:blip r:embed="rId3">
            <a:alphaModFix/>
          </a:blip>
          <a:srcRect b="0" l="0" r="0" t="0"/>
          <a:stretch/>
        </p:blipFill>
        <p:spPr>
          <a:xfrm>
            <a:off x="6858000" y="1371600"/>
            <a:ext cx="4754880" cy="3840480"/>
          </a:xfrm>
          <a:prstGeom prst="rect">
            <a:avLst/>
          </a:prstGeom>
          <a:noFill/>
          <a:ln>
            <a:noFill/>
          </a:ln>
        </p:spPr>
      </p:pic>
      <p:sp>
        <p:nvSpPr>
          <p:cNvPr id="291" name="Google Shape;291;p18"/>
          <p:cNvSpPr txBox="1"/>
          <p:nvPr/>
        </p:nvSpPr>
        <p:spPr>
          <a:xfrm>
            <a:off x="6858000" y="5349240"/>
            <a:ext cx="47548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La inferior izquierda está más cerca del borde y es la que más se atenúa con 31x31 (Figura 8).</a:t>
            </a:r>
            <a:endParaRPr b="0" i="0" sz="1400" u="none" cap="none" strike="noStrike">
              <a:solidFill>
                <a:schemeClr val="dk1"/>
              </a:solidFill>
              <a:latin typeface="Times New Roman"/>
              <a:ea typeface="Times New Roman"/>
              <a:cs typeface="Times New Roman"/>
              <a:sym typeface="Times New Roman"/>
            </a:endParaRPr>
          </a:p>
        </p:txBody>
      </p:sp>
      <p:sp>
        <p:nvSpPr>
          <p:cNvPr id="292" name="Google Shape;292;p18"/>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9"/>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Ventanas rectangulares y ventana elegida</a:t>
            </a:r>
            <a:endParaRPr sz="3400"/>
          </a:p>
        </p:txBody>
      </p:sp>
      <p:pic>
        <p:nvPicPr>
          <p:cNvPr descr="Ventanas rectangulares de 3x31, 31x3, 1x61 y 61x1 junto a la referencia de 21x21" id="299" name="Google Shape;299;p19"/>
          <p:cNvPicPr preferRelativeResize="0"/>
          <p:nvPr/>
        </p:nvPicPr>
        <p:blipFill rotWithShape="1">
          <a:blip r:embed="rId3">
            <a:alphaModFix/>
          </a:blip>
          <a:srcRect b="0" l="0" r="0" t="0"/>
          <a:stretch/>
        </p:blipFill>
        <p:spPr>
          <a:xfrm>
            <a:off x="745103" y="1371600"/>
            <a:ext cx="5642113" cy="4114800"/>
          </a:xfrm>
          <a:prstGeom prst="rect">
            <a:avLst/>
          </a:prstGeom>
          <a:noFill/>
          <a:ln>
            <a:noFill/>
          </a:ln>
        </p:spPr>
      </p:pic>
      <p:sp>
        <p:nvSpPr>
          <p:cNvPr id="300" name="Google Shape;300;p19"/>
          <p:cNvSpPr/>
          <p:nvPr/>
        </p:nvSpPr>
        <p:spPr>
          <a:xfrm>
            <a:off x="745103" y="1371600"/>
            <a:ext cx="5642113" cy="411480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9"/>
          <p:cNvSpPr txBox="1"/>
          <p:nvPr/>
        </p:nvSpPr>
        <p:spPr>
          <a:xfrm>
            <a:off x="548640" y="5577840"/>
            <a:ext cx="60350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Times New Roman"/>
              <a:buNone/>
            </a:pPr>
            <a:r>
              <a:rPr b="1" i="0" lang="en-US" sz="1200" u="none" cap="none" strike="noStrike">
                <a:solidFill>
                  <a:schemeClr val="dk1"/>
                </a:solidFill>
                <a:latin typeface="Times New Roman"/>
                <a:ea typeface="Times New Roman"/>
                <a:cs typeface="Times New Roman"/>
                <a:sym typeface="Times New Roman"/>
              </a:rPr>
              <a:t>Figura 9. </a:t>
            </a:r>
            <a:r>
              <a:rPr b="0" i="0" lang="en-US" sz="1200" u="none" cap="none" strike="noStrike">
                <a:solidFill>
                  <a:schemeClr val="dk1"/>
                </a:solidFill>
                <a:latin typeface="Times New Roman"/>
                <a:ea typeface="Times New Roman"/>
                <a:cs typeface="Times New Roman"/>
                <a:sym typeface="Times New Roman"/>
              </a:rPr>
              <a:t>Ventanas 3x31, 31x3, 1x61 y 61x1 junto a la original y la referencia de 21x21.</a:t>
            </a:r>
            <a:endParaRPr b="0" i="0" sz="1200" u="none" cap="none" strike="noStrike">
              <a:solidFill>
                <a:schemeClr val="dk1"/>
              </a:solidFill>
              <a:latin typeface="Times New Roman"/>
              <a:ea typeface="Times New Roman"/>
              <a:cs typeface="Times New Roman"/>
              <a:sym typeface="Times New Roman"/>
            </a:endParaRPr>
          </a:p>
        </p:txBody>
      </p:sp>
      <p:sp>
        <p:nvSpPr>
          <p:cNvPr id="302" name="Google Shape;302;p19"/>
          <p:cNvSpPr txBox="1"/>
          <p:nvPr/>
        </p:nvSpPr>
        <p:spPr>
          <a:xfrm>
            <a:off x="7132320" y="1371600"/>
            <a:ext cx="448056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8000"/>
              <a:buFont typeface="Times New Roman"/>
              <a:buNone/>
            </a:pPr>
            <a:r>
              <a:rPr b="1" i="0" lang="en-US" sz="8000" u="none" cap="none" strike="noStrike">
                <a:solidFill>
                  <a:schemeClr val="dk1"/>
                </a:solidFill>
                <a:latin typeface="Times New Roman"/>
                <a:ea typeface="Times New Roman"/>
                <a:cs typeface="Times New Roman"/>
                <a:sym typeface="Times New Roman"/>
              </a:rPr>
              <a:t>21x21</a:t>
            </a:r>
            <a:endParaRPr b="0" i="0" sz="8000" u="none" cap="none" strike="noStrike">
              <a:solidFill>
                <a:schemeClr val="dk1"/>
              </a:solidFill>
              <a:latin typeface="Times New Roman"/>
              <a:ea typeface="Times New Roman"/>
              <a:cs typeface="Times New Roman"/>
              <a:sym typeface="Times New Roman"/>
            </a:endParaRPr>
          </a:p>
        </p:txBody>
      </p:sp>
      <p:sp>
        <p:nvSpPr>
          <p:cNvPr id="303" name="Google Shape;303;p19"/>
          <p:cNvSpPr txBox="1"/>
          <p:nvPr/>
        </p:nvSpPr>
        <p:spPr>
          <a:xfrm>
            <a:off x="7132320" y="2651760"/>
            <a:ext cx="4480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Ventana elegida para mostrar los detalles</a:t>
            </a:r>
            <a:endParaRPr b="0" i="0" sz="1800" u="none" cap="none" strike="noStrike">
              <a:solidFill>
                <a:schemeClr val="dk1"/>
              </a:solidFill>
              <a:latin typeface="Times New Roman"/>
              <a:ea typeface="Times New Roman"/>
              <a:cs typeface="Times New Roman"/>
              <a:sym typeface="Times New Roman"/>
            </a:endParaRPr>
          </a:p>
        </p:txBody>
      </p:sp>
      <p:sp>
        <p:nvSpPr>
          <p:cNvPr id="304" name="Google Shape;304;p19"/>
          <p:cNvSpPr txBox="1"/>
          <p:nvPr/>
        </p:nvSpPr>
        <p:spPr>
          <a:xfrm>
            <a:off x="7132320" y="3291840"/>
            <a:ext cx="4480560" cy="25603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Los cinco detalles se ven completos y el fondo claro queda casi limpio.</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spcBef>
                <a:spcPts val="80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Con 3x31 y 1x61 aparecen rayas horizontales en el fondo; con 31x3 y 61x1, verticales.</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spcBef>
                <a:spcPts val="80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Con ventanas más chicas aparecen manchas negras.</a:t>
            </a:r>
            <a:endParaRPr b="0" i="0" sz="1600" u="none" cap="none" strike="noStrike">
              <a:solidFill>
                <a:schemeClr val="dk1"/>
              </a:solidFill>
              <a:latin typeface="Times New Roman"/>
              <a:ea typeface="Times New Roman"/>
              <a:cs typeface="Times New Roman"/>
              <a:sym typeface="Times New Roman"/>
            </a:endParaRPr>
          </a:p>
        </p:txBody>
      </p:sp>
      <p:sp>
        <p:nvSpPr>
          <p:cNvPr id="305" name="Google Shape;305;p19"/>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0"/>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Dos límites para el tamaño de ventana</a:t>
            </a:r>
            <a:endParaRPr sz="3400"/>
          </a:p>
        </p:txBody>
      </p:sp>
      <p:sp>
        <p:nvSpPr>
          <p:cNvPr id="312" name="Google Shape;312;p20"/>
          <p:cNvSpPr/>
          <p:nvPr/>
        </p:nvSpPr>
        <p:spPr>
          <a:xfrm>
            <a:off x="548640" y="1463040"/>
            <a:ext cx="1417320" cy="822960"/>
          </a:xfrm>
          <a:prstGeom prst="rect">
            <a:avLst/>
          </a:prstGeom>
          <a:solidFill>
            <a:schemeClr val="accent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0"/>
          <p:cNvSpPr txBox="1"/>
          <p:nvPr/>
        </p:nvSpPr>
        <p:spPr>
          <a:xfrm>
            <a:off x="548640" y="1463040"/>
            <a:ext cx="14173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3x3</a:t>
            </a:r>
            <a:endParaRPr b="0" i="0" sz="2000" u="none" cap="none" strike="noStrike">
              <a:solidFill>
                <a:schemeClr val="dk1"/>
              </a:solidFill>
              <a:latin typeface="Times New Roman"/>
              <a:ea typeface="Times New Roman"/>
              <a:cs typeface="Times New Roman"/>
              <a:sym typeface="Times New Roman"/>
            </a:endParaRPr>
          </a:p>
        </p:txBody>
      </p:sp>
      <p:sp>
        <p:nvSpPr>
          <p:cNvPr id="314" name="Google Shape;314;p20"/>
          <p:cNvSpPr/>
          <p:nvPr/>
        </p:nvSpPr>
        <p:spPr>
          <a:xfrm>
            <a:off x="2148840" y="1463040"/>
            <a:ext cx="1417320" cy="822960"/>
          </a:xfrm>
          <a:prstGeom prst="rect">
            <a:avLst/>
          </a:prstGeom>
          <a:solidFill>
            <a:schemeClr val="accent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0"/>
          <p:cNvSpPr txBox="1"/>
          <p:nvPr/>
        </p:nvSpPr>
        <p:spPr>
          <a:xfrm>
            <a:off x="2148840" y="1463040"/>
            <a:ext cx="14173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7x7</a:t>
            </a:r>
            <a:endParaRPr b="0" i="0" sz="2000" u="none" cap="none" strike="noStrike">
              <a:solidFill>
                <a:schemeClr val="dk1"/>
              </a:solidFill>
              <a:latin typeface="Times New Roman"/>
              <a:ea typeface="Times New Roman"/>
              <a:cs typeface="Times New Roman"/>
              <a:sym typeface="Times New Roman"/>
            </a:endParaRPr>
          </a:p>
        </p:txBody>
      </p:sp>
      <p:sp>
        <p:nvSpPr>
          <p:cNvPr id="316" name="Google Shape;316;p20"/>
          <p:cNvSpPr/>
          <p:nvPr/>
        </p:nvSpPr>
        <p:spPr>
          <a:xfrm>
            <a:off x="3749040" y="1463040"/>
            <a:ext cx="1417320" cy="822960"/>
          </a:xfrm>
          <a:prstGeom prst="rect">
            <a:avLst/>
          </a:prstGeom>
          <a:solidFill>
            <a:schemeClr val="accent3"/>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0"/>
          <p:cNvSpPr txBox="1"/>
          <p:nvPr/>
        </p:nvSpPr>
        <p:spPr>
          <a:xfrm>
            <a:off x="3749040" y="1463040"/>
            <a:ext cx="14173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2000"/>
              <a:buFont typeface="Times New Roman"/>
              <a:buNone/>
            </a:pPr>
            <a:r>
              <a:rPr b="1" i="0" lang="en-US" sz="2000" u="none" cap="none" strike="noStrike">
                <a:solidFill>
                  <a:schemeClr val="accent6"/>
                </a:solidFill>
                <a:latin typeface="Times New Roman"/>
                <a:ea typeface="Times New Roman"/>
                <a:cs typeface="Times New Roman"/>
                <a:sym typeface="Times New Roman"/>
              </a:rPr>
              <a:t>15x15</a:t>
            </a:r>
            <a:endParaRPr b="0" i="0" sz="2000" u="none" cap="none" strike="noStrike">
              <a:solidFill>
                <a:schemeClr val="dk1"/>
              </a:solidFill>
              <a:latin typeface="Times New Roman"/>
              <a:ea typeface="Times New Roman"/>
              <a:cs typeface="Times New Roman"/>
              <a:sym typeface="Times New Roman"/>
            </a:endParaRPr>
          </a:p>
        </p:txBody>
      </p:sp>
      <p:sp>
        <p:nvSpPr>
          <p:cNvPr id="318" name="Google Shape;318;p20"/>
          <p:cNvSpPr/>
          <p:nvPr/>
        </p:nvSpPr>
        <p:spPr>
          <a:xfrm>
            <a:off x="5349240" y="1463040"/>
            <a:ext cx="1417320" cy="822960"/>
          </a:xfrm>
          <a:prstGeom prst="rect">
            <a:avLst/>
          </a:prstGeom>
          <a:solidFill>
            <a:schemeClr val="accent3"/>
          </a:solidFill>
          <a:ln cap="flat" cmpd="sng" w="508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0"/>
          <p:cNvSpPr txBox="1"/>
          <p:nvPr/>
        </p:nvSpPr>
        <p:spPr>
          <a:xfrm>
            <a:off x="5349240" y="1463040"/>
            <a:ext cx="14173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2000"/>
              <a:buFont typeface="Times New Roman"/>
              <a:buNone/>
            </a:pPr>
            <a:r>
              <a:rPr b="1" i="0" lang="en-US" sz="2000" u="none" cap="none" strike="noStrike">
                <a:solidFill>
                  <a:schemeClr val="accent6"/>
                </a:solidFill>
                <a:latin typeface="Times New Roman"/>
                <a:ea typeface="Times New Roman"/>
                <a:cs typeface="Times New Roman"/>
                <a:sym typeface="Times New Roman"/>
              </a:rPr>
              <a:t>21x21</a:t>
            </a:r>
            <a:endParaRPr b="0" i="0" sz="2000" u="none" cap="none" strike="noStrike">
              <a:solidFill>
                <a:schemeClr val="dk1"/>
              </a:solidFill>
              <a:latin typeface="Times New Roman"/>
              <a:ea typeface="Times New Roman"/>
              <a:cs typeface="Times New Roman"/>
              <a:sym typeface="Times New Roman"/>
            </a:endParaRPr>
          </a:p>
        </p:txBody>
      </p:sp>
      <p:sp>
        <p:nvSpPr>
          <p:cNvPr id="320" name="Google Shape;320;p20"/>
          <p:cNvSpPr/>
          <p:nvPr/>
        </p:nvSpPr>
        <p:spPr>
          <a:xfrm>
            <a:off x="6949440" y="1463040"/>
            <a:ext cx="1417320" cy="822960"/>
          </a:xfrm>
          <a:prstGeom prst="rect">
            <a:avLst/>
          </a:prstGeom>
          <a:solidFill>
            <a:schemeClr val="accent3"/>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0"/>
          <p:cNvSpPr txBox="1"/>
          <p:nvPr/>
        </p:nvSpPr>
        <p:spPr>
          <a:xfrm>
            <a:off x="6949440" y="1463040"/>
            <a:ext cx="14173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2000"/>
              <a:buFont typeface="Times New Roman"/>
              <a:buNone/>
            </a:pPr>
            <a:r>
              <a:rPr b="1" i="0" lang="en-US" sz="2000" u="none" cap="none" strike="noStrike">
                <a:solidFill>
                  <a:schemeClr val="accent6"/>
                </a:solidFill>
                <a:latin typeface="Times New Roman"/>
                <a:ea typeface="Times New Roman"/>
                <a:cs typeface="Times New Roman"/>
                <a:sym typeface="Times New Roman"/>
              </a:rPr>
              <a:t>31x31</a:t>
            </a:r>
            <a:endParaRPr b="0" i="0" sz="2000" u="none" cap="none" strike="noStrike">
              <a:solidFill>
                <a:schemeClr val="dk1"/>
              </a:solidFill>
              <a:latin typeface="Times New Roman"/>
              <a:ea typeface="Times New Roman"/>
              <a:cs typeface="Times New Roman"/>
              <a:sym typeface="Times New Roman"/>
            </a:endParaRPr>
          </a:p>
        </p:txBody>
      </p:sp>
      <p:sp>
        <p:nvSpPr>
          <p:cNvPr id="322" name="Google Shape;322;p20"/>
          <p:cNvSpPr/>
          <p:nvPr/>
        </p:nvSpPr>
        <p:spPr>
          <a:xfrm>
            <a:off x="8549640" y="1463040"/>
            <a:ext cx="1417320" cy="822960"/>
          </a:xfrm>
          <a:prstGeom prst="rect">
            <a:avLst/>
          </a:prstGeom>
          <a:solidFill>
            <a:schemeClr val="accent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0"/>
          <p:cNvSpPr txBox="1"/>
          <p:nvPr/>
        </p:nvSpPr>
        <p:spPr>
          <a:xfrm>
            <a:off x="8549640" y="1463040"/>
            <a:ext cx="14173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61x61</a:t>
            </a:r>
            <a:endParaRPr b="0" i="0" sz="2000" u="none" cap="none" strike="noStrike">
              <a:solidFill>
                <a:schemeClr val="dk1"/>
              </a:solidFill>
              <a:latin typeface="Times New Roman"/>
              <a:ea typeface="Times New Roman"/>
              <a:cs typeface="Times New Roman"/>
              <a:sym typeface="Times New Roman"/>
            </a:endParaRPr>
          </a:p>
        </p:txBody>
      </p:sp>
      <p:sp>
        <p:nvSpPr>
          <p:cNvPr id="324" name="Google Shape;324;p20"/>
          <p:cNvSpPr/>
          <p:nvPr/>
        </p:nvSpPr>
        <p:spPr>
          <a:xfrm>
            <a:off x="10149840" y="1463040"/>
            <a:ext cx="1417320" cy="822960"/>
          </a:xfrm>
          <a:prstGeom prst="rect">
            <a:avLst/>
          </a:prstGeom>
          <a:solidFill>
            <a:schemeClr val="accent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0"/>
          <p:cNvSpPr txBox="1"/>
          <p:nvPr/>
        </p:nvSpPr>
        <p:spPr>
          <a:xfrm>
            <a:off x="10149840" y="1463040"/>
            <a:ext cx="14173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101x101</a:t>
            </a:r>
            <a:endParaRPr b="0" i="0" sz="2000" u="none" cap="none" strike="noStrike">
              <a:solidFill>
                <a:schemeClr val="dk1"/>
              </a:solidFill>
              <a:latin typeface="Times New Roman"/>
              <a:ea typeface="Times New Roman"/>
              <a:cs typeface="Times New Roman"/>
              <a:sym typeface="Times New Roman"/>
            </a:endParaRPr>
          </a:p>
        </p:txBody>
      </p:sp>
      <p:sp>
        <p:nvSpPr>
          <p:cNvPr id="326" name="Google Shape;326;p20"/>
          <p:cNvSpPr txBox="1"/>
          <p:nvPr/>
        </p:nvSpPr>
        <p:spPr>
          <a:xfrm>
            <a:off x="548640" y="2377440"/>
            <a:ext cx="30175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Ruido y contornos</a:t>
            </a:r>
            <a:endParaRPr b="0" i="0" sz="1400" u="none" cap="none" strike="noStrike">
              <a:solidFill>
                <a:schemeClr val="dk1"/>
              </a:solidFill>
              <a:latin typeface="Times New Roman"/>
              <a:ea typeface="Times New Roman"/>
              <a:cs typeface="Times New Roman"/>
              <a:sym typeface="Times New Roman"/>
            </a:endParaRPr>
          </a:p>
        </p:txBody>
      </p:sp>
      <p:sp>
        <p:nvSpPr>
          <p:cNvPr id="327" name="Google Shape;327;p20"/>
          <p:cNvSpPr txBox="1"/>
          <p:nvPr/>
        </p:nvSpPr>
        <p:spPr>
          <a:xfrm>
            <a:off x="3749040" y="2377440"/>
            <a:ext cx="4617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Rango útil (mejor: 21x21)</a:t>
            </a:r>
            <a:endParaRPr b="0" i="0" sz="1400" u="none" cap="none" strike="noStrike">
              <a:solidFill>
                <a:schemeClr val="dk1"/>
              </a:solidFill>
              <a:latin typeface="Times New Roman"/>
              <a:ea typeface="Times New Roman"/>
              <a:cs typeface="Times New Roman"/>
              <a:sym typeface="Times New Roman"/>
            </a:endParaRPr>
          </a:p>
        </p:txBody>
      </p:sp>
      <p:sp>
        <p:nvSpPr>
          <p:cNvPr id="328" name="Google Shape;328;p20"/>
          <p:cNvSpPr txBox="1"/>
          <p:nvPr/>
        </p:nvSpPr>
        <p:spPr>
          <a:xfrm>
            <a:off x="8549640" y="2377440"/>
            <a:ext cx="30175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Se parece a la global</a:t>
            </a:r>
            <a:endParaRPr b="0" i="0" sz="1400" u="none" cap="none" strike="noStrike">
              <a:solidFill>
                <a:schemeClr val="dk1"/>
              </a:solidFill>
              <a:latin typeface="Times New Roman"/>
              <a:ea typeface="Times New Roman"/>
              <a:cs typeface="Times New Roman"/>
              <a:sym typeface="Times New Roman"/>
            </a:endParaRPr>
          </a:p>
        </p:txBody>
      </p:sp>
      <p:sp>
        <p:nvSpPr>
          <p:cNvPr id="329" name="Google Shape;329;p20"/>
          <p:cNvSpPr/>
          <p:nvPr/>
        </p:nvSpPr>
        <p:spPr>
          <a:xfrm>
            <a:off x="548640" y="3108960"/>
            <a:ext cx="2651760" cy="237744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0"/>
          <p:cNvSpPr txBox="1"/>
          <p:nvPr/>
        </p:nvSpPr>
        <p:spPr>
          <a:xfrm>
            <a:off x="777240" y="3246120"/>
            <a:ext cx="2194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Mínimo</a:t>
            </a:r>
            <a:endParaRPr b="0" i="0" sz="1800" u="none" cap="none" strike="noStrike">
              <a:solidFill>
                <a:schemeClr val="dk1"/>
              </a:solidFill>
              <a:latin typeface="Times New Roman"/>
              <a:ea typeface="Times New Roman"/>
              <a:cs typeface="Times New Roman"/>
              <a:sym typeface="Times New Roman"/>
            </a:endParaRPr>
          </a:p>
        </p:txBody>
      </p:sp>
      <p:sp>
        <p:nvSpPr>
          <p:cNvPr id="331" name="Google Shape;331;p20"/>
          <p:cNvSpPr txBox="1"/>
          <p:nvPr/>
        </p:nvSpPr>
        <p:spPr>
          <a:xfrm>
            <a:off x="777240" y="3794760"/>
            <a:ext cx="219456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Lo bastante grande para tomar a la vez parte del detalle y de su fondo. Si no, solo se ven bordes y crece el ruido.</a:t>
            </a:r>
            <a:endParaRPr b="0" i="0" sz="1400" u="none" cap="none" strike="noStrike">
              <a:solidFill>
                <a:schemeClr val="dk1"/>
              </a:solidFill>
              <a:latin typeface="Times New Roman"/>
              <a:ea typeface="Times New Roman"/>
              <a:cs typeface="Times New Roman"/>
              <a:sym typeface="Times New Roman"/>
            </a:endParaRPr>
          </a:p>
        </p:txBody>
      </p:sp>
      <p:sp>
        <p:nvSpPr>
          <p:cNvPr id="332" name="Google Shape;332;p20"/>
          <p:cNvSpPr/>
          <p:nvPr/>
        </p:nvSpPr>
        <p:spPr>
          <a:xfrm>
            <a:off x="3353105" y="3108960"/>
            <a:ext cx="2651760" cy="237744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0"/>
          <p:cNvSpPr txBox="1"/>
          <p:nvPr/>
        </p:nvSpPr>
        <p:spPr>
          <a:xfrm>
            <a:off x="3581705" y="3246120"/>
            <a:ext cx="2194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Máximo</a:t>
            </a:r>
            <a:endParaRPr b="0" i="0" sz="1800" u="none" cap="none" strike="noStrike">
              <a:solidFill>
                <a:schemeClr val="dk1"/>
              </a:solidFill>
              <a:latin typeface="Times New Roman"/>
              <a:ea typeface="Times New Roman"/>
              <a:cs typeface="Times New Roman"/>
              <a:sym typeface="Times New Roman"/>
            </a:endParaRPr>
          </a:p>
        </p:txBody>
      </p:sp>
      <p:sp>
        <p:nvSpPr>
          <p:cNvPr id="334" name="Google Shape;334;p20"/>
          <p:cNvSpPr txBox="1"/>
          <p:nvPr/>
        </p:nvSpPr>
        <p:spPr>
          <a:xfrm>
            <a:off x="3581705" y="3794760"/>
            <a:ext cx="219456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Lo bastante chica para no salirse de la zona del detalle. Si no, el fondo claro vuelve a dominar el histograma.</a:t>
            </a:r>
            <a:endParaRPr b="0" i="0" sz="1400" u="none" cap="none" strike="noStrike">
              <a:solidFill>
                <a:schemeClr val="dk1"/>
              </a:solidFill>
              <a:latin typeface="Times New Roman"/>
              <a:ea typeface="Times New Roman"/>
              <a:cs typeface="Times New Roman"/>
              <a:sym typeface="Times New Roman"/>
            </a:endParaRPr>
          </a:p>
        </p:txBody>
      </p:sp>
      <p:sp>
        <p:nvSpPr>
          <p:cNvPr id="335" name="Google Shape;335;p20"/>
          <p:cNvSpPr/>
          <p:nvPr/>
        </p:nvSpPr>
        <p:spPr>
          <a:xfrm>
            <a:off x="6157570" y="3108960"/>
            <a:ext cx="2651760" cy="237744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0"/>
          <p:cNvSpPr txBox="1"/>
          <p:nvPr/>
        </p:nvSpPr>
        <p:spPr>
          <a:xfrm>
            <a:off x="6386170" y="3246120"/>
            <a:ext cx="2194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Orientación</a:t>
            </a:r>
            <a:endParaRPr b="0" i="0" sz="1800" u="none" cap="none" strike="noStrike">
              <a:solidFill>
                <a:schemeClr val="dk1"/>
              </a:solidFill>
              <a:latin typeface="Times New Roman"/>
              <a:ea typeface="Times New Roman"/>
              <a:cs typeface="Times New Roman"/>
              <a:sym typeface="Times New Roman"/>
            </a:endParaRPr>
          </a:p>
        </p:txBody>
      </p:sp>
      <p:sp>
        <p:nvSpPr>
          <p:cNvPr id="337" name="Google Shape;337;p20"/>
          <p:cNvSpPr txBox="1"/>
          <p:nvPr/>
        </p:nvSpPr>
        <p:spPr>
          <a:xfrm>
            <a:off x="6386170" y="3794760"/>
            <a:ext cx="219456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Con un detalle de dirección conocida conviene una ventana alargada en esa dirección. Si no se sabe, una cuadrada.</a:t>
            </a:r>
            <a:endParaRPr b="0" i="0" sz="1400" u="none" cap="none" strike="noStrike">
              <a:solidFill>
                <a:schemeClr val="dk1"/>
              </a:solidFill>
              <a:latin typeface="Times New Roman"/>
              <a:ea typeface="Times New Roman"/>
              <a:cs typeface="Times New Roman"/>
              <a:sym typeface="Times New Roman"/>
            </a:endParaRPr>
          </a:p>
        </p:txBody>
      </p:sp>
      <p:sp>
        <p:nvSpPr>
          <p:cNvPr id="338" name="Google Shape;338;p20"/>
          <p:cNvSpPr/>
          <p:nvPr/>
        </p:nvSpPr>
        <p:spPr>
          <a:xfrm>
            <a:off x="8962034" y="3108960"/>
            <a:ext cx="2651760" cy="237744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0"/>
          <p:cNvSpPr txBox="1"/>
          <p:nvPr/>
        </p:nvSpPr>
        <p:spPr>
          <a:xfrm>
            <a:off x="9190634" y="3246120"/>
            <a:ext cx="2194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Costo</a:t>
            </a:r>
            <a:endParaRPr b="0" i="0" sz="1800" u="none" cap="none" strike="noStrike">
              <a:solidFill>
                <a:schemeClr val="dk1"/>
              </a:solidFill>
              <a:latin typeface="Times New Roman"/>
              <a:ea typeface="Times New Roman"/>
              <a:cs typeface="Times New Roman"/>
              <a:sym typeface="Times New Roman"/>
            </a:endParaRPr>
          </a:p>
        </p:txBody>
      </p:sp>
      <p:sp>
        <p:nvSpPr>
          <p:cNvPr id="340" name="Google Shape;340;p20"/>
          <p:cNvSpPr txBox="1"/>
          <p:nvPr/>
        </p:nvSpPr>
        <p:spPr>
          <a:xfrm>
            <a:off x="9190634" y="3794760"/>
            <a:ext cx="219456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El tiempo crece con el tamaño: en cada píxel se calcula el histograma de M·N valores.</a:t>
            </a:r>
            <a:endParaRPr b="0" i="0" sz="1400" u="none" cap="none" strike="noStrike">
              <a:solidFill>
                <a:schemeClr val="dk1"/>
              </a:solidFill>
              <a:latin typeface="Times New Roman"/>
              <a:ea typeface="Times New Roman"/>
              <a:cs typeface="Times New Roman"/>
              <a:sym typeface="Times New Roman"/>
            </a:endParaRPr>
          </a:p>
        </p:txBody>
      </p:sp>
      <p:sp>
        <p:nvSpPr>
          <p:cNvPr id="341" name="Google Shape;341;p20"/>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1"/>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Cómo verificamos la función</a:t>
            </a:r>
            <a:endParaRPr sz="3400"/>
          </a:p>
        </p:txBody>
      </p:sp>
      <p:graphicFrame>
        <p:nvGraphicFramePr>
          <p:cNvPr id="348" name="Google Shape;348;p21"/>
          <p:cNvGraphicFramePr/>
          <p:nvPr/>
        </p:nvGraphicFramePr>
        <p:xfrm>
          <a:off x="548640" y="1371600"/>
          <a:ext cx="3000000" cy="3000000"/>
        </p:xfrm>
        <a:graphic>
          <a:graphicData uri="http://schemas.openxmlformats.org/drawingml/2006/table">
            <a:tbl>
              <a:tblPr>
                <a:noFill/>
                <a:tableStyleId>{E8F1A2DE-F75D-4E95-B11A-8404A869D89C}</a:tableStyleId>
              </a:tblPr>
              <a:tblGrid>
                <a:gridCol w="4937750"/>
                <a:gridCol w="6126475"/>
              </a:tblGrid>
              <a:tr h="457200">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Prueba</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Resultado</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r>
              <a:tr h="530350">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Imagen del TP (256x256), ventana 15x15</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Corre sin errores en unos 0,14 s; salida uint8 del mismo tamaño</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30350">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Ventanas 3x3, 3x7 (rectangular) y 1x1</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Salida del mismo tamaño que la entrada</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200">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M y N como np.int64</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Aceptados</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200">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M par (4x3), M = 0 y M = 3.0 (float)</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Lanzan ValueError</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30350">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Imagen sintética: cuadrado con 5 niveles de diferencia</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Tras la ecualización local la diferencia pasa a 255</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30350">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Ecualización global frente a local</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La global casi no cambia nada; la local deja ver el contenido de los 5 cuadrados</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49" name="Google Shape;349;p21"/>
          <p:cNvSpPr/>
          <p:nvPr/>
        </p:nvSpPr>
        <p:spPr>
          <a:xfrm>
            <a:off x="548640" y="5029200"/>
            <a:ext cx="5394960" cy="109728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1"/>
          <p:cNvSpPr txBox="1"/>
          <p:nvPr/>
        </p:nvSpPr>
        <p:spPr>
          <a:xfrm>
            <a:off x="640080" y="5029200"/>
            <a:ext cx="173736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5 → 255</a:t>
            </a:r>
            <a:endParaRPr b="0" i="0" sz="3200" u="none" cap="none" strike="noStrike">
              <a:solidFill>
                <a:schemeClr val="dk1"/>
              </a:solidFill>
              <a:latin typeface="Times New Roman"/>
              <a:ea typeface="Times New Roman"/>
              <a:cs typeface="Times New Roman"/>
              <a:sym typeface="Times New Roman"/>
            </a:endParaRPr>
          </a:p>
        </p:txBody>
      </p:sp>
      <p:sp>
        <p:nvSpPr>
          <p:cNvPr id="351" name="Google Shape;351;p21"/>
          <p:cNvSpPr txBox="1"/>
          <p:nvPr/>
        </p:nvSpPr>
        <p:spPr>
          <a:xfrm>
            <a:off x="2468880" y="5029200"/>
            <a:ext cx="333756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niveles de diferencia del cuadrado sintético, antes y después de la ecualización local</a:t>
            </a:r>
            <a:endParaRPr b="0" i="0" sz="1400" u="none" cap="none" strike="noStrike">
              <a:solidFill>
                <a:schemeClr val="dk1"/>
              </a:solidFill>
              <a:latin typeface="Times New Roman"/>
              <a:ea typeface="Times New Roman"/>
              <a:cs typeface="Times New Roman"/>
              <a:sym typeface="Times New Roman"/>
            </a:endParaRPr>
          </a:p>
        </p:txBody>
      </p:sp>
      <p:sp>
        <p:nvSpPr>
          <p:cNvPr id="352" name="Google Shape;352;p21"/>
          <p:cNvSpPr/>
          <p:nvPr/>
        </p:nvSpPr>
        <p:spPr>
          <a:xfrm>
            <a:off x="6217920" y="5029200"/>
            <a:ext cx="5394960" cy="109728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1"/>
          <p:cNvSpPr txBox="1"/>
          <p:nvPr/>
        </p:nvSpPr>
        <p:spPr>
          <a:xfrm>
            <a:off x="6309360" y="5029200"/>
            <a:ext cx="173736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0,14 s</a:t>
            </a:r>
            <a:endParaRPr b="0" i="0" sz="3200" u="none" cap="none" strike="noStrike">
              <a:solidFill>
                <a:schemeClr val="dk1"/>
              </a:solidFill>
              <a:latin typeface="Times New Roman"/>
              <a:ea typeface="Times New Roman"/>
              <a:cs typeface="Times New Roman"/>
              <a:sym typeface="Times New Roman"/>
            </a:endParaRPr>
          </a:p>
        </p:txBody>
      </p:sp>
      <p:sp>
        <p:nvSpPr>
          <p:cNvPr id="354" name="Google Shape;354;p21"/>
          <p:cNvSpPr txBox="1"/>
          <p:nvPr/>
        </p:nvSpPr>
        <p:spPr>
          <a:xfrm>
            <a:off x="8138160" y="5029200"/>
            <a:ext cx="333756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ventana 15x15 sobre 256x256, unas 65.536 llamadas a equalizeHist</a:t>
            </a:r>
            <a:endParaRPr b="0" i="0" sz="1400" u="none" cap="none" strike="noStrike">
              <a:solidFill>
                <a:schemeClr val="dk1"/>
              </a:solidFill>
              <a:latin typeface="Times New Roman"/>
              <a:ea typeface="Times New Roman"/>
              <a:cs typeface="Times New Roman"/>
              <a:sym typeface="Times New Roman"/>
            </a:endParaRPr>
          </a:p>
        </p:txBody>
      </p:sp>
      <p:sp>
        <p:nvSpPr>
          <p:cNvPr id="355" name="Google Shape;355;p21"/>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2"/>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De la imagen a los campos de la planilla</a:t>
            </a:r>
            <a:endParaRPr sz="3400"/>
          </a:p>
        </p:txBody>
      </p:sp>
      <p:sp>
        <p:nvSpPr>
          <p:cNvPr id="362" name="Google Shape;362;p22"/>
          <p:cNvSpPr/>
          <p:nvPr/>
        </p:nvSpPr>
        <p:spPr>
          <a:xfrm>
            <a:off x="548640" y="1417320"/>
            <a:ext cx="2011680" cy="233172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2"/>
          <p:cNvSpPr/>
          <p:nvPr/>
        </p:nvSpPr>
        <p:spPr>
          <a:xfrm>
            <a:off x="731520" y="1600200"/>
            <a:ext cx="457200" cy="4572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2"/>
          <p:cNvSpPr txBox="1"/>
          <p:nvPr/>
        </p:nvSpPr>
        <p:spPr>
          <a:xfrm>
            <a:off x="731520" y="16002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1</a:t>
            </a:r>
            <a:endParaRPr b="0" i="0" sz="1600" u="none" cap="none" strike="noStrike">
              <a:solidFill>
                <a:schemeClr val="dk1"/>
              </a:solidFill>
              <a:latin typeface="Times New Roman"/>
              <a:ea typeface="Times New Roman"/>
              <a:cs typeface="Times New Roman"/>
              <a:sym typeface="Times New Roman"/>
            </a:endParaRPr>
          </a:p>
        </p:txBody>
      </p:sp>
      <p:sp>
        <p:nvSpPr>
          <p:cNvPr id="365" name="Google Shape;365;p22"/>
          <p:cNvSpPr txBox="1"/>
          <p:nvPr/>
        </p:nvSpPr>
        <p:spPr>
          <a:xfrm>
            <a:off x="1280160" y="1600200"/>
            <a:ext cx="1188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Umbral</a:t>
            </a:r>
            <a:endParaRPr b="0" i="0" sz="1600" u="none" cap="none" strike="noStrike">
              <a:solidFill>
                <a:schemeClr val="dk1"/>
              </a:solidFill>
              <a:latin typeface="Times New Roman"/>
              <a:ea typeface="Times New Roman"/>
              <a:cs typeface="Times New Roman"/>
              <a:sym typeface="Times New Roman"/>
            </a:endParaRPr>
          </a:p>
        </p:txBody>
      </p:sp>
      <p:sp>
        <p:nvSpPr>
          <p:cNvPr id="366" name="Google Shape;366;p22"/>
          <p:cNvSpPr txBox="1"/>
          <p:nvPr/>
        </p:nvSpPr>
        <p:spPr>
          <a:xfrm>
            <a:off x="731520" y="2240280"/>
            <a:ext cx="164592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img &lt; 150: texto y líneas quedan en negro; los márgenes grises desaparecen.</a:t>
            </a:r>
            <a:endParaRPr b="0" i="0" sz="1400" u="none" cap="none" strike="noStrike">
              <a:solidFill>
                <a:schemeClr val="dk1"/>
              </a:solidFill>
              <a:latin typeface="Times New Roman"/>
              <a:ea typeface="Times New Roman"/>
              <a:cs typeface="Times New Roman"/>
              <a:sym typeface="Times New Roman"/>
            </a:endParaRPr>
          </a:p>
        </p:txBody>
      </p:sp>
      <p:sp>
        <p:nvSpPr>
          <p:cNvPr id="367" name="Google Shape;367;p22"/>
          <p:cNvSpPr/>
          <p:nvPr/>
        </p:nvSpPr>
        <p:spPr>
          <a:xfrm>
            <a:off x="2587752" y="2423160"/>
            <a:ext cx="196596" cy="320040"/>
          </a:xfrm>
          <a:prstGeom prst="rightArrow">
            <a:avLst>
              <a:gd fmla="val 50000" name="adj1"/>
              <a:gd fmla="val 50000" name="adj2"/>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2"/>
          <p:cNvSpPr/>
          <p:nvPr/>
        </p:nvSpPr>
        <p:spPr>
          <a:xfrm>
            <a:off x="2811780" y="1417320"/>
            <a:ext cx="2011680" cy="233172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2"/>
          <p:cNvSpPr/>
          <p:nvPr/>
        </p:nvSpPr>
        <p:spPr>
          <a:xfrm>
            <a:off x="2994660" y="1600200"/>
            <a:ext cx="457200" cy="4572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2"/>
          <p:cNvSpPr txBox="1"/>
          <p:nvPr/>
        </p:nvSpPr>
        <p:spPr>
          <a:xfrm>
            <a:off x="2994660" y="16002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2</a:t>
            </a:r>
            <a:endParaRPr b="0" i="0" sz="1600" u="none" cap="none" strike="noStrike">
              <a:solidFill>
                <a:schemeClr val="dk1"/>
              </a:solidFill>
              <a:latin typeface="Times New Roman"/>
              <a:ea typeface="Times New Roman"/>
              <a:cs typeface="Times New Roman"/>
              <a:sym typeface="Times New Roman"/>
            </a:endParaRPr>
          </a:p>
        </p:txBody>
      </p:sp>
      <p:sp>
        <p:nvSpPr>
          <p:cNvPr id="371" name="Google Shape;371;p22"/>
          <p:cNvSpPr txBox="1"/>
          <p:nvPr/>
        </p:nvSpPr>
        <p:spPr>
          <a:xfrm>
            <a:off x="3543300" y="1600200"/>
            <a:ext cx="1188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Sumas</a:t>
            </a:r>
            <a:endParaRPr b="0" i="0" sz="1600" u="none" cap="none" strike="noStrike">
              <a:solidFill>
                <a:schemeClr val="dk1"/>
              </a:solidFill>
              <a:latin typeface="Times New Roman"/>
              <a:ea typeface="Times New Roman"/>
              <a:cs typeface="Times New Roman"/>
              <a:sym typeface="Times New Roman"/>
            </a:endParaRPr>
          </a:p>
        </p:txBody>
      </p:sp>
      <p:sp>
        <p:nvSpPr>
          <p:cNvPr id="372" name="Google Shape;372;p22"/>
          <p:cNvSpPr txBox="1"/>
          <p:nvPr/>
        </p:nvSpPr>
        <p:spPr>
          <a:xfrm>
            <a:off x="2994660" y="2240280"/>
            <a:ext cx="164592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Píxeles oscuros por fila y por columna: 22 líneas horizontales y 8 verticales.</a:t>
            </a:r>
            <a:endParaRPr b="0" i="0" sz="1400" u="none" cap="none" strike="noStrike">
              <a:solidFill>
                <a:schemeClr val="dk1"/>
              </a:solidFill>
              <a:latin typeface="Times New Roman"/>
              <a:ea typeface="Times New Roman"/>
              <a:cs typeface="Times New Roman"/>
              <a:sym typeface="Times New Roman"/>
            </a:endParaRPr>
          </a:p>
        </p:txBody>
      </p:sp>
      <p:sp>
        <p:nvSpPr>
          <p:cNvPr id="373" name="Google Shape;373;p22"/>
          <p:cNvSpPr/>
          <p:nvPr/>
        </p:nvSpPr>
        <p:spPr>
          <a:xfrm>
            <a:off x="4850892" y="2423160"/>
            <a:ext cx="196596" cy="320040"/>
          </a:xfrm>
          <a:prstGeom prst="rightArrow">
            <a:avLst>
              <a:gd fmla="val 50000" name="adj1"/>
              <a:gd fmla="val 50000" name="adj2"/>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2"/>
          <p:cNvSpPr/>
          <p:nvPr/>
        </p:nvSpPr>
        <p:spPr>
          <a:xfrm>
            <a:off x="5074920" y="1417320"/>
            <a:ext cx="2011680" cy="233172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2"/>
          <p:cNvSpPr/>
          <p:nvPr/>
        </p:nvSpPr>
        <p:spPr>
          <a:xfrm>
            <a:off x="5257800" y="1600200"/>
            <a:ext cx="457200" cy="4572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2"/>
          <p:cNvSpPr txBox="1"/>
          <p:nvPr/>
        </p:nvSpPr>
        <p:spPr>
          <a:xfrm>
            <a:off x="5257800" y="16002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3</a:t>
            </a:r>
            <a:endParaRPr b="0" i="0" sz="1600" u="none" cap="none" strike="noStrike">
              <a:solidFill>
                <a:schemeClr val="dk1"/>
              </a:solidFill>
              <a:latin typeface="Times New Roman"/>
              <a:ea typeface="Times New Roman"/>
              <a:cs typeface="Times New Roman"/>
              <a:sym typeface="Times New Roman"/>
            </a:endParaRPr>
          </a:p>
        </p:txBody>
      </p:sp>
      <p:sp>
        <p:nvSpPr>
          <p:cNvPr id="377" name="Google Shape;377;p22"/>
          <p:cNvSpPr txBox="1"/>
          <p:nvPr/>
        </p:nvSpPr>
        <p:spPr>
          <a:xfrm>
            <a:off x="5806440" y="1600200"/>
            <a:ext cx="1188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Celdas</a:t>
            </a:r>
            <a:endParaRPr b="0" i="0" sz="1600" u="none" cap="none" strike="noStrike">
              <a:solidFill>
                <a:schemeClr val="dk1"/>
              </a:solidFill>
              <a:latin typeface="Times New Roman"/>
              <a:ea typeface="Times New Roman"/>
              <a:cs typeface="Times New Roman"/>
              <a:sym typeface="Times New Roman"/>
            </a:endParaRPr>
          </a:p>
        </p:txBody>
      </p:sp>
      <p:sp>
        <p:nvSpPr>
          <p:cNvPr id="378" name="Google Shape;378;p22"/>
          <p:cNvSpPr txBox="1"/>
          <p:nvPr/>
        </p:nvSpPr>
        <p:spPr>
          <a:xfrm>
            <a:off x="5257800" y="2240280"/>
            <a:ext cx="164592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Cada celda es el rectángulo entre dos líneas consecutivas.</a:t>
            </a:r>
            <a:endParaRPr b="0" i="0" sz="1400" u="none" cap="none" strike="noStrike">
              <a:solidFill>
                <a:schemeClr val="dk1"/>
              </a:solidFill>
              <a:latin typeface="Times New Roman"/>
              <a:ea typeface="Times New Roman"/>
              <a:cs typeface="Times New Roman"/>
              <a:sym typeface="Times New Roman"/>
            </a:endParaRPr>
          </a:p>
        </p:txBody>
      </p:sp>
      <p:sp>
        <p:nvSpPr>
          <p:cNvPr id="379" name="Google Shape;379;p22"/>
          <p:cNvSpPr/>
          <p:nvPr/>
        </p:nvSpPr>
        <p:spPr>
          <a:xfrm>
            <a:off x="7114032" y="2423160"/>
            <a:ext cx="196596" cy="320040"/>
          </a:xfrm>
          <a:prstGeom prst="rightArrow">
            <a:avLst>
              <a:gd fmla="val 50000" name="adj1"/>
              <a:gd fmla="val 50000" name="adj2"/>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2"/>
          <p:cNvSpPr/>
          <p:nvPr/>
        </p:nvSpPr>
        <p:spPr>
          <a:xfrm>
            <a:off x="7338060" y="1417320"/>
            <a:ext cx="2011680" cy="233172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2"/>
          <p:cNvSpPr/>
          <p:nvPr/>
        </p:nvSpPr>
        <p:spPr>
          <a:xfrm>
            <a:off x="7520940" y="1600200"/>
            <a:ext cx="457200" cy="4572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2"/>
          <p:cNvSpPr txBox="1"/>
          <p:nvPr/>
        </p:nvSpPr>
        <p:spPr>
          <a:xfrm>
            <a:off x="7520940" y="16002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4</a:t>
            </a:r>
            <a:endParaRPr b="0" i="0" sz="1600" u="none" cap="none" strike="noStrike">
              <a:solidFill>
                <a:schemeClr val="dk1"/>
              </a:solidFill>
              <a:latin typeface="Times New Roman"/>
              <a:ea typeface="Times New Roman"/>
              <a:cs typeface="Times New Roman"/>
              <a:sym typeface="Times New Roman"/>
            </a:endParaRPr>
          </a:p>
        </p:txBody>
      </p:sp>
      <p:sp>
        <p:nvSpPr>
          <p:cNvPr id="383" name="Google Shape;383;p22"/>
          <p:cNvSpPr txBox="1"/>
          <p:nvPr/>
        </p:nvSpPr>
        <p:spPr>
          <a:xfrm>
            <a:off x="8069580" y="1600200"/>
            <a:ext cx="1188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Componentes</a:t>
            </a:r>
            <a:endParaRPr b="0" i="0" sz="1600" u="none" cap="none" strike="noStrike">
              <a:solidFill>
                <a:schemeClr val="dk1"/>
              </a:solidFill>
              <a:latin typeface="Times New Roman"/>
              <a:ea typeface="Times New Roman"/>
              <a:cs typeface="Times New Roman"/>
              <a:sym typeface="Times New Roman"/>
            </a:endParaRPr>
          </a:p>
        </p:txBody>
      </p:sp>
      <p:sp>
        <p:nvSpPr>
          <p:cNvPr id="384" name="Google Shape;384;p22"/>
          <p:cNvSpPr txBox="1"/>
          <p:nvPr/>
        </p:nvSpPr>
        <p:spPr>
          <a:xfrm>
            <a:off x="7520940" y="2240280"/>
            <a:ext cx="164592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Cada carácter es una componente conectada, con conectividad 8.</a:t>
            </a:r>
            <a:endParaRPr b="0" i="0" sz="1400" u="none" cap="none" strike="noStrike">
              <a:solidFill>
                <a:schemeClr val="dk1"/>
              </a:solidFill>
              <a:latin typeface="Times New Roman"/>
              <a:ea typeface="Times New Roman"/>
              <a:cs typeface="Times New Roman"/>
              <a:sym typeface="Times New Roman"/>
            </a:endParaRPr>
          </a:p>
        </p:txBody>
      </p:sp>
      <p:sp>
        <p:nvSpPr>
          <p:cNvPr id="385" name="Google Shape;385;p22"/>
          <p:cNvSpPr/>
          <p:nvPr/>
        </p:nvSpPr>
        <p:spPr>
          <a:xfrm>
            <a:off x="9377172" y="2423160"/>
            <a:ext cx="196596" cy="320040"/>
          </a:xfrm>
          <a:prstGeom prst="rightArrow">
            <a:avLst>
              <a:gd fmla="val 50000" name="adj1"/>
              <a:gd fmla="val 50000" name="adj2"/>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2"/>
          <p:cNvSpPr/>
          <p:nvPr/>
        </p:nvSpPr>
        <p:spPr>
          <a:xfrm>
            <a:off x="9601200" y="1417320"/>
            <a:ext cx="2011680" cy="233172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2"/>
          <p:cNvSpPr/>
          <p:nvPr/>
        </p:nvSpPr>
        <p:spPr>
          <a:xfrm>
            <a:off x="9784080" y="1600200"/>
            <a:ext cx="457200" cy="4572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2"/>
          <p:cNvSpPr txBox="1"/>
          <p:nvPr/>
        </p:nvSpPr>
        <p:spPr>
          <a:xfrm>
            <a:off x="9784080" y="16002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5</a:t>
            </a:r>
            <a:endParaRPr b="0" i="0" sz="1600" u="none" cap="none" strike="noStrike">
              <a:solidFill>
                <a:schemeClr val="dk1"/>
              </a:solidFill>
              <a:latin typeface="Times New Roman"/>
              <a:ea typeface="Times New Roman"/>
              <a:cs typeface="Times New Roman"/>
              <a:sym typeface="Times New Roman"/>
            </a:endParaRPr>
          </a:p>
        </p:txBody>
      </p:sp>
      <p:sp>
        <p:nvSpPr>
          <p:cNvPr id="389" name="Google Shape;389;p22"/>
          <p:cNvSpPr txBox="1"/>
          <p:nvPr/>
        </p:nvSpPr>
        <p:spPr>
          <a:xfrm>
            <a:off x="10332720" y="1600200"/>
            <a:ext cx="1188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Reglas</a:t>
            </a:r>
            <a:endParaRPr b="0" i="0" sz="1600" u="none" cap="none" strike="noStrike">
              <a:solidFill>
                <a:schemeClr val="dk1"/>
              </a:solidFill>
              <a:latin typeface="Times New Roman"/>
              <a:ea typeface="Times New Roman"/>
              <a:cs typeface="Times New Roman"/>
              <a:sym typeface="Times New Roman"/>
            </a:endParaRPr>
          </a:p>
        </p:txBody>
      </p:sp>
      <p:sp>
        <p:nvSpPr>
          <p:cNvPr id="390" name="Google Shape;390;p22"/>
          <p:cNvSpPr txBox="1"/>
          <p:nvPr/>
        </p:nvSpPr>
        <p:spPr>
          <a:xfrm>
            <a:off x="9784080" y="2240280"/>
            <a:ext cx="164592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Cuenta caracteres y palabras por campo; L, R y A por su forma.</a:t>
            </a:r>
            <a:endParaRPr b="0" i="0" sz="1400" u="none" cap="none" strike="noStrike">
              <a:solidFill>
                <a:schemeClr val="dk1"/>
              </a:solidFill>
              <a:latin typeface="Times New Roman"/>
              <a:ea typeface="Times New Roman"/>
              <a:cs typeface="Times New Roman"/>
              <a:sym typeface="Times New Roman"/>
            </a:endParaRPr>
          </a:p>
        </p:txBody>
      </p:sp>
      <p:pic>
        <p:nvPicPr>
          <p:cNvPr descr="Planilla 1 en escala de grises y umbralada" id="391" name="Google Shape;391;p22"/>
          <p:cNvPicPr preferRelativeResize="0"/>
          <p:nvPr/>
        </p:nvPicPr>
        <p:blipFill rotWithShape="1">
          <a:blip r:embed="rId3">
            <a:alphaModFix/>
          </a:blip>
          <a:srcRect b="0" l="0" r="0" t="0"/>
          <a:stretch/>
        </p:blipFill>
        <p:spPr>
          <a:xfrm>
            <a:off x="758666" y="4023360"/>
            <a:ext cx="4700588" cy="2148840"/>
          </a:xfrm>
          <a:prstGeom prst="rect">
            <a:avLst/>
          </a:prstGeom>
          <a:noFill/>
          <a:ln>
            <a:noFill/>
          </a:ln>
        </p:spPr>
      </p:pic>
      <p:sp>
        <p:nvSpPr>
          <p:cNvPr id="392" name="Google Shape;392;p22"/>
          <p:cNvSpPr/>
          <p:nvPr/>
        </p:nvSpPr>
        <p:spPr>
          <a:xfrm>
            <a:off x="758666" y="4023360"/>
            <a:ext cx="4700588" cy="214884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2"/>
          <p:cNvSpPr txBox="1"/>
          <p:nvPr/>
        </p:nvSpPr>
        <p:spPr>
          <a:xfrm>
            <a:off x="5943600" y="4023360"/>
            <a:ext cx="56692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Times New Roman"/>
              <a:buNone/>
            </a:pPr>
            <a:r>
              <a:rPr b="1" i="0" lang="en-US" sz="1200" u="none" cap="none" strike="noStrike">
                <a:solidFill>
                  <a:schemeClr val="dk1"/>
                </a:solidFill>
                <a:latin typeface="Times New Roman"/>
                <a:ea typeface="Times New Roman"/>
                <a:cs typeface="Times New Roman"/>
                <a:sym typeface="Times New Roman"/>
              </a:rPr>
              <a:t>Figura 10. </a:t>
            </a:r>
            <a:r>
              <a:rPr b="0" i="0" lang="en-US" sz="1200" u="none" cap="none" strike="noStrike">
                <a:solidFill>
                  <a:schemeClr val="dk1"/>
                </a:solidFill>
                <a:latin typeface="Times New Roman"/>
                <a:ea typeface="Times New Roman"/>
                <a:cs typeface="Times New Roman"/>
                <a:sym typeface="Times New Roman"/>
              </a:rPr>
              <a:t>Planilla 1 en grises y umbralada con img &lt; 150.</a:t>
            </a:r>
            <a:endParaRPr b="0" i="0" sz="1200" u="none" cap="none" strike="noStrike">
              <a:solidFill>
                <a:schemeClr val="dk1"/>
              </a:solidFill>
              <a:latin typeface="Times New Roman"/>
              <a:ea typeface="Times New Roman"/>
              <a:cs typeface="Times New Roman"/>
              <a:sym typeface="Times New Roman"/>
            </a:endParaRPr>
          </a:p>
        </p:txBody>
      </p:sp>
      <p:sp>
        <p:nvSpPr>
          <p:cNvPr id="394" name="Google Shape;394;p22"/>
          <p:cNvSpPr txBox="1"/>
          <p:nvPr/>
        </p:nvSpPr>
        <p:spPr>
          <a:xfrm>
            <a:off x="5943600" y="4572000"/>
            <a:ext cx="566928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Las cuatro planillas tienen tamaños distintos (1107x867, 1029x869, 1106x869 y 917x1082), por eso los umbrales de línea son relativos al máximo de cada una.</a:t>
            </a:r>
            <a:endParaRPr b="0" i="0" sz="1600" u="none" cap="none" strike="noStrike">
              <a:solidFill>
                <a:schemeClr val="dk1"/>
              </a:solidFill>
              <a:latin typeface="Times New Roman"/>
              <a:ea typeface="Times New Roman"/>
              <a:cs typeface="Times New Roman"/>
              <a:sym typeface="Times New Roman"/>
            </a:endParaRPr>
          </a:p>
        </p:txBody>
      </p:sp>
      <p:sp>
        <p:nvSpPr>
          <p:cNvPr id="395" name="Google Shape;395;p22"/>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3"/>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Binarizado y umbrales</a:t>
            </a:r>
            <a:endParaRPr sz="3400"/>
          </a:p>
        </p:txBody>
      </p:sp>
      <p:graphicFrame>
        <p:nvGraphicFramePr>
          <p:cNvPr id="402" name="Google Shape;402;p23"/>
          <p:cNvGraphicFramePr/>
          <p:nvPr/>
        </p:nvGraphicFramePr>
        <p:xfrm>
          <a:off x="548640" y="1371600"/>
          <a:ext cx="3000000" cy="3000000"/>
        </p:xfrm>
        <a:graphic>
          <a:graphicData uri="http://schemas.openxmlformats.org/drawingml/2006/table">
            <a:tbl>
              <a:tblPr>
                <a:noFill/>
                <a:tableStyleId>{E8F1A2DE-F75D-4E95-B11A-8404A869D89C}</a:tableStyleId>
              </a:tblPr>
              <a:tblGrid>
                <a:gridCol w="2468875"/>
                <a:gridCol w="1920250"/>
                <a:gridCol w="6675125"/>
              </a:tblGrid>
              <a:tr h="457200">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Parámetro</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Valor</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Por qué</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r>
              <a:tr h="713225">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Binarizado</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img &lt; 150</a:t>
                      </a:r>
                      <a:endParaRPr sz="1400" u="none" cap="none" strike="noStrike">
                        <a:latin typeface="Courier New"/>
                        <a:ea typeface="Courier New"/>
                        <a:cs typeface="Courier New"/>
                        <a:sym typeface="Courier New"/>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Los márgenes grises de la hoja valen entre 178 y 201 y no se cuelan; el texto y las líneas son casi negros.</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13225">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Líneas horizontales</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80% del máximo</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Umbral relativo: las cuatro planillas tienen tamaños distintos. La línea bajo “Notas” es más corta y queda afuera.</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13225">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Líneas verticales</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60% del máximo</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Las divisiones de los parciales son más cortas. Las 8 líneas llegan al 83% o más; ninguna otra columna pasa del 37%.</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13225">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Área mínima</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&gt; 1</a:t>
                      </a:r>
                      <a:endParaRPr sz="1400" u="none" cap="none" strike="noStrike">
                        <a:latin typeface="Courier New"/>
                        <a:ea typeface="Courier New"/>
                        <a:cs typeface="Courier New"/>
                        <a:sym typeface="Courier New"/>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Solo descarta píxeles sueltos: el guion mide 4 a 5 px de área y el punto de “1.0”, 3.</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13225">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Espacio entre palabras</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6 px</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Entre letras hay de 0 a 4 px y entre palabras de 10 a 13 px: 6 queda en el medio.</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403" name="Google Shape;403;p23"/>
          <p:cNvSpPr txBox="1"/>
          <p:nvPr/>
        </p:nvSpPr>
        <p:spPr>
          <a:xfrm>
            <a:off x="548640" y="5669280"/>
            <a:ext cx="110642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Ningún umbral sale del material de la cátedra: la consigna pide definir “un umbral acorde” y los ajustamos mirando las cuatro planillas.</a:t>
            </a:r>
            <a:endParaRPr b="0" i="0" sz="1400" u="none" cap="none" strike="noStrike">
              <a:solidFill>
                <a:schemeClr val="dk1"/>
              </a:solidFill>
              <a:latin typeface="Times New Roman"/>
              <a:ea typeface="Times New Roman"/>
              <a:cs typeface="Times New Roman"/>
              <a:sym typeface="Times New Roman"/>
            </a:endParaRPr>
          </a:p>
        </p:txBody>
      </p:sp>
      <p:sp>
        <p:nvSpPr>
          <p:cNvPr id="404" name="Google Shape;404;p23"/>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4"/>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Las líneas de la tabla salen de las sumas</a:t>
            </a:r>
            <a:endParaRPr sz="3400"/>
          </a:p>
        </p:txBody>
      </p:sp>
      <p:pic>
        <p:nvPicPr>
          <p:cNvPr descr="Suma de píxeles oscuros por fila y por columna con el umbral en rojo" id="411" name="Google Shape;411;p24"/>
          <p:cNvPicPr preferRelativeResize="0"/>
          <p:nvPr/>
        </p:nvPicPr>
        <p:blipFill rotWithShape="1">
          <a:blip r:embed="rId3">
            <a:alphaModFix/>
          </a:blip>
          <a:srcRect b="0" l="0" r="0" t="0"/>
          <a:stretch/>
        </p:blipFill>
        <p:spPr>
          <a:xfrm>
            <a:off x="548640" y="1391194"/>
            <a:ext cx="11064240" cy="3161211"/>
          </a:xfrm>
          <a:prstGeom prst="rect">
            <a:avLst/>
          </a:prstGeom>
          <a:noFill/>
          <a:ln>
            <a:noFill/>
          </a:ln>
        </p:spPr>
      </p:pic>
      <p:sp>
        <p:nvSpPr>
          <p:cNvPr id="412" name="Google Shape;412;p24"/>
          <p:cNvSpPr/>
          <p:nvPr/>
        </p:nvSpPr>
        <p:spPr>
          <a:xfrm>
            <a:off x="548640" y="1391194"/>
            <a:ext cx="11064240" cy="3161211"/>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4"/>
          <p:cNvSpPr txBox="1"/>
          <p:nvPr/>
        </p:nvSpPr>
        <p:spPr>
          <a:xfrm>
            <a:off x="548640" y="4643846"/>
            <a:ext cx="110642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Times New Roman"/>
              <a:buNone/>
            </a:pPr>
            <a:r>
              <a:rPr b="1" i="0" lang="en-US" sz="1200" u="none" cap="none" strike="noStrike">
                <a:solidFill>
                  <a:schemeClr val="dk1"/>
                </a:solidFill>
                <a:latin typeface="Times New Roman"/>
                <a:ea typeface="Times New Roman"/>
                <a:cs typeface="Times New Roman"/>
                <a:sym typeface="Times New Roman"/>
              </a:rPr>
              <a:t>Figura 11. </a:t>
            </a:r>
            <a:r>
              <a:rPr b="0" i="0" lang="en-US" sz="1200" u="none" cap="none" strike="noStrike">
                <a:solidFill>
                  <a:schemeClr val="dk1"/>
                </a:solidFill>
                <a:latin typeface="Times New Roman"/>
                <a:ea typeface="Times New Roman"/>
                <a:cs typeface="Times New Roman"/>
                <a:sym typeface="Times New Roman"/>
              </a:rPr>
              <a:t>Píxeles oscuros por fila y por columna. La línea roja es el umbral: los picos que lo superan son las líneas de la tabla.</a:t>
            </a:r>
            <a:endParaRPr b="0" i="0" sz="1200" u="none" cap="none" strike="noStrike">
              <a:solidFill>
                <a:schemeClr val="dk1"/>
              </a:solidFill>
              <a:latin typeface="Times New Roman"/>
              <a:ea typeface="Times New Roman"/>
              <a:cs typeface="Times New Roman"/>
              <a:sym typeface="Times New Roman"/>
            </a:endParaRPr>
          </a:p>
        </p:txBody>
      </p:sp>
      <p:sp>
        <p:nvSpPr>
          <p:cNvPr id="414" name="Google Shape;414;p24"/>
          <p:cNvSpPr/>
          <p:nvPr/>
        </p:nvSpPr>
        <p:spPr>
          <a:xfrm>
            <a:off x="548640" y="4983480"/>
            <a:ext cx="3566160" cy="123444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4"/>
          <p:cNvSpPr txBox="1"/>
          <p:nvPr/>
        </p:nvSpPr>
        <p:spPr>
          <a:xfrm>
            <a:off x="685800" y="5029200"/>
            <a:ext cx="1188720" cy="114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4800"/>
              <a:buFont typeface="Times New Roman"/>
              <a:buNone/>
            </a:pPr>
            <a:r>
              <a:rPr b="1" i="0" lang="en-US" sz="4800" u="none" cap="none" strike="noStrike">
                <a:solidFill>
                  <a:schemeClr val="dk1"/>
                </a:solidFill>
                <a:latin typeface="Times New Roman"/>
                <a:ea typeface="Times New Roman"/>
                <a:cs typeface="Times New Roman"/>
                <a:sym typeface="Times New Roman"/>
              </a:rPr>
              <a:t>22</a:t>
            </a:r>
            <a:endParaRPr b="0" i="0" sz="4800" u="none" cap="none" strike="noStrike">
              <a:solidFill>
                <a:schemeClr val="dk1"/>
              </a:solidFill>
              <a:latin typeface="Times New Roman"/>
              <a:ea typeface="Times New Roman"/>
              <a:cs typeface="Times New Roman"/>
              <a:sym typeface="Times New Roman"/>
            </a:endParaRPr>
          </a:p>
        </p:txBody>
      </p:sp>
      <p:sp>
        <p:nvSpPr>
          <p:cNvPr id="416" name="Google Shape;416;p24"/>
          <p:cNvSpPr txBox="1"/>
          <p:nvPr/>
        </p:nvSpPr>
        <p:spPr>
          <a:xfrm>
            <a:off x="1920240" y="5029200"/>
            <a:ext cx="210312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líneas horizontales en las cuatro planillas</a:t>
            </a:r>
            <a:endParaRPr b="0" i="0" sz="1400" u="none" cap="none" strike="noStrike">
              <a:solidFill>
                <a:schemeClr val="dk1"/>
              </a:solidFill>
              <a:latin typeface="Times New Roman"/>
              <a:ea typeface="Times New Roman"/>
              <a:cs typeface="Times New Roman"/>
              <a:sym typeface="Times New Roman"/>
            </a:endParaRPr>
          </a:p>
        </p:txBody>
      </p:sp>
      <p:sp>
        <p:nvSpPr>
          <p:cNvPr id="417" name="Google Shape;417;p24"/>
          <p:cNvSpPr/>
          <p:nvPr/>
        </p:nvSpPr>
        <p:spPr>
          <a:xfrm>
            <a:off x="4343400" y="4983480"/>
            <a:ext cx="3566160" cy="123444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4"/>
          <p:cNvSpPr txBox="1"/>
          <p:nvPr/>
        </p:nvSpPr>
        <p:spPr>
          <a:xfrm>
            <a:off x="4480560" y="5029200"/>
            <a:ext cx="1188720" cy="114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4800"/>
              <a:buFont typeface="Times New Roman"/>
              <a:buNone/>
            </a:pPr>
            <a:r>
              <a:rPr b="1" i="0" lang="en-US" sz="4800" u="none" cap="none" strike="noStrike">
                <a:solidFill>
                  <a:schemeClr val="dk1"/>
                </a:solidFill>
                <a:latin typeface="Times New Roman"/>
                <a:ea typeface="Times New Roman"/>
                <a:cs typeface="Times New Roman"/>
                <a:sym typeface="Times New Roman"/>
              </a:rPr>
              <a:t>8</a:t>
            </a:r>
            <a:endParaRPr b="0" i="0" sz="4800" u="none" cap="none" strike="noStrike">
              <a:solidFill>
                <a:schemeClr val="dk1"/>
              </a:solidFill>
              <a:latin typeface="Times New Roman"/>
              <a:ea typeface="Times New Roman"/>
              <a:cs typeface="Times New Roman"/>
              <a:sym typeface="Times New Roman"/>
            </a:endParaRPr>
          </a:p>
        </p:txBody>
      </p:sp>
      <p:sp>
        <p:nvSpPr>
          <p:cNvPr id="419" name="Google Shape;419;p24"/>
          <p:cNvSpPr txBox="1"/>
          <p:nvPr/>
        </p:nvSpPr>
        <p:spPr>
          <a:xfrm>
            <a:off x="5715000" y="5029200"/>
            <a:ext cx="210312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líneas verticales en las cuatro planillas</a:t>
            </a:r>
            <a:endParaRPr b="0" i="0" sz="1400" u="none" cap="none" strike="noStrike">
              <a:solidFill>
                <a:schemeClr val="dk1"/>
              </a:solidFill>
              <a:latin typeface="Times New Roman"/>
              <a:ea typeface="Times New Roman"/>
              <a:cs typeface="Times New Roman"/>
              <a:sym typeface="Times New Roman"/>
            </a:endParaRPr>
          </a:p>
        </p:txBody>
      </p:sp>
      <p:sp>
        <p:nvSpPr>
          <p:cNvPr id="420" name="Google Shape;420;p24"/>
          <p:cNvSpPr/>
          <p:nvPr/>
        </p:nvSpPr>
        <p:spPr>
          <a:xfrm>
            <a:off x="8138160" y="4983480"/>
            <a:ext cx="3474720" cy="1234440"/>
          </a:xfrm>
          <a:prstGeom prst="rect">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4"/>
          <p:cNvSpPr txBox="1"/>
          <p:nvPr/>
        </p:nvSpPr>
        <p:spPr>
          <a:xfrm>
            <a:off x="8321040" y="5029200"/>
            <a:ext cx="310896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Filas: 0,8 × máximo</a:t>
            </a:r>
            <a:endParaRPr b="0" i="0" sz="16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Columnas: 0,6 × máximo</a:t>
            </a:r>
            <a:endParaRPr b="0" i="0" sz="1600" u="none" cap="none" strike="noStrike">
              <a:solidFill>
                <a:schemeClr val="dk1"/>
              </a:solidFill>
              <a:latin typeface="Times New Roman"/>
              <a:ea typeface="Times New Roman"/>
              <a:cs typeface="Times New Roman"/>
              <a:sym typeface="Times New Roman"/>
            </a:endParaRPr>
          </a:p>
        </p:txBody>
      </p:sp>
      <p:sp>
        <p:nvSpPr>
          <p:cNvPr id="422" name="Google Shape;422;p24"/>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5"/>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Inicio y fin de cada línea</a:t>
            </a:r>
            <a:endParaRPr sz="3400"/>
          </a:p>
        </p:txBody>
      </p:sp>
      <p:sp>
        <p:nvSpPr>
          <p:cNvPr id="429" name="Google Shape;429;p25"/>
          <p:cNvSpPr txBox="1"/>
          <p:nvPr/>
        </p:nvSpPr>
        <p:spPr>
          <a:xfrm>
            <a:off x="548640" y="1463040"/>
            <a:ext cx="11064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Vector booleano de filas: True donde la suma supera el umbral</a:t>
            </a:r>
            <a:endParaRPr b="0" i="0" sz="1600" u="none" cap="none" strike="noStrike">
              <a:solidFill>
                <a:schemeClr val="dk1"/>
              </a:solidFill>
              <a:latin typeface="Times New Roman"/>
              <a:ea typeface="Times New Roman"/>
              <a:cs typeface="Times New Roman"/>
              <a:sym typeface="Times New Roman"/>
            </a:endParaRPr>
          </a:p>
        </p:txBody>
      </p:sp>
      <p:sp>
        <p:nvSpPr>
          <p:cNvPr id="430" name="Google Shape;430;p25"/>
          <p:cNvSpPr/>
          <p:nvPr/>
        </p:nvSpPr>
        <p:spPr>
          <a:xfrm>
            <a:off x="1234440" y="2011680"/>
            <a:ext cx="365760" cy="36576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5"/>
          <p:cNvSpPr/>
          <p:nvPr/>
        </p:nvSpPr>
        <p:spPr>
          <a:xfrm>
            <a:off x="1600200" y="2011680"/>
            <a:ext cx="365760" cy="36576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5"/>
          <p:cNvSpPr/>
          <p:nvPr/>
        </p:nvSpPr>
        <p:spPr>
          <a:xfrm>
            <a:off x="1965960" y="2011680"/>
            <a:ext cx="365760" cy="36576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5"/>
          <p:cNvSpPr/>
          <p:nvPr/>
        </p:nvSpPr>
        <p:spPr>
          <a:xfrm>
            <a:off x="2331720" y="2011680"/>
            <a:ext cx="365760" cy="365760"/>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5"/>
          <p:cNvSpPr/>
          <p:nvPr/>
        </p:nvSpPr>
        <p:spPr>
          <a:xfrm>
            <a:off x="2697480" y="2011680"/>
            <a:ext cx="365760" cy="365760"/>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5"/>
          <p:cNvSpPr/>
          <p:nvPr/>
        </p:nvSpPr>
        <p:spPr>
          <a:xfrm>
            <a:off x="3063240" y="2011680"/>
            <a:ext cx="365760" cy="365760"/>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5"/>
          <p:cNvSpPr/>
          <p:nvPr/>
        </p:nvSpPr>
        <p:spPr>
          <a:xfrm>
            <a:off x="3429000" y="2011680"/>
            <a:ext cx="365760" cy="36576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5"/>
          <p:cNvSpPr/>
          <p:nvPr/>
        </p:nvSpPr>
        <p:spPr>
          <a:xfrm>
            <a:off x="3794760" y="2011680"/>
            <a:ext cx="365760" cy="36576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5"/>
          <p:cNvSpPr/>
          <p:nvPr/>
        </p:nvSpPr>
        <p:spPr>
          <a:xfrm>
            <a:off x="4160520" y="2011680"/>
            <a:ext cx="365760" cy="36576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5"/>
          <p:cNvSpPr/>
          <p:nvPr/>
        </p:nvSpPr>
        <p:spPr>
          <a:xfrm>
            <a:off x="4526280" y="2011680"/>
            <a:ext cx="365760" cy="36576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5"/>
          <p:cNvSpPr/>
          <p:nvPr/>
        </p:nvSpPr>
        <p:spPr>
          <a:xfrm>
            <a:off x="4892040" y="2011680"/>
            <a:ext cx="365760" cy="365760"/>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5"/>
          <p:cNvSpPr/>
          <p:nvPr/>
        </p:nvSpPr>
        <p:spPr>
          <a:xfrm>
            <a:off x="5257800" y="2011680"/>
            <a:ext cx="365760" cy="36576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5"/>
          <p:cNvSpPr/>
          <p:nvPr/>
        </p:nvSpPr>
        <p:spPr>
          <a:xfrm>
            <a:off x="5623560" y="2011680"/>
            <a:ext cx="365760" cy="36576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5"/>
          <p:cNvSpPr/>
          <p:nvPr/>
        </p:nvSpPr>
        <p:spPr>
          <a:xfrm>
            <a:off x="5989320" y="2011680"/>
            <a:ext cx="365760" cy="36576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5"/>
          <p:cNvSpPr/>
          <p:nvPr/>
        </p:nvSpPr>
        <p:spPr>
          <a:xfrm>
            <a:off x="6355080" y="2011680"/>
            <a:ext cx="365760" cy="365760"/>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5"/>
          <p:cNvSpPr/>
          <p:nvPr/>
        </p:nvSpPr>
        <p:spPr>
          <a:xfrm>
            <a:off x="6720840" y="2011680"/>
            <a:ext cx="365760" cy="365760"/>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5"/>
          <p:cNvSpPr/>
          <p:nvPr/>
        </p:nvSpPr>
        <p:spPr>
          <a:xfrm>
            <a:off x="7086600" y="2011680"/>
            <a:ext cx="365760" cy="36576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5"/>
          <p:cNvSpPr/>
          <p:nvPr/>
        </p:nvSpPr>
        <p:spPr>
          <a:xfrm>
            <a:off x="7452360" y="2011680"/>
            <a:ext cx="365760" cy="36576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5"/>
          <p:cNvSpPr/>
          <p:nvPr/>
        </p:nvSpPr>
        <p:spPr>
          <a:xfrm>
            <a:off x="7818120" y="2011680"/>
            <a:ext cx="365760" cy="36576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5"/>
          <p:cNvSpPr/>
          <p:nvPr/>
        </p:nvSpPr>
        <p:spPr>
          <a:xfrm>
            <a:off x="8183880" y="2011680"/>
            <a:ext cx="365760" cy="36576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5"/>
          <p:cNvSpPr/>
          <p:nvPr/>
        </p:nvSpPr>
        <p:spPr>
          <a:xfrm>
            <a:off x="8549640" y="2011680"/>
            <a:ext cx="365760" cy="365760"/>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5"/>
          <p:cNvSpPr/>
          <p:nvPr/>
        </p:nvSpPr>
        <p:spPr>
          <a:xfrm>
            <a:off x="8915400" y="2011680"/>
            <a:ext cx="365760" cy="365760"/>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5"/>
          <p:cNvSpPr/>
          <p:nvPr/>
        </p:nvSpPr>
        <p:spPr>
          <a:xfrm>
            <a:off x="9281160" y="2011680"/>
            <a:ext cx="365760" cy="365760"/>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5"/>
          <p:cNvSpPr/>
          <p:nvPr/>
        </p:nvSpPr>
        <p:spPr>
          <a:xfrm>
            <a:off x="9646920" y="2011680"/>
            <a:ext cx="365760" cy="365760"/>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5"/>
          <p:cNvSpPr/>
          <p:nvPr/>
        </p:nvSpPr>
        <p:spPr>
          <a:xfrm>
            <a:off x="10012680" y="2011680"/>
            <a:ext cx="365760" cy="36576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5"/>
          <p:cNvSpPr/>
          <p:nvPr/>
        </p:nvSpPr>
        <p:spPr>
          <a:xfrm>
            <a:off x="10378440" y="2011680"/>
            <a:ext cx="365760" cy="36576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5"/>
          <p:cNvSpPr txBox="1"/>
          <p:nvPr/>
        </p:nvSpPr>
        <p:spPr>
          <a:xfrm>
            <a:off x="2331720" y="2468880"/>
            <a:ext cx="10972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[3, 5]</a:t>
            </a:r>
            <a:endParaRPr b="0" i="0" sz="1400" u="none" cap="none" strike="noStrike">
              <a:solidFill>
                <a:schemeClr val="dk1"/>
              </a:solidFill>
              <a:latin typeface="Times New Roman"/>
              <a:ea typeface="Times New Roman"/>
              <a:cs typeface="Times New Roman"/>
              <a:sym typeface="Times New Roman"/>
            </a:endParaRPr>
          </a:p>
        </p:txBody>
      </p:sp>
      <p:sp>
        <p:nvSpPr>
          <p:cNvPr id="457" name="Google Shape;457;p25"/>
          <p:cNvSpPr txBox="1"/>
          <p:nvPr/>
        </p:nvSpPr>
        <p:spPr>
          <a:xfrm>
            <a:off x="4526280" y="2468880"/>
            <a:ext cx="10972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[10, 10]</a:t>
            </a:r>
            <a:endParaRPr b="0" i="0" sz="1400" u="none" cap="none" strike="noStrike">
              <a:solidFill>
                <a:schemeClr val="dk1"/>
              </a:solidFill>
              <a:latin typeface="Times New Roman"/>
              <a:ea typeface="Times New Roman"/>
              <a:cs typeface="Times New Roman"/>
              <a:sym typeface="Times New Roman"/>
            </a:endParaRPr>
          </a:p>
        </p:txBody>
      </p:sp>
      <p:sp>
        <p:nvSpPr>
          <p:cNvPr id="458" name="Google Shape;458;p25"/>
          <p:cNvSpPr txBox="1"/>
          <p:nvPr/>
        </p:nvSpPr>
        <p:spPr>
          <a:xfrm>
            <a:off x="6172200" y="2468880"/>
            <a:ext cx="10972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[14, 15]</a:t>
            </a:r>
            <a:endParaRPr b="0" i="0" sz="1400" u="none" cap="none" strike="noStrike">
              <a:solidFill>
                <a:schemeClr val="dk1"/>
              </a:solidFill>
              <a:latin typeface="Times New Roman"/>
              <a:ea typeface="Times New Roman"/>
              <a:cs typeface="Times New Roman"/>
              <a:sym typeface="Times New Roman"/>
            </a:endParaRPr>
          </a:p>
        </p:txBody>
      </p:sp>
      <p:sp>
        <p:nvSpPr>
          <p:cNvPr id="459" name="Google Shape;459;p25"/>
          <p:cNvSpPr txBox="1"/>
          <p:nvPr/>
        </p:nvSpPr>
        <p:spPr>
          <a:xfrm>
            <a:off x="8732520" y="2468880"/>
            <a:ext cx="10972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[20, 23]</a:t>
            </a:r>
            <a:endParaRPr b="0" i="0" sz="1400" u="none" cap="none" strike="noStrike">
              <a:solidFill>
                <a:schemeClr val="dk1"/>
              </a:solidFill>
              <a:latin typeface="Times New Roman"/>
              <a:ea typeface="Times New Roman"/>
              <a:cs typeface="Times New Roman"/>
              <a:sym typeface="Times New Roman"/>
            </a:endParaRPr>
          </a:p>
        </p:txBody>
      </p:sp>
      <p:sp>
        <p:nvSpPr>
          <p:cNvPr id="460" name="Google Shape;460;p25"/>
          <p:cNvSpPr/>
          <p:nvPr/>
        </p:nvSpPr>
        <p:spPr>
          <a:xfrm>
            <a:off x="548640" y="3291840"/>
            <a:ext cx="2651760" cy="91440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5"/>
          <p:cNvSpPr txBox="1"/>
          <p:nvPr/>
        </p:nvSpPr>
        <p:spPr>
          <a:xfrm>
            <a:off x="685800" y="3291840"/>
            <a:ext cx="23774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np.diff marca los cambios</a:t>
            </a:r>
            <a:endParaRPr b="0" i="0" sz="1400" u="none" cap="none" strike="noStrike">
              <a:solidFill>
                <a:schemeClr val="dk1"/>
              </a:solidFill>
              <a:latin typeface="Times New Roman"/>
              <a:ea typeface="Times New Roman"/>
              <a:cs typeface="Times New Roman"/>
              <a:sym typeface="Times New Roman"/>
            </a:endParaRPr>
          </a:p>
        </p:txBody>
      </p:sp>
      <p:sp>
        <p:nvSpPr>
          <p:cNvPr id="462" name="Google Shape;462;p25"/>
          <p:cNvSpPr/>
          <p:nvPr/>
        </p:nvSpPr>
        <p:spPr>
          <a:xfrm>
            <a:off x="3353105" y="3291840"/>
            <a:ext cx="2651760" cy="91440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5"/>
          <p:cNvSpPr txBox="1"/>
          <p:nvPr/>
        </p:nvSpPr>
        <p:spPr>
          <a:xfrm>
            <a:off x="3490265" y="3291840"/>
            <a:ext cx="23774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np.argwhere da sus índices</a:t>
            </a:r>
            <a:endParaRPr b="0" i="0" sz="1400" u="none" cap="none" strike="noStrike">
              <a:solidFill>
                <a:schemeClr val="dk1"/>
              </a:solidFill>
              <a:latin typeface="Times New Roman"/>
              <a:ea typeface="Times New Roman"/>
              <a:cs typeface="Times New Roman"/>
              <a:sym typeface="Times New Roman"/>
            </a:endParaRPr>
          </a:p>
        </p:txBody>
      </p:sp>
      <p:sp>
        <p:nvSpPr>
          <p:cNvPr id="464" name="Google Shape;464;p25"/>
          <p:cNvSpPr/>
          <p:nvPr/>
        </p:nvSpPr>
        <p:spPr>
          <a:xfrm>
            <a:off x="6157570" y="3291840"/>
            <a:ext cx="2651760" cy="91440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5"/>
          <p:cNvSpPr txBox="1"/>
          <p:nvPr/>
        </p:nvSpPr>
        <p:spPr>
          <a:xfrm>
            <a:off x="6294730" y="3291840"/>
            <a:ext cx="23774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A los inicios se les suma 1</a:t>
            </a:r>
            <a:endParaRPr b="0" i="0" sz="1400" u="none" cap="none" strike="noStrike">
              <a:solidFill>
                <a:schemeClr val="dk1"/>
              </a:solidFill>
              <a:latin typeface="Times New Roman"/>
              <a:ea typeface="Times New Roman"/>
              <a:cs typeface="Times New Roman"/>
              <a:sym typeface="Times New Roman"/>
            </a:endParaRPr>
          </a:p>
        </p:txBody>
      </p:sp>
      <p:sp>
        <p:nvSpPr>
          <p:cNvPr id="466" name="Google Shape;466;p25"/>
          <p:cNvSpPr/>
          <p:nvPr/>
        </p:nvSpPr>
        <p:spPr>
          <a:xfrm>
            <a:off x="8962034" y="3291840"/>
            <a:ext cx="2651760" cy="91440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5"/>
          <p:cNvSpPr txBox="1"/>
          <p:nvPr/>
        </p:nvSpPr>
        <p:spPr>
          <a:xfrm>
            <a:off x="9099194" y="3291840"/>
            <a:ext cx="23774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reshape(-1, 2) agrupa de a pares [inicio, fin]</a:t>
            </a:r>
            <a:endParaRPr b="0" i="0" sz="1400" u="none" cap="none" strike="noStrike">
              <a:solidFill>
                <a:schemeClr val="dk1"/>
              </a:solidFill>
              <a:latin typeface="Times New Roman"/>
              <a:ea typeface="Times New Roman"/>
              <a:cs typeface="Times New Roman"/>
              <a:sym typeface="Times New Roman"/>
            </a:endParaRPr>
          </a:p>
        </p:txBody>
      </p:sp>
      <p:sp>
        <p:nvSpPr>
          <p:cNvPr id="468" name="Google Shape;468;p25"/>
          <p:cNvSpPr txBox="1"/>
          <p:nvPr/>
        </p:nvSpPr>
        <p:spPr>
          <a:xfrm>
            <a:off x="548640" y="4572000"/>
            <a:ext cx="694944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Sirve aunque la línea mida más de un píxel de ancho. En las cuatro planillas salen 22 líneas horizontales: el borde de arriba, la que está bajo el encabezado y una bajo cada uno de los 20 registros. Cada registro queda entre dos líneas seguidas.</a:t>
            </a:r>
            <a:endParaRPr b="0" i="0" sz="1600" u="none" cap="none" strike="noStrike">
              <a:solidFill>
                <a:schemeClr val="dk1"/>
              </a:solidFill>
              <a:latin typeface="Times New Roman"/>
              <a:ea typeface="Times New Roman"/>
              <a:cs typeface="Times New Roman"/>
              <a:sym typeface="Times New Roman"/>
            </a:endParaRPr>
          </a:p>
        </p:txBody>
      </p:sp>
      <p:sp>
        <p:nvSpPr>
          <p:cNvPr id="469" name="Google Shape;469;p25"/>
          <p:cNvSpPr/>
          <p:nvPr/>
        </p:nvSpPr>
        <p:spPr>
          <a:xfrm>
            <a:off x="7863840" y="4572000"/>
            <a:ext cx="1828800" cy="155448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5"/>
          <p:cNvSpPr txBox="1"/>
          <p:nvPr/>
        </p:nvSpPr>
        <p:spPr>
          <a:xfrm>
            <a:off x="7863840" y="4709160"/>
            <a:ext cx="18288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4000"/>
              <a:buFont typeface="Times New Roman"/>
              <a:buNone/>
            </a:pPr>
            <a:r>
              <a:rPr b="1" i="0" lang="en-US" sz="4000" u="none" cap="none" strike="noStrike">
                <a:solidFill>
                  <a:schemeClr val="dk1"/>
                </a:solidFill>
                <a:latin typeface="Times New Roman"/>
                <a:ea typeface="Times New Roman"/>
                <a:cs typeface="Times New Roman"/>
                <a:sym typeface="Times New Roman"/>
              </a:rPr>
              <a:t>22</a:t>
            </a:r>
            <a:endParaRPr b="0" i="0" sz="4000" u="none" cap="none" strike="noStrike">
              <a:solidFill>
                <a:schemeClr val="dk1"/>
              </a:solidFill>
              <a:latin typeface="Times New Roman"/>
              <a:ea typeface="Times New Roman"/>
              <a:cs typeface="Times New Roman"/>
              <a:sym typeface="Times New Roman"/>
            </a:endParaRPr>
          </a:p>
        </p:txBody>
      </p:sp>
      <p:sp>
        <p:nvSpPr>
          <p:cNvPr id="471" name="Google Shape;471;p25"/>
          <p:cNvSpPr txBox="1"/>
          <p:nvPr/>
        </p:nvSpPr>
        <p:spPr>
          <a:xfrm>
            <a:off x="7863840" y="548640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filas</a:t>
            </a:r>
            <a:endParaRPr b="0" i="0" sz="1400" u="none" cap="none" strike="noStrike">
              <a:solidFill>
                <a:schemeClr val="dk1"/>
              </a:solidFill>
              <a:latin typeface="Times New Roman"/>
              <a:ea typeface="Times New Roman"/>
              <a:cs typeface="Times New Roman"/>
              <a:sym typeface="Times New Roman"/>
            </a:endParaRPr>
          </a:p>
        </p:txBody>
      </p:sp>
      <p:sp>
        <p:nvSpPr>
          <p:cNvPr id="472" name="Google Shape;472;p25"/>
          <p:cNvSpPr/>
          <p:nvPr/>
        </p:nvSpPr>
        <p:spPr>
          <a:xfrm>
            <a:off x="9784080" y="4572000"/>
            <a:ext cx="1828800" cy="155448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5"/>
          <p:cNvSpPr txBox="1"/>
          <p:nvPr/>
        </p:nvSpPr>
        <p:spPr>
          <a:xfrm>
            <a:off x="9784080" y="4709160"/>
            <a:ext cx="18288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4000"/>
              <a:buFont typeface="Times New Roman"/>
              <a:buNone/>
            </a:pPr>
            <a:r>
              <a:rPr b="1" i="0" lang="en-US" sz="4000" u="none" cap="none" strike="noStrike">
                <a:solidFill>
                  <a:schemeClr val="dk1"/>
                </a:solidFill>
                <a:latin typeface="Times New Roman"/>
                <a:ea typeface="Times New Roman"/>
                <a:cs typeface="Times New Roman"/>
                <a:sym typeface="Times New Roman"/>
              </a:rPr>
              <a:t>8</a:t>
            </a:r>
            <a:endParaRPr b="0" i="0" sz="4000" u="none" cap="none" strike="noStrike">
              <a:solidFill>
                <a:schemeClr val="dk1"/>
              </a:solidFill>
              <a:latin typeface="Times New Roman"/>
              <a:ea typeface="Times New Roman"/>
              <a:cs typeface="Times New Roman"/>
              <a:sym typeface="Times New Roman"/>
            </a:endParaRPr>
          </a:p>
        </p:txBody>
      </p:sp>
      <p:sp>
        <p:nvSpPr>
          <p:cNvPr id="474" name="Google Shape;474;p25"/>
          <p:cNvSpPr txBox="1"/>
          <p:nvPr/>
        </p:nvSpPr>
        <p:spPr>
          <a:xfrm>
            <a:off x="9784080" y="548640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columnas</a:t>
            </a:r>
            <a:endParaRPr b="0" i="0" sz="1400" u="none" cap="none" strike="noStrike">
              <a:solidFill>
                <a:schemeClr val="dk1"/>
              </a:solidFill>
              <a:latin typeface="Times New Roman"/>
              <a:ea typeface="Times New Roman"/>
              <a:cs typeface="Times New Roman"/>
              <a:sym typeface="Times New Roman"/>
            </a:endParaRPr>
          </a:p>
        </p:txBody>
      </p:sp>
      <p:sp>
        <p:nvSpPr>
          <p:cNvPr id="475" name="Google Shape;475;p25"/>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26"/>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Cada campo tiene su regla</a:t>
            </a:r>
            <a:endParaRPr sz="3400"/>
          </a:p>
        </p:txBody>
      </p:sp>
      <p:graphicFrame>
        <p:nvGraphicFramePr>
          <p:cNvPr id="482" name="Google Shape;482;p26"/>
          <p:cNvGraphicFramePr/>
          <p:nvPr/>
        </p:nvGraphicFramePr>
        <p:xfrm>
          <a:off x="548640" y="1463040"/>
          <a:ext cx="3000000" cy="3000000"/>
        </p:xfrm>
        <a:graphic>
          <a:graphicData uri="http://schemas.openxmlformats.org/drawingml/2006/table">
            <a:tbl>
              <a:tblPr>
                <a:noFill/>
                <a:tableStyleId>{E8F1A2DE-F75D-4E95-B11A-8404A869D89C}</a:tableStyleId>
              </a:tblPr>
              <a:tblGrid>
                <a:gridCol w="2011675"/>
                <a:gridCol w="3657600"/>
              </a:tblGrid>
              <a:tr h="457200">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Campo</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Restricción</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r>
              <a:tr h="685800">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Legajo</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8 caracteres en total, una sola palabra</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22950">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Nombre y apellido</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Al menos dos palabras y no más de 12 caracteres</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22950">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Parcial 1, 2 y 3</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1 o 2 caracteres consecutivos, sin espacios</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85800">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Condición Final</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Un único carácter</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483" name="Google Shape;483;p26"/>
          <p:cNvSpPr txBox="1"/>
          <p:nvPr/>
        </p:nvSpPr>
        <p:spPr>
          <a:xfrm>
            <a:off x="548640" y="5212080"/>
            <a:ext cx="566928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El espacio del nombre no cuenta como carácter, porque no es una componente conectada. Fue una decisión nuestra: la consigna no aclara si el espacio cuenta.</a:t>
            </a:r>
            <a:endParaRPr b="0" i="0" sz="1400" u="none" cap="none" strike="noStrike">
              <a:solidFill>
                <a:schemeClr val="dk1"/>
              </a:solidFill>
              <a:latin typeface="Times New Roman"/>
              <a:ea typeface="Times New Roman"/>
              <a:cs typeface="Times New Roman"/>
              <a:sym typeface="Times New Roman"/>
            </a:endParaRPr>
          </a:p>
        </p:txBody>
      </p:sp>
      <p:sp>
        <p:nvSpPr>
          <p:cNvPr id="484" name="Google Shape;484;p26"/>
          <p:cNvSpPr txBox="1"/>
          <p:nvPr/>
        </p:nvSpPr>
        <p:spPr>
          <a:xfrm>
            <a:off x="6675120" y="1463040"/>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Palabras sin leer las letras</a:t>
            </a:r>
            <a:endParaRPr b="0" i="0" sz="1800" u="none" cap="none" strike="noStrike">
              <a:solidFill>
                <a:schemeClr val="dk1"/>
              </a:solidFill>
              <a:latin typeface="Times New Roman"/>
              <a:ea typeface="Times New Roman"/>
              <a:cs typeface="Times New Roman"/>
              <a:sym typeface="Times New Roman"/>
            </a:endParaRPr>
          </a:p>
        </p:txBody>
      </p:sp>
      <p:sp>
        <p:nvSpPr>
          <p:cNvPr id="485" name="Google Shape;485;p26"/>
          <p:cNvSpPr/>
          <p:nvPr/>
        </p:nvSpPr>
        <p:spPr>
          <a:xfrm>
            <a:off x="6675120" y="1920240"/>
            <a:ext cx="1554480" cy="137160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6"/>
          <p:cNvSpPr txBox="1"/>
          <p:nvPr/>
        </p:nvSpPr>
        <p:spPr>
          <a:xfrm>
            <a:off x="6675120" y="2011680"/>
            <a:ext cx="15544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Times New Roman"/>
              <a:buNone/>
            </a:pPr>
            <a:r>
              <a:rPr b="1" i="0" lang="en-US" sz="2200" u="none" cap="none" strike="noStrike">
                <a:solidFill>
                  <a:schemeClr val="dk1"/>
                </a:solidFill>
                <a:latin typeface="Times New Roman"/>
                <a:ea typeface="Times New Roman"/>
                <a:cs typeface="Times New Roman"/>
                <a:sym typeface="Times New Roman"/>
              </a:rPr>
              <a:t>0–4 px</a:t>
            </a:r>
            <a:endParaRPr b="0" i="0" sz="2200" u="none" cap="none" strike="noStrike">
              <a:solidFill>
                <a:schemeClr val="dk1"/>
              </a:solidFill>
              <a:latin typeface="Times New Roman"/>
              <a:ea typeface="Times New Roman"/>
              <a:cs typeface="Times New Roman"/>
              <a:sym typeface="Times New Roman"/>
            </a:endParaRPr>
          </a:p>
        </p:txBody>
      </p:sp>
      <p:sp>
        <p:nvSpPr>
          <p:cNvPr id="487" name="Google Shape;487;p26"/>
          <p:cNvSpPr txBox="1"/>
          <p:nvPr/>
        </p:nvSpPr>
        <p:spPr>
          <a:xfrm>
            <a:off x="6675120" y="2651760"/>
            <a:ext cx="155448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entre letras</a:t>
            </a:r>
            <a:endParaRPr b="0" i="0" sz="1400" u="none" cap="none" strike="noStrike">
              <a:solidFill>
                <a:schemeClr val="dk1"/>
              </a:solidFill>
              <a:latin typeface="Times New Roman"/>
              <a:ea typeface="Times New Roman"/>
              <a:cs typeface="Times New Roman"/>
              <a:sym typeface="Times New Roman"/>
            </a:endParaRPr>
          </a:p>
        </p:txBody>
      </p:sp>
      <p:sp>
        <p:nvSpPr>
          <p:cNvPr id="488" name="Google Shape;488;p26"/>
          <p:cNvSpPr/>
          <p:nvPr/>
        </p:nvSpPr>
        <p:spPr>
          <a:xfrm>
            <a:off x="8366760" y="1920240"/>
            <a:ext cx="1554480" cy="137160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6"/>
          <p:cNvSpPr txBox="1"/>
          <p:nvPr/>
        </p:nvSpPr>
        <p:spPr>
          <a:xfrm>
            <a:off x="8366760" y="2011680"/>
            <a:ext cx="15544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Times New Roman"/>
              <a:buNone/>
            </a:pPr>
            <a:r>
              <a:rPr b="1" i="0" lang="en-US" sz="2200" u="none" cap="none" strike="noStrike">
                <a:solidFill>
                  <a:schemeClr val="dk1"/>
                </a:solidFill>
                <a:latin typeface="Times New Roman"/>
                <a:ea typeface="Times New Roman"/>
                <a:cs typeface="Times New Roman"/>
                <a:sym typeface="Times New Roman"/>
              </a:rPr>
              <a:t>10–13 px</a:t>
            </a:r>
            <a:endParaRPr b="0" i="0" sz="2200" u="none" cap="none" strike="noStrike">
              <a:solidFill>
                <a:schemeClr val="dk1"/>
              </a:solidFill>
              <a:latin typeface="Times New Roman"/>
              <a:ea typeface="Times New Roman"/>
              <a:cs typeface="Times New Roman"/>
              <a:sym typeface="Times New Roman"/>
            </a:endParaRPr>
          </a:p>
        </p:txBody>
      </p:sp>
      <p:sp>
        <p:nvSpPr>
          <p:cNvPr id="490" name="Google Shape;490;p26"/>
          <p:cNvSpPr txBox="1"/>
          <p:nvPr/>
        </p:nvSpPr>
        <p:spPr>
          <a:xfrm>
            <a:off x="8366760" y="2651760"/>
            <a:ext cx="155448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entre palabras</a:t>
            </a:r>
            <a:endParaRPr b="0" i="0" sz="1400" u="none" cap="none" strike="noStrike">
              <a:solidFill>
                <a:schemeClr val="dk1"/>
              </a:solidFill>
              <a:latin typeface="Times New Roman"/>
              <a:ea typeface="Times New Roman"/>
              <a:cs typeface="Times New Roman"/>
              <a:sym typeface="Times New Roman"/>
            </a:endParaRPr>
          </a:p>
        </p:txBody>
      </p:sp>
      <p:sp>
        <p:nvSpPr>
          <p:cNvPr id="491" name="Google Shape;491;p26"/>
          <p:cNvSpPr/>
          <p:nvPr/>
        </p:nvSpPr>
        <p:spPr>
          <a:xfrm>
            <a:off x="10058400" y="1920240"/>
            <a:ext cx="1554480" cy="137160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6"/>
          <p:cNvSpPr txBox="1"/>
          <p:nvPr/>
        </p:nvSpPr>
        <p:spPr>
          <a:xfrm>
            <a:off x="10058400" y="2011680"/>
            <a:ext cx="15544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Times New Roman"/>
              <a:buNone/>
            </a:pPr>
            <a:r>
              <a:rPr b="1" i="0" lang="en-US" sz="2200" u="none" cap="none" strike="noStrike">
                <a:solidFill>
                  <a:schemeClr val="dk1"/>
                </a:solidFill>
                <a:latin typeface="Times New Roman"/>
                <a:ea typeface="Times New Roman"/>
                <a:cs typeface="Times New Roman"/>
                <a:sym typeface="Times New Roman"/>
              </a:rPr>
              <a:t>6 px</a:t>
            </a:r>
            <a:endParaRPr b="0" i="0" sz="2200" u="none" cap="none" strike="noStrike">
              <a:solidFill>
                <a:schemeClr val="dk1"/>
              </a:solidFill>
              <a:latin typeface="Times New Roman"/>
              <a:ea typeface="Times New Roman"/>
              <a:cs typeface="Times New Roman"/>
              <a:sym typeface="Times New Roman"/>
            </a:endParaRPr>
          </a:p>
        </p:txBody>
      </p:sp>
      <p:sp>
        <p:nvSpPr>
          <p:cNvPr id="493" name="Google Shape;493;p26"/>
          <p:cNvSpPr txBox="1"/>
          <p:nvPr/>
        </p:nvSpPr>
        <p:spPr>
          <a:xfrm>
            <a:off x="10058400" y="2651760"/>
            <a:ext cx="155448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umbral</a:t>
            </a:r>
            <a:endParaRPr b="0" i="0" sz="1400" u="none" cap="none" strike="noStrike">
              <a:solidFill>
                <a:schemeClr val="dk1"/>
              </a:solidFill>
              <a:latin typeface="Times New Roman"/>
              <a:ea typeface="Times New Roman"/>
              <a:cs typeface="Times New Roman"/>
              <a:sym typeface="Times New Roman"/>
            </a:endParaRPr>
          </a:p>
        </p:txBody>
      </p:sp>
      <p:sp>
        <p:nvSpPr>
          <p:cNvPr id="494" name="Google Shape;494;p26"/>
          <p:cNvSpPr txBox="1"/>
          <p:nvPr/>
        </p:nvSpPr>
        <p:spPr>
          <a:xfrm>
            <a:off x="6675120" y="3657600"/>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Condición Final: L, R o A</a:t>
            </a:r>
            <a:endParaRPr b="0" i="0" sz="1800" u="none" cap="none" strike="noStrike">
              <a:solidFill>
                <a:schemeClr val="dk1"/>
              </a:solidFill>
              <a:latin typeface="Times New Roman"/>
              <a:ea typeface="Times New Roman"/>
              <a:cs typeface="Times New Roman"/>
              <a:sym typeface="Times New Roman"/>
            </a:endParaRPr>
          </a:p>
        </p:txBody>
      </p:sp>
      <p:sp>
        <p:nvSpPr>
          <p:cNvPr id="495" name="Google Shape;495;p26"/>
          <p:cNvSpPr txBox="1"/>
          <p:nvPr/>
        </p:nvSpPr>
        <p:spPr>
          <a:xfrm>
            <a:off x="6675120" y="4114800"/>
            <a:ext cx="155448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6600"/>
              <a:buFont typeface="Times New Roman"/>
              <a:buNone/>
            </a:pPr>
            <a:r>
              <a:rPr b="1" i="0" lang="en-US" sz="6600" u="none" cap="none" strike="noStrike">
                <a:solidFill>
                  <a:schemeClr val="accent1"/>
                </a:solidFill>
                <a:latin typeface="Times New Roman"/>
                <a:ea typeface="Times New Roman"/>
                <a:cs typeface="Times New Roman"/>
                <a:sym typeface="Times New Roman"/>
              </a:rPr>
              <a:t>L</a:t>
            </a:r>
            <a:endParaRPr b="0" i="0" sz="6600" u="none" cap="none" strike="noStrike">
              <a:solidFill>
                <a:schemeClr val="dk1"/>
              </a:solidFill>
              <a:latin typeface="Times New Roman"/>
              <a:ea typeface="Times New Roman"/>
              <a:cs typeface="Times New Roman"/>
              <a:sym typeface="Times New Roman"/>
            </a:endParaRPr>
          </a:p>
        </p:txBody>
      </p:sp>
      <p:sp>
        <p:nvSpPr>
          <p:cNvPr id="496" name="Google Shape;496;p26"/>
          <p:cNvSpPr txBox="1"/>
          <p:nvPr/>
        </p:nvSpPr>
        <p:spPr>
          <a:xfrm>
            <a:off x="6675120" y="5166360"/>
            <a:ext cx="1554480"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primera columna llena, sin agujeros</a:t>
            </a:r>
            <a:endParaRPr b="0" i="0" sz="1400" u="none" cap="none" strike="noStrike">
              <a:solidFill>
                <a:schemeClr val="dk1"/>
              </a:solidFill>
              <a:latin typeface="Times New Roman"/>
              <a:ea typeface="Times New Roman"/>
              <a:cs typeface="Times New Roman"/>
              <a:sym typeface="Times New Roman"/>
            </a:endParaRPr>
          </a:p>
        </p:txBody>
      </p:sp>
      <p:sp>
        <p:nvSpPr>
          <p:cNvPr id="497" name="Google Shape;497;p26"/>
          <p:cNvSpPr txBox="1"/>
          <p:nvPr/>
        </p:nvSpPr>
        <p:spPr>
          <a:xfrm>
            <a:off x="8366760" y="4114800"/>
            <a:ext cx="155448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6600"/>
              <a:buFont typeface="Times New Roman"/>
              <a:buNone/>
            </a:pPr>
            <a:r>
              <a:rPr b="1" i="0" lang="en-US" sz="6600" u="none" cap="none" strike="noStrike">
                <a:solidFill>
                  <a:schemeClr val="accent2"/>
                </a:solidFill>
                <a:latin typeface="Times New Roman"/>
                <a:ea typeface="Times New Roman"/>
                <a:cs typeface="Times New Roman"/>
                <a:sym typeface="Times New Roman"/>
              </a:rPr>
              <a:t>R</a:t>
            </a:r>
            <a:endParaRPr b="0" i="0" sz="6600" u="none" cap="none" strike="noStrike">
              <a:solidFill>
                <a:schemeClr val="dk1"/>
              </a:solidFill>
              <a:latin typeface="Times New Roman"/>
              <a:ea typeface="Times New Roman"/>
              <a:cs typeface="Times New Roman"/>
              <a:sym typeface="Times New Roman"/>
            </a:endParaRPr>
          </a:p>
        </p:txBody>
      </p:sp>
      <p:sp>
        <p:nvSpPr>
          <p:cNvPr id="498" name="Google Shape;498;p26"/>
          <p:cNvSpPr txBox="1"/>
          <p:nvPr/>
        </p:nvSpPr>
        <p:spPr>
          <a:xfrm>
            <a:off x="8366760" y="5166360"/>
            <a:ext cx="1554480"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primera columna llena, con un agujero</a:t>
            </a:r>
            <a:endParaRPr b="0" i="0" sz="1400" u="none" cap="none" strike="noStrike">
              <a:solidFill>
                <a:schemeClr val="dk1"/>
              </a:solidFill>
              <a:latin typeface="Times New Roman"/>
              <a:ea typeface="Times New Roman"/>
              <a:cs typeface="Times New Roman"/>
              <a:sym typeface="Times New Roman"/>
            </a:endParaRPr>
          </a:p>
        </p:txBody>
      </p:sp>
      <p:sp>
        <p:nvSpPr>
          <p:cNvPr id="499" name="Google Shape;499;p26"/>
          <p:cNvSpPr txBox="1"/>
          <p:nvPr/>
        </p:nvSpPr>
        <p:spPr>
          <a:xfrm>
            <a:off x="10058400" y="4114800"/>
            <a:ext cx="155448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6600"/>
              <a:buFont typeface="Times New Roman"/>
              <a:buNone/>
            </a:pPr>
            <a:r>
              <a:rPr b="1" i="0" lang="en-US" sz="6600" u="none" cap="none" strike="noStrike">
                <a:solidFill>
                  <a:schemeClr val="dk1"/>
                </a:solidFill>
                <a:latin typeface="Times New Roman"/>
                <a:ea typeface="Times New Roman"/>
                <a:cs typeface="Times New Roman"/>
                <a:sym typeface="Times New Roman"/>
              </a:rPr>
              <a:t>A</a:t>
            </a:r>
            <a:endParaRPr b="0" i="0" sz="6600" u="none" cap="none" strike="noStrike">
              <a:solidFill>
                <a:schemeClr val="dk1"/>
              </a:solidFill>
              <a:latin typeface="Times New Roman"/>
              <a:ea typeface="Times New Roman"/>
              <a:cs typeface="Times New Roman"/>
              <a:sym typeface="Times New Roman"/>
            </a:endParaRPr>
          </a:p>
        </p:txBody>
      </p:sp>
      <p:sp>
        <p:nvSpPr>
          <p:cNvPr id="500" name="Google Shape;500;p26"/>
          <p:cNvSpPr txBox="1"/>
          <p:nvPr/>
        </p:nvSpPr>
        <p:spPr>
          <a:xfrm>
            <a:off x="10058400" y="5166360"/>
            <a:ext cx="1554480"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primera columna casi vacía</a:t>
            </a:r>
            <a:endParaRPr b="0" i="0" sz="1400" u="none" cap="none" strike="noStrike">
              <a:solidFill>
                <a:schemeClr val="dk1"/>
              </a:solidFill>
              <a:latin typeface="Times New Roman"/>
              <a:ea typeface="Times New Roman"/>
              <a:cs typeface="Times New Roman"/>
              <a:sym typeface="Times New Roman"/>
            </a:endParaRPr>
          </a:p>
        </p:txBody>
      </p:sp>
      <p:sp>
        <p:nvSpPr>
          <p:cNvPr id="501" name="Google Shape;501;p26"/>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27"/>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Distinguir L, R y A por su forma</a:t>
            </a:r>
            <a:endParaRPr sz="3400"/>
          </a:p>
        </p:txBody>
      </p:sp>
      <p:pic>
        <p:nvPicPr>
          <p:cNvPr descr="Celdas de Condición Final con una L, una R y una A recortadas a su caja" id="508" name="Google Shape;508;p27"/>
          <p:cNvPicPr preferRelativeResize="0"/>
          <p:nvPr/>
        </p:nvPicPr>
        <p:blipFill rotWithShape="1">
          <a:blip r:embed="rId3">
            <a:alphaModFix/>
          </a:blip>
          <a:srcRect b="0" l="0" r="0" t="0"/>
          <a:stretch/>
        </p:blipFill>
        <p:spPr>
          <a:xfrm>
            <a:off x="548640" y="1420368"/>
            <a:ext cx="5120640" cy="3925824"/>
          </a:xfrm>
          <a:prstGeom prst="rect">
            <a:avLst/>
          </a:prstGeom>
          <a:noFill/>
          <a:ln>
            <a:noFill/>
          </a:ln>
        </p:spPr>
      </p:pic>
      <p:sp>
        <p:nvSpPr>
          <p:cNvPr id="509" name="Google Shape;509;p27"/>
          <p:cNvSpPr/>
          <p:nvPr/>
        </p:nvSpPr>
        <p:spPr>
          <a:xfrm>
            <a:off x="548640" y="1420368"/>
            <a:ext cx="5120640" cy="3925824"/>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7"/>
          <p:cNvSpPr txBox="1"/>
          <p:nvPr/>
        </p:nvSpPr>
        <p:spPr>
          <a:xfrm>
            <a:off x="548640" y="5437632"/>
            <a:ext cx="51206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Times New Roman"/>
              <a:buNone/>
            </a:pPr>
            <a:r>
              <a:rPr b="1" i="0" lang="en-US" sz="1200" u="none" cap="none" strike="noStrike">
                <a:solidFill>
                  <a:schemeClr val="dk1"/>
                </a:solidFill>
                <a:latin typeface="Times New Roman"/>
                <a:ea typeface="Times New Roman"/>
                <a:cs typeface="Times New Roman"/>
                <a:sym typeface="Times New Roman"/>
              </a:rPr>
              <a:t>Figura 14. </a:t>
            </a:r>
            <a:r>
              <a:rPr b="0" i="0" lang="en-US" sz="1200" u="none" cap="none" strike="noStrike">
                <a:solidFill>
                  <a:schemeClr val="dk1"/>
                </a:solidFill>
                <a:latin typeface="Times New Roman"/>
                <a:ea typeface="Times New Roman"/>
                <a:cs typeface="Times New Roman"/>
                <a:sym typeface="Times New Roman"/>
              </a:rPr>
              <a:t>Celda de Condición Final recortada a su caja: L, R y A.</a:t>
            </a:r>
            <a:endParaRPr b="0" i="0" sz="1200" u="none" cap="none" strike="noStrike">
              <a:solidFill>
                <a:schemeClr val="dk1"/>
              </a:solidFill>
              <a:latin typeface="Times New Roman"/>
              <a:ea typeface="Times New Roman"/>
              <a:cs typeface="Times New Roman"/>
              <a:sym typeface="Times New Roman"/>
            </a:endParaRPr>
          </a:p>
        </p:txBody>
      </p:sp>
      <p:graphicFrame>
        <p:nvGraphicFramePr>
          <p:cNvPr id="511" name="Google Shape;511;p27"/>
          <p:cNvGraphicFramePr/>
          <p:nvPr/>
        </p:nvGraphicFramePr>
        <p:xfrm>
          <a:off x="6035040" y="1371600"/>
          <a:ext cx="3000000" cy="3000000"/>
        </p:xfrm>
        <a:graphic>
          <a:graphicData uri="http://schemas.openxmlformats.org/drawingml/2006/table">
            <a:tbl>
              <a:tblPr>
                <a:noFill/>
                <a:tableStyleId>{E8F1A2DE-F75D-4E95-B11A-8404A869D89C}</a:tableStyleId>
              </a:tblPr>
              <a:tblGrid>
                <a:gridCol w="822950"/>
                <a:gridCol w="3474725"/>
                <a:gridCol w="1280150"/>
              </a:tblGrid>
              <a:tr h="457200">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Letra</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Primera columna</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Agujeros</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r>
              <a:tr h="548650">
                <a:tc>
                  <a:txBody>
                    <a:bodyPr/>
                    <a:lstStyle/>
                    <a:p>
                      <a:pPr indent="0" lvl="0" marL="0" marR="0" rtl="0" algn="l">
                        <a:spcBef>
                          <a:spcPts val="0"/>
                        </a:spcBef>
                        <a:spcAft>
                          <a:spcPts val="0"/>
                        </a:spcAft>
                        <a:buClr>
                          <a:schemeClr val="accent1"/>
                        </a:buClr>
                        <a:buSzPts val="2000"/>
                        <a:buFont typeface="Times New Roman"/>
                        <a:buNone/>
                      </a:pPr>
                      <a:r>
                        <a:rPr b="1" lang="en-US" sz="2000" u="none" cap="none" strike="noStrike">
                          <a:solidFill>
                            <a:schemeClr val="accent1"/>
                          </a:solidFill>
                          <a:latin typeface="Times New Roman"/>
                          <a:ea typeface="Times New Roman"/>
                          <a:cs typeface="Times New Roman"/>
                          <a:sym typeface="Times New Roman"/>
                        </a:rPr>
                        <a:t>L</a:t>
                      </a:r>
                      <a:endParaRPr sz="20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llena, igual al alto de la letra</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0</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48650">
                <a:tc>
                  <a:txBody>
                    <a:bodyPr/>
                    <a:lstStyle/>
                    <a:p>
                      <a:pPr indent="0" lvl="0" marL="0" marR="0" rtl="0" algn="l">
                        <a:spcBef>
                          <a:spcPts val="0"/>
                        </a:spcBef>
                        <a:spcAft>
                          <a:spcPts val="0"/>
                        </a:spcAft>
                        <a:buClr>
                          <a:schemeClr val="accent2"/>
                        </a:buClr>
                        <a:buSzPts val="2000"/>
                        <a:buFont typeface="Times New Roman"/>
                        <a:buNone/>
                      </a:pPr>
                      <a:r>
                        <a:rPr b="1" lang="en-US" sz="2000" u="none" cap="none" strike="noStrike">
                          <a:solidFill>
                            <a:schemeClr val="accent2"/>
                          </a:solidFill>
                          <a:latin typeface="Times New Roman"/>
                          <a:ea typeface="Times New Roman"/>
                          <a:cs typeface="Times New Roman"/>
                          <a:sym typeface="Times New Roman"/>
                        </a:rPr>
                        <a:t>R</a:t>
                      </a:r>
                      <a:endParaRPr sz="20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llena, igual al alto de la letra</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1</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48650">
                <a:tc>
                  <a:txBody>
                    <a:bodyPr/>
                    <a:lstStyle/>
                    <a:p>
                      <a:pPr indent="0" lvl="0" marL="0" marR="0" rtl="0" algn="l">
                        <a:spcBef>
                          <a:spcPts val="0"/>
                        </a:spcBef>
                        <a:spcAft>
                          <a:spcPts val="0"/>
                        </a:spcAft>
                        <a:buClr>
                          <a:schemeClr val="dk1"/>
                        </a:buClr>
                        <a:buSzPts val="2000"/>
                        <a:buFont typeface="Times New Roman"/>
                        <a:buNone/>
                      </a:pPr>
                      <a:r>
                        <a:rPr b="1" lang="en-US" sz="2000" u="none" cap="none" strike="noStrike">
                          <a:solidFill>
                            <a:schemeClr val="dk1"/>
                          </a:solidFill>
                          <a:latin typeface="Times New Roman"/>
                          <a:ea typeface="Times New Roman"/>
                          <a:cs typeface="Times New Roman"/>
                          <a:sym typeface="Times New Roman"/>
                        </a:rPr>
                        <a:t>A</a:t>
                      </a:r>
                      <a:endParaRPr sz="20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casi vacía: de 1 a 3 px</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1</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512" name="Google Shape;512;p27"/>
          <p:cNvSpPr txBox="1"/>
          <p:nvPr/>
        </p:nvSpPr>
        <p:spPr>
          <a:xfrm>
            <a:off x="6035040" y="3611880"/>
            <a:ext cx="557784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Primera columna: </a:t>
            </a:r>
            <a:r>
              <a:rPr b="0" i="0" lang="en-US" sz="1400" u="none" cap="none" strike="noStrike">
                <a:solidFill>
                  <a:schemeClr val="dk1"/>
                </a:solidFill>
                <a:latin typeface="Times New Roman"/>
                <a:ea typeface="Times New Roman"/>
                <a:cs typeface="Times New Roman"/>
                <a:sym typeface="Times New Roman"/>
              </a:rPr>
              <a:t>suma por columnas de la letra recortada a su bounding box.</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60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Agujero: </a:t>
            </a:r>
            <a:r>
              <a:rPr b="0" i="0" lang="en-US" sz="1400" u="none" cap="none" strike="noStrike">
                <a:solidFill>
                  <a:schemeClr val="dk1"/>
                </a:solidFill>
                <a:latin typeface="Times New Roman"/>
                <a:ea typeface="Times New Roman"/>
                <a:cs typeface="Times New Roman"/>
                <a:sym typeface="Times New Roman"/>
              </a:rPr>
              <a:t>cv2.findContours con RETR_TREE; un contorno con madre (Parent != -1) es un agujero.</a:t>
            </a:r>
            <a:endParaRPr b="0" i="0" sz="1400" u="none" cap="none" strike="noStrike">
              <a:solidFill>
                <a:schemeClr val="dk1"/>
              </a:solidFill>
              <a:latin typeface="Times New Roman"/>
              <a:ea typeface="Times New Roman"/>
              <a:cs typeface="Times New Roman"/>
              <a:sym typeface="Times New Roman"/>
            </a:endParaRPr>
          </a:p>
        </p:txBody>
      </p:sp>
      <p:sp>
        <p:nvSpPr>
          <p:cNvPr id="513" name="Google Shape;513;p27"/>
          <p:cNvSpPr/>
          <p:nvPr/>
        </p:nvSpPr>
        <p:spPr>
          <a:xfrm>
            <a:off x="6035040" y="5212080"/>
            <a:ext cx="5577840" cy="100584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7"/>
          <p:cNvSpPr txBox="1"/>
          <p:nvPr/>
        </p:nvSpPr>
        <p:spPr>
          <a:xfrm>
            <a:off x="6126480" y="5212080"/>
            <a:ext cx="1005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56</a:t>
            </a:r>
            <a:endParaRPr b="0" i="0" sz="3200" u="none" cap="none" strike="noStrike">
              <a:solidFill>
                <a:schemeClr val="dk1"/>
              </a:solidFill>
              <a:latin typeface="Times New Roman"/>
              <a:ea typeface="Times New Roman"/>
              <a:cs typeface="Times New Roman"/>
              <a:sym typeface="Times New Roman"/>
            </a:endParaRPr>
          </a:p>
        </p:txBody>
      </p:sp>
      <p:sp>
        <p:nvSpPr>
          <p:cNvPr id="515" name="Google Shape;515;p27"/>
          <p:cNvSpPr txBox="1"/>
          <p:nvPr/>
        </p:nvSpPr>
        <p:spPr>
          <a:xfrm>
            <a:off x="7223760" y="5212080"/>
            <a:ext cx="425196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celdas de Condición Final con un solo carácter medidas en las cuatro planillas: ningún caso dudoso</a:t>
            </a:r>
            <a:endParaRPr b="0" i="0" sz="1400" u="none" cap="none" strike="noStrike">
              <a:solidFill>
                <a:schemeClr val="dk1"/>
              </a:solidFill>
              <a:latin typeface="Times New Roman"/>
              <a:ea typeface="Times New Roman"/>
              <a:cs typeface="Times New Roman"/>
              <a:sym typeface="Times New Roman"/>
            </a:endParaRPr>
          </a:p>
        </p:txBody>
      </p:sp>
      <p:sp>
        <p:nvSpPr>
          <p:cNvPr id="516" name="Google Shape;516;p27"/>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28"/>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La imagen de los alumnos que no aprobaron</a:t>
            </a:r>
            <a:endParaRPr sz="3400"/>
          </a:p>
        </p:txBody>
      </p:sp>
      <p:sp>
        <p:nvSpPr>
          <p:cNvPr id="523" name="Google Shape;523;p28"/>
          <p:cNvSpPr/>
          <p:nvPr/>
        </p:nvSpPr>
        <p:spPr>
          <a:xfrm>
            <a:off x="548640" y="1417320"/>
            <a:ext cx="457200" cy="4572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8"/>
          <p:cNvSpPr txBox="1"/>
          <p:nvPr/>
        </p:nvSpPr>
        <p:spPr>
          <a:xfrm>
            <a:off x="548640" y="1417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1</a:t>
            </a:r>
            <a:endParaRPr b="0" i="0" sz="1600" u="none" cap="none" strike="noStrike">
              <a:solidFill>
                <a:schemeClr val="dk1"/>
              </a:solidFill>
              <a:latin typeface="Times New Roman"/>
              <a:ea typeface="Times New Roman"/>
              <a:cs typeface="Times New Roman"/>
              <a:sym typeface="Times New Roman"/>
            </a:endParaRPr>
          </a:p>
        </p:txBody>
      </p:sp>
      <p:sp>
        <p:nvSpPr>
          <p:cNvPr id="525" name="Google Shape;525;p28"/>
          <p:cNvSpPr txBox="1"/>
          <p:nvPr/>
        </p:nvSpPr>
        <p:spPr>
          <a:xfrm>
            <a:off x="1188720" y="1371600"/>
            <a:ext cx="69494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Filtrar</a:t>
            </a:r>
            <a:endParaRPr b="0" i="0" sz="16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Nos quedamos con los registros que tienen los seis campos OK y condición L o R.</a:t>
            </a:r>
            <a:endParaRPr b="0" i="0" sz="1600" u="none" cap="none" strike="noStrike">
              <a:solidFill>
                <a:schemeClr val="dk1"/>
              </a:solidFill>
              <a:latin typeface="Times New Roman"/>
              <a:ea typeface="Times New Roman"/>
              <a:cs typeface="Times New Roman"/>
              <a:sym typeface="Times New Roman"/>
            </a:endParaRPr>
          </a:p>
        </p:txBody>
      </p:sp>
      <p:sp>
        <p:nvSpPr>
          <p:cNvPr id="526" name="Google Shape;526;p28"/>
          <p:cNvSpPr/>
          <p:nvPr/>
        </p:nvSpPr>
        <p:spPr>
          <a:xfrm>
            <a:off x="548640" y="2423160"/>
            <a:ext cx="457200" cy="4572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8"/>
          <p:cNvSpPr txBox="1"/>
          <p:nvPr/>
        </p:nvSpPr>
        <p:spPr>
          <a:xfrm>
            <a:off x="548640" y="24231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2</a:t>
            </a:r>
            <a:endParaRPr b="0" i="0" sz="1600" u="none" cap="none" strike="noStrike">
              <a:solidFill>
                <a:schemeClr val="dk1"/>
              </a:solidFill>
              <a:latin typeface="Times New Roman"/>
              <a:ea typeface="Times New Roman"/>
              <a:cs typeface="Times New Roman"/>
              <a:sym typeface="Times New Roman"/>
            </a:endParaRPr>
          </a:p>
        </p:txBody>
      </p:sp>
      <p:sp>
        <p:nvSpPr>
          <p:cNvPr id="528" name="Google Shape;528;p28"/>
          <p:cNvSpPr txBox="1"/>
          <p:nvPr/>
        </p:nvSpPr>
        <p:spPr>
          <a:xfrm>
            <a:off x="1188720" y="2377440"/>
            <a:ext cx="69494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Recortar</a:t>
            </a:r>
            <a:endParaRPr b="0" i="0" sz="16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Sacamos la celda de Nombre y Apellido con las coordenadas del punto a.</a:t>
            </a:r>
            <a:endParaRPr b="0" i="0" sz="1600" u="none" cap="none" strike="noStrike">
              <a:solidFill>
                <a:schemeClr val="dk1"/>
              </a:solidFill>
              <a:latin typeface="Times New Roman"/>
              <a:ea typeface="Times New Roman"/>
              <a:cs typeface="Times New Roman"/>
              <a:sym typeface="Times New Roman"/>
            </a:endParaRPr>
          </a:p>
        </p:txBody>
      </p:sp>
      <p:sp>
        <p:nvSpPr>
          <p:cNvPr id="529" name="Google Shape;529;p28"/>
          <p:cNvSpPr/>
          <p:nvPr/>
        </p:nvSpPr>
        <p:spPr>
          <a:xfrm>
            <a:off x="548640" y="3429000"/>
            <a:ext cx="457200" cy="4572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8"/>
          <p:cNvSpPr txBox="1"/>
          <p:nvPr/>
        </p:nvSpPr>
        <p:spPr>
          <a:xfrm>
            <a:off x="548640" y="34290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3</a:t>
            </a:r>
            <a:endParaRPr b="0" i="0" sz="1600" u="none" cap="none" strike="noStrike">
              <a:solidFill>
                <a:schemeClr val="dk1"/>
              </a:solidFill>
              <a:latin typeface="Times New Roman"/>
              <a:ea typeface="Times New Roman"/>
              <a:cs typeface="Times New Roman"/>
              <a:sym typeface="Times New Roman"/>
            </a:endParaRPr>
          </a:p>
        </p:txBody>
      </p:sp>
      <p:sp>
        <p:nvSpPr>
          <p:cNvPr id="531" name="Google Shape;531;p28"/>
          <p:cNvSpPr txBox="1"/>
          <p:nvPr/>
        </p:nvSpPr>
        <p:spPr>
          <a:xfrm>
            <a:off x="1188720" y="3383280"/>
            <a:ext cx="69494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Agregar margen</a:t>
            </a:r>
            <a:endParaRPr b="0" i="0" sz="16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cv2.copyMakeBorder con BORDER_CONSTANT en 255: 40 px a la izquierda para el indicador y 5 px en los otros lados.</a:t>
            </a:r>
            <a:endParaRPr b="0" i="0" sz="1600" u="none" cap="none" strike="noStrike">
              <a:solidFill>
                <a:schemeClr val="dk1"/>
              </a:solidFill>
              <a:latin typeface="Times New Roman"/>
              <a:ea typeface="Times New Roman"/>
              <a:cs typeface="Times New Roman"/>
              <a:sym typeface="Times New Roman"/>
            </a:endParaRPr>
          </a:p>
        </p:txBody>
      </p:sp>
      <p:sp>
        <p:nvSpPr>
          <p:cNvPr id="532" name="Google Shape;532;p28"/>
          <p:cNvSpPr/>
          <p:nvPr/>
        </p:nvSpPr>
        <p:spPr>
          <a:xfrm>
            <a:off x="548640" y="4434840"/>
            <a:ext cx="457200" cy="4572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8"/>
          <p:cNvSpPr txBox="1"/>
          <p:nvPr/>
        </p:nvSpPr>
        <p:spPr>
          <a:xfrm>
            <a:off x="548640" y="44348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4</a:t>
            </a:r>
            <a:endParaRPr b="0" i="0" sz="1600" u="none" cap="none" strike="noStrike">
              <a:solidFill>
                <a:schemeClr val="dk1"/>
              </a:solidFill>
              <a:latin typeface="Times New Roman"/>
              <a:ea typeface="Times New Roman"/>
              <a:cs typeface="Times New Roman"/>
              <a:sym typeface="Times New Roman"/>
            </a:endParaRPr>
          </a:p>
        </p:txBody>
      </p:sp>
      <p:sp>
        <p:nvSpPr>
          <p:cNvPr id="534" name="Google Shape;534;p28"/>
          <p:cNvSpPr txBox="1"/>
          <p:nvPr/>
        </p:nvSpPr>
        <p:spPr>
          <a:xfrm>
            <a:off x="1188720" y="4389120"/>
            <a:ext cx="69494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Marcar y apilar</a:t>
            </a:r>
            <a:endParaRPr b="0" i="0" sz="16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cv2.putText escribe la letra: azul para L y rojo para R (BGR). np.vstack apila las filas en una sola imagen.</a:t>
            </a:r>
            <a:endParaRPr b="0" i="0" sz="1600" u="none" cap="none" strike="noStrike">
              <a:solidFill>
                <a:schemeClr val="dk1"/>
              </a:solidFill>
              <a:latin typeface="Times New Roman"/>
              <a:ea typeface="Times New Roman"/>
              <a:cs typeface="Times New Roman"/>
              <a:sym typeface="Times New Roman"/>
            </a:endParaRPr>
          </a:p>
        </p:txBody>
      </p:sp>
      <p:sp>
        <p:nvSpPr>
          <p:cNvPr id="535" name="Google Shape;535;p28"/>
          <p:cNvSpPr txBox="1"/>
          <p:nvPr/>
        </p:nvSpPr>
        <p:spPr>
          <a:xfrm>
            <a:off x="548640" y="5486400"/>
            <a:ext cx="75895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Si ningún alumno cumple, se genera igual una imagen con “Sin alumnos L/R” (np.full), porque np.vstack de una lista vacía da error.</a:t>
            </a:r>
            <a:endParaRPr b="0" i="0" sz="1400" u="none" cap="none" strike="noStrike">
              <a:solidFill>
                <a:schemeClr val="dk1"/>
              </a:solidFill>
              <a:latin typeface="Times New Roman"/>
              <a:ea typeface="Times New Roman"/>
              <a:cs typeface="Times New Roman"/>
              <a:sym typeface="Times New Roman"/>
            </a:endParaRPr>
          </a:p>
        </p:txBody>
      </p:sp>
      <p:pic>
        <p:nvPicPr>
          <p:cNvPr descr="Imagen de salida de la planilla 1 con diez alumnos, L en azul y R en rojo" id="536" name="Google Shape;536;p28"/>
          <p:cNvPicPr preferRelativeResize="0"/>
          <p:nvPr/>
        </p:nvPicPr>
        <p:blipFill rotWithShape="1">
          <a:blip r:embed="rId3">
            <a:alphaModFix/>
          </a:blip>
          <a:srcRect b="0" l="0" r="0" t="0"/>
          <a:stretch/>
        </p:blipFill>
        <p:spPr>
          <a:xfrm>
            <a:off x="8885355" y="1371600"/>
            <a:ext cx="2528969" cy="4023360"/>
          </a:xfrm>
          <a:prstGeom prst="rect">
            <a:avLst/>
          </a:prstGeom>
          <a:noFill/>
          <a:ln>
            <a:noFill/>
          </a:ln>
        </p:spPr>
      </p:pic>
      <p:sp>
        <p:nvSpPr>
          <p:cNvPr id="537" name="Google Shape;537;p28"/>
          <p:cNvSpPr/>
          <p:nvPr/>
        </p:nvSpPr>
        <p:spPr>
          <a:xfrm>
            <a:off x="8885355" y="1371600"/>
            <a:ext cx="2528969" cy="402336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8"/>
          <p:cNvSpPr txBox="1"/>
          <p:nvPr/>
        </p:nvSpPr>
        <p:spPr>
          <a:xfrm>
            <a:off x="8686800" y="5486400"/>
            <a:ext cx="29260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Times New Roman"/>
              <a:buNone/>
            </a:pPr>
            <a:r>
              <a:rPr b="1" i="0" lang="en-US" sz="1200" u="none" cap="none" strike="noStrike">
                <a:solidFill>
                  <a:schemeClr val="dk1"/>
                </a:solidFill>
                <a:latin typeface="Times New Roman"/>
                <a:ea typeface="Times New Roman"/>
                <a:cs typeface="Times New Roman"/>
                <a:sym typeface="Times New Roman"/>
              </a:rPr>
              <a:t>Figura 16. </a:t>
            </a:r>
            <a:r>
              <a:rPr b="0" i="0" lang="en-US" sz="1200" u="none" cap="none" strike="noStrike">
                <a:solidFill>
                  <a:schemeClr val="dk1"/>
                </a:solidFill>
                <a:latin typeface="Times New Roman"/>
                <a:ea typeface="Times New Roman"/>
                <a:cs typeface="Times New Roman"/>
                <a:sym typeface="Times New Roman"/>
              </a:rPr>
              <a:t>Planilla 1: 10 alumnos. Azul L, rojo R.</a:t>
            </a:r>
            <a:endParaRPr b="0" i="0" sz="1200" u="none" cap="none" strike="noStrike">
              <a:solidFill>
                <a:schemeClr val="dk1"/>
              </a:solidFill>
              <a:latin typeface="Times New Roman"/>
              <a:ea typeface="Times New Roman"/>
              <a:cs typeface="Times New Roman"/>
              <a:sym typeface="Times New Roman"/>
            </a:endParaRPr>
          </a:p>
        </p:txBody>
      </p:sp>
      <p:sp>
        <p:nvSpPr>
          <p:cNvPr id="539" name="Google Shape;539;p28"/>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29"/>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El CSV y el ciclo sobre las cuatro planillas</a:t>
            </a:r>
            <a:endParaRPr sz="3400"/>
          </a:p>
        </p:txBody>
      </p:sp>
      <p:graphicFrame>
        <p:nvGraphicFramePr>
          <p:cNvPr id="546" name="Google Shape;546;p29"/>
          <p:cNvGraphicFramePr/>
          <p:nvPr/>
        </p:nvGraphicFramePr>
        <p:xfrm>
          <a:off x="548640" y="1371600"/>
          <a:ext cx="3000000" cy="3000000"/>
        </p:xfrm>
        <a:graphic>
          <a:graphicData uri="http://schemas.openxmlformats.org/drawingml/2006/table">
            <a:tbl>
              <a:tblPr>
                <a:noFill/>
                <a:tableStyleId>{E8F1A2DE-F75D-4E95-B11A-8404A869D89C}</a:tableStyleId>
              </a:tblPr>
              <a:tblGrid>
                <a:gridCol w="731525"/>
                <a:gridCol w="1280150"/>
                <a:gridCol w="2651750"/>
                <a:gridCol w="1554475"/>
                <a:gridCol w="1554475"/>
                <a:gridCol w="1554475"/>
                <a:gridCol w="1737350"/>
              </a:tblGrid>
              <a:tr h="411475">
                <a:tc>
                  <a:txBody>
                    <a:bodyPr/>
                    <a:lstStyle/>
                    <a:p>
                      <a:pPr indent="0" lvl="0" marL="0" marR="0" rtl="0" algn="ctr">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ID</a:t>
                      </a:r>
                      <a:endParaRPr sz="1400" u="none" cap="none" strike="noStrike">
                        <a:latin typeface="Times New Roman"/>
                        <a:ea typeface="Times New Roman"/>
                        <a:cs typeface="Times New Roman"/>
                        <a:sym typeface="Times New Roman"/>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Legajo</a:t>
                      </a:r>
                      <a:endParaRPr sz="1400" u="none" cap="none" strike="noStrike">
                        <a:latin typeface="Times New Roman"/>
                        <a:ea typeface="Times New Roman"/>
                        <a:cs typeface="Times New Roman"/>
                        <a:sym typeface="Times New Roman"/>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Nombre y Apellido</a:t>
                      </a:r>
                      <a:endParaRPr sz="1400" u="none" cap="none" strike="noStrike">
                        <a:latin typeface="Times New Roman"/>
                        <a:ea typeface="Times New Roman"/>
                        <a:cs typeface="Times New Roman"/>
                        <a:sym typeface="Times New Roman"/>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Parcial 1</a:t>
                      </a:r>
                      <a:endParaRPr sz="1400" u="none" cap="none" strike="noStrike">
                        <a:latin typeface="Times New Roman"/>
                        <a:ea typeface="Times New Roman"/>
                        <a:cs typeface="Times New Roman"/>
                        <a:sym typeface="Times New Roman"/>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Parcial 2</a:t>
                      </a:r>
                      <a:endParaRPr sz="1400" u="none" cap="none" strike="noStrike">
                        <a:latin typeface="Times New Roman"/>
                        <a:ea typeface="Times New Roman"/>
                        <a:cs typeface="Times New Roman"/>
                        <a:sym typeface="Times New Roman"/>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Parcial 3</a:t>
                      </a:r>
                      <a:endParaRPr sz="1400" u="none" cap="none" strike="noStrike">
                        <a:latin typeface="Times New Roman"/>
                        <a:ea typeface="Times New Roman"/>
                        <a:cs typeface="Times New Roman"/>
                        <a:sym typeface="Times New Roman"/>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Condición Final</a:t>
                      </a:r>
                      <a:endParaRPr sz="1400" u="none" cap="none" strike="noStrike">
                        <a:latin typeface="Times New Roman"/>
                        <a:ea typeface="Times New Roman"/>
                        <a:cs typeface="Times New Roman"/>
                        <a:sym typeface="Times New Roman"/>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r>
              <a:tr h="411475">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1</a:t>
                      </a:r>
                      <a:endParaRPr sz="1400" u="none" cap="none" strike="noStrike">
                        <a:latin typeface="Times New Roman"/>
                        <a:ea typeface="Times New Roman"/>
                        <a:cs typeface="Times New Roman"/>
                        <a:sym typeface="Times New Roman"/>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accent6"/>
                        </a:buClr>
                        <a:buSzPts val="1400"/>
                        <a:buFont typeface="Courier New"/>
                        <a:buNone/>
                      </a:pPr>
                      <a:r>
                        <a:rPr lang="en-US" sz="1400" u="none" cap="none" strike="noStrike">
                          <a:solidFill>
                            <a:schemeClr val="accent6"/>
                          </a:solidFill>
                          <a:latin typeface="Courier New"/>
                          <a:ea typeface="Courier New"/>
                          <a:cs typeface="Courier New"/>
                          <a:sym typeface="Courier New"/>
                        </a:rPr>
                        <a:t>OK</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c>
                  <a:txBody>
                    <a:bodyPr/>
                    <a:lstStyle/>
                    <a:p>
                      <a:pPr indent="0" lvl="0" marL="0" marR="0" rtl="0" algn="ctr">
                        <a:spcBef>
                          <a:spcPts val="0"/>
                        </a:spcBef>
                        <a:spcAft>
                          <a:spcPts val="0"/>
                        </a:spcAft>
                        <a:buClr>
                          <a:schemeClr val="accent6"/>
                        </a:buClr>
                        <a:buSzPts val="1400"/>
                        <a:buFont typeface="Courier New"/>
                        <a:buNone/>
                      </a:pPr>
                      <a:r>
                        <a:rPr lang="en-US" sz="1400" u="none" cap="none" strike="noStrike">
                          <a:solidFill>
                            <a:schemeClr val="accent6"/>
                          </a:solidFill>
                          <a:latin typeface="Courier New"/>
                          <a:ea typeface="Courier New"/>
                          <a:cs typeface="Courier New"/>
                          <a:sym typeface="Courier New"/>
                        </a:rPr>
                        <a:t>OK</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c>
                  <a:txBody>
                    <a:bodyPr/>
                    <a:lstStyle/>
                    <a:p>
                      <a:pPr indent="0" lvl="0" marL="0" marR="0" rtl="0" algn="ctr">
                        <a:spcBef>
                          <a:spcPts val="0"/>
                        </a:spcBef>
                        <a:spcAft>
                          <a:spcPts val="0"/>
                        </a:spcAft>
                        <a:buClr>
                          <a:schemeClr val="accent6"/>
                        </a:buClr>
                        <a:buSzPts val="1400"/>
                        <a:buFont typeface="Courier New"/>
                        <a:buNone/>
                      </a:pPr>
                      <a:r>
                        <a:rPr lang="en-US" sz="1400" u="none" cap="none" strike="noStrike">
                          <a:solidFill>
                            <a:schemeClr val="accent6"/>
                          </a:solidFill>
                          <a:latin typeface="Courier New"/>
                          <a:ea typeface="Courier New"/>
                          <a:cs typeface="Courier New"/>
                          <a:sym typeface="Courier New"/>
                        </a:rPr>
                        <a:t>OK</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c>
                  <a:txBody>
                    <a:bodyPr/>
                    <a:lstStyle/>
                    <a:p>
                      <a:pPr indent="0" lvl="0" marL="0" marR="0" rtl="0" algn="ctr">
                        <a:spcBef>
                          <a:spcPts val="0"/>
                        </a:spcBef>
                        <a:spcAft>
                          <a:spcPts val="0"/>
                        </a:spcAft>
                        <a:buClr>
                          <a:schemeClr val="accent6"/>
                        </a:buClr>
                        <a:buSzPts val="1400"/>
                        <a:buFont typeface="Courier New"/>
                        <a:buNone/>
                      </a:pPr>
                      <a:r>
                        <a:rPr lang="en-US" sz="1400" u="none" cap="none" strike="noStrike">
                          <a:solidFill>
                            <a:schemeClr val="accent6"/>
                          </a:solidFill>
                          <a:latin typeface="Courier New"/>
                          <a:ea typeface="Courier New"/>
                          <a:cs typeface="Courier New"/>
                          <a:sym typeface="Courier New"/>
                        </a:rPr>
                        <a:t>OK</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c>
                  <a:txBody>
                    <a:bodyPr/>
                    <a:lstStyle/>
                    <a:p>
                      <a:pPr indent="0" lvl="0" marL="0" marR="0" rtl="0" algn="ctr">
                        <a:spcBef>
                          <a:spcPts val="0"/>
                        </a:spcBef>
                        <a:spcAft>
                          <a:spcPts val="0"/>
                        </a:spcAft>
                        <a:buClr>
                          <a:schemeClr val="accent6"/>
                        </a:buClr>
                        <a:buSzPts val="1400"/>
                        <a:buFont typeface="Courier New"/>
                        <a:buNone/>
                      </a:pPr>
                      <a:r>
                        <a:rPr lang="en-US" sz="1400" u="none" cap="none" strike="noStrike">
                          <a:solidFill>
                            <a:schemeClr val="accent6"/>
                          </a:solidFill>
                          <a:latin typeface="Courier New"/>
                          <a:ea typeface="Courier New"/>
                          <a:cs typeface="Courier New"/>
                          <a:sym typeface="Courier New"/>
                        </a:rPr>
                        <a:t>OK</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c>
                  <a:txBody>
                    <a:bodyPr/>
                    <a:lstStyle/>
                    <a:p>
                      <a:pPr indent="0" lvl="0" marL="0" marR="0" rtl="0" algn="ctr">
                        <a:spcBef>
                          <a:spcPts val="0"/>
                        </a:spcBef>
                        <a:spcAft>
                          <a:spcPts val="0"/>
                        </a:spcAft>
                        <a:buClr>
                          <a:schemeClr val="accent6"/>
                        </a:buClr>
                        <a:buSzPts val="1400"/>
                        <a:buFont typeface="Courier New"/>
                        <a:buNone/>
                      </a:pPr>
                      <a:r>
                        <a:rPr lang="en-US" sz="1400" u="none" cap="none" strike="noStrike">
                          <a:solidFill>
                            <a:schemeClr val="accent6"/>
                          </a:solidFill>
                          <a:latin typeface="Courier New"/>
                          <a:ea typeface="Courier New"/>
                          <a:cs typeface="Courier New"/>
                          <a:sym typeface="Courier New"/>
                        </a:rPr>
                        <a:t>OK</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r>
              <a:tr h="411475">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2</a:t>
                      </a:r>
                      <a:endParaRPr sz="1400" u="none" cap="none" strike="noStrike">
                        <a:latin typeface="Times New Roman"/>
                        <a:ea typeface="Times New Roman"/>
                        <a:cs typeface="Times New Roman"/>
                        <a:sym typeface="Times New Roman"/>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accent6"/>
                        </a:buClr>
                        <a:buSzPts val="1400"/>
                        <a:buFont typeface="Courier New"/>
                        <a:buNone/>
                      </a:pPr>
                      <a:r>
                        <a:rPr lang="en-US" sz="1400" u="none" cap="none" strike="noStrike">
                          <a:solidFill>
                            <a:schemeClr val="accent6"/>
                          </a:solidFill>
                          <a:latin typeface="Courier New"/>
                          <a:ea typeface="Courier New"/>
                          <a:cs typeface="Courier New"/>
                          <a:sym typeface="Courier New"/>
                        </a:rPr>
                        <a:t>OK</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c>
                  <a:txBody>
                    <a:bodyPr/>
                    <a:lstStyle/>
                    <a:p>
                      <a:pPr indent="0" lvl="0" marL="0" marR="0" rtl="0" algn="ctr">
                        <a:spcBef>
                          <a:spcPts val="0"/>
                        </a:spcBef>
                        <a:spcAft>
                          <a:spcPts val="0"/>
                        </a:spcAft>
                        <a:buClr>
                          <a:schemeClr val="accent6"/>
                        </a:buClr>
                        <a:buSzPts val="1400"/>
                        <a:buFont typeface="Courier New"/>
                        <a:buNone/>
                      </a:pPr>
                      <a:r>
                        <a:rPr lang="en-US" sz="1400" u="none" cap="none" strike="noStrike">
                          <a:solidFill>
                            <a:schemeClr val="accent6"/>
                          </a:solidFill>
                          <a:latin typeface="Courier New"/>
                          <a:ea typeface="Courier New"/>
                          <a:cs typeface="Courier New"/>
                          <a:sym typeface="Courier New"/>
                        </a:rPr>
                        <a:t>OK</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c>
                  <a:txBody>
                    <a:bodyPr/>
                    <a:lstStyle/>
                    <a:p>
                      <a:pPr indent="0" lvl="0" marL="0" marR="0" rtl="0" algn="ctr">
                        <a:spcBef>
                          <a:spcPts val="0"/>
                        </a:spcBef>
                        <a:spcAft>
                          <a:spcPts val="0"/>
                        </a:spcAft>
                        <a:buClr>
                          <a:schemeClr val="accent6"/>
                        </a:buClr>
                        <a:buSzPts val="1400"/>
                        <a:buFont typeface="Courier New"/>
                        <a:buNone/>
                      </a:pPr>
                      <a:r>
                        <a:rPr lang="en-US" sz="1400" u="none" cap="none" strike="noStrike">
                          <a:solidFill>
                            <a:schemeClr val="accent6"/>
                          </a:solidFill>
                          <a:latin typeface="Courier New"/>
                          <a:ea typeface="Courier New"/>
                          <a:cs typeface="Courier New"/>
                          <a:sym typeface="Courier New"/>
                        </a:rPr>
                        <a:t>OK</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c>
                  <a:txBody>
                    <a:bodyPr/>
                    <a:lstStyle/>
                    <a:p>
                      <a:pPr indent="0" lvl="0" marL="0" marR="0" rtl="0" algn="ctr">
                        <a:spcBef>
                          <a:spcPts val="0"/>
                        </a:spcBef>
                        <a:spcAft>
                          <a:spcPts val="0"/>
                        </a:spcAft>
                        <a:buClr>
                          <a:schemeClr val="accent6"/>
                        </a:buClr>
                        <a:buSzPts val="1400"/>
                        <a:buFont typeface="Courier New"/>
                        <a:buNone/>
                      </a:pPr>
                      <a:r>
                        <a:rPr lang="en-US" sz="1400" u="none" cap="none" strike="noStrike">
                          <a:solidFill>
                            <a:schemeClr val="accent6"/>
                          </a:solidFill>
                          <a:latin typeface="Courier New"/>
                          <a:ea typeface="Courier New"/>
                          <a:cs typeface="Courier New"/>
                          <a:sym typeface="Courier New"/>
                        </a:rPr>
                        <a:t>OK</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c>
                  <a:txBody>
                    <a:bodyPr/>
                    <a:lstStyle/>
                    <a:p>
                      <a:pPr indent="0" lvl="0" marL="0" marR="0" rtl="0" algn="ctr">
                        <a:spcBef>
                          <a:spcPts val="0"/>
                        </a:spcBef>
                        <a:spcAft>
                          <a:spcPts val="0"/>
                        </a:spcAft>
                        <a:buClr>
                          <a:schemeClr val="accent6"/>
                        </a:buClr>
                        <a:buSzPts val="1400"/>
                        <a:buFont typeface="Courier New"/>
                        <a:buNone/>
                      </a:pPr>
                      <a:r>
                        <a:rPr lang="en-US" sz="1400" u="none" cap="none" strike="noStrike">
                          <a:solidFill>
                            <a:schemeClr val="accent6"/>
                          </a:solidFill>
                          <a:latin typeface="Courier New"/>
                          <a:ea typeface="Courier New"/>
                          <a:cs typeface="Courier New"/>
                          <a:sym typeface="Courier New"/>
                        </a:rPr>
                        <a:t>OK</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c>
                  <a:txBody>
                    <a:bodyPr/>
                    <a:lstStyle/>
                    <a:p>
                      <a:pPr indent="0" lvl="0" marL="0" marR="0" rtl="0" algn="ctr">
                        <a:spcBef>
                          <a:spcPts val="0"/>
                        </a:spcBef>
                        <a:spcAft>
                          <a:spcPts val="0"/>
                        </a:spcAft>
                        <a:buClr>
                          <a:schemeClr val="accent6"/>
                        </a:buClr>
                        <a:buSzPts val="1400"/>
                        <a:buFont typeface="Courier New"/>
                        <a:buNone/>
                      </a:pPr>
                      <a:r>
                        <a:rPr lang="en-US" sz="1400" u="none" cap="none" strike="noStrike">
                          <a:solidFill>
                            <a:schemeClr val="accent6"/>
                          </a:solidFill>
                          <a:latin typeface="Courier New"/>
                          <a:ea typeface="Courier New"/>
                          <a:cs typeface="Courier New"/>
                          <a:sym typeface="Courier New"/>
                        </a:rPr>
                        <a:t>OK</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r>
              <a:tr h="411475">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3</a:t>
                      </a:r>
                      <a:endParaRPr sz="1400" u="none" cap="none" strike="noStrike">
                        <a:latin typeface="Times New Roman"/>
                        <a:ea typeface="Times New Roman"/>
                        <a:cs typeface="Times New Roman"/>
                        <a:sym typeface="Times New Roman"/>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MAL</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4"/>
                    </a:solidFill>
                  </a:tcPr>
                </a:tc>
                <a:tc>
                  <a:txBody>
                    <a:bodyPr/>
                    <a:lstStyle/>
                    <a:p>
                      <a:pPr indent="0" lvl="0" marL="0" marR="0" rtl="0" algn="ctr">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MAL</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4"/>
                    </a:solidFill>
                  </a:tcPr>
                </a:tc>
                <a:tc>
                  <a:txBody>
                    <a:bodyPr/>
                    <a:lstStyle/>
                    <a:p>
                      <a:pPr indent="0" lvl="0" marL="0" marR="0" rtl="0" algn="ctr">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MAL</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4"/>
                    </a:solidFill>
                  </a:tcPr>
                </a:tc>
                <a:tc>
                  <a:txBody>
                    <a:bodyPr/>
                    <a:lstStyle/>
                    <a:p>
                      <a:pPr indent="0" lvl="0" marL="0" marR="0" rtl="0" algn="ctr">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MAL</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4"/>
                    </a:solidFill>
                  </a:tcPr>
                </a:tc>
                <a:tc>
                  <a:txBody>
                    <a:bodyPr/>
                    <a:lstStyle/>
                    <a:p>
                      <a:pPr indent="0" lvl="0" marL="0" marR="0" rtl="0" algn="ctr">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MAL</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4"/>
                    </a:solidFill>
                  </a:tcPr>
                </a:tc>
                <a:tc>
                  <a:txBody>
                    <a:bodyPr/>
                    <a:lstStyle/>
                    <a:p>
                      <a:pPr indent="0" lvl="0" marL="0" marR="0" rtl="0" algn="ctr">
                        <a:spcBef>
                          <a:spcPts val="0"/>
                        </a:spcBef>
                        <a:spcAft>
                          <a:spcPts val="0"/>
                        </a:spcAft>
                        <a:buClr>
                          <a:schemeClr val="dk1"/>
                        </a:buClr>
                        <a:buSzPts val="1400"/>
                        <a:buFont typeface="Courier New"/>
                        <a:buNone/>
                      </a:pPr>
                      <a:r>
                        <a:rPr lang="en-US" sz="1400" u="none" cap="none" strike="noStrike">
                          <a:solidFill>
                            <a:schemeClr val="dk1"/>
                          </a:solidFill>
                          <a:latin typeface="Courier New"/>
                          <a:ea typeface="Courier New"/>
                          <a:cs typeface="Courier New"/>
                          <a:sym typeface="Courier New"/>
                        </a:rPr>
                        <a:t>MAL</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4"/>
                    </a:solidFill>
                  </a:tcPr>
                </a:tc>
              </a:tr>
              <a:tr h="411475">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4</a:t>
                      </a:r>
                      <a:endParaRPr sz="1400" u="none" cap="none" strike="noStrike">
                        <a:latin typeface="Times New Roman"/>
                        <a:ea typeface="Times New Roman"/>
                        <a:cs typeface="Times New Roman"/>
                        <a:sym typeface="Times New Roman"/>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accent6"/>
                        </a:buClr>
                        <a:buSzPts val="1400"/>
                        <a:buFont typeface="Courier New"/>
                        <a:buNone/>
                      </a:pPr>
                      <a:r>
                        <a:rPr lang="en-US" sz="1400" u="none" cap="none" strike="noStrike">
                          <a:solidFill>
                            <a:schemeClr val="accent6"/>
                          </a:solidFill>
                          <a:latin typeface="Courier New"/>
                          <a:ea typeface="Courier New"/>
                          <a:cs typeface="Courier New"/>
                          <a:sym typeface="Courier New"/>
                        </a:rPr>
                        <a:t>OK</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c>
                  <a:txBody>
                    <a:bodyPr/>
                    <a:lstStyle/>
                    <a:p>
                      <a:pPr indent="0" lvl="0" marL="0" marR="0" rtl="0" algn="ctr">
                        <a:spcBef>
                          <a:spcPts val="0"/>
                        </a:spcBef>
                        <a:spcAft>
                          <a:spcPts val="0"/>
                        </a:spcAft>
                        <a:buClr>
                          <a:schemeClr val="accent6"/>
                        </a:buClr>
                        <a:buSzPts val="1400"/>
                        <a:buFont typeface="Courier New"/>
                        <a:buNone/>
                      </a:pPr>
                      <a:r>
                        <a:rPr lang="en-US" sz="1400" u="none" cap="none" strike="noStrike">
                          <a:solidFill>
                            <a:schemeClr val="accent6"/>
                          </a:solidFill>
                          <a:latin typeface="Courier New"/>
                          <a:ea typeface="Courier New"/>
                          <a:cs typeface="Courier New"/>
                          <a:sym typeface="Courier New"/>
                        </a:rPr>
                        <a:t>OK</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c>
                  <a:txBody>
                    <a:bodyPr/>
                    <a:lstStyle/>
                    <a:p>
                      <a:pPr indent="0" lvl="0" marL="0" marR="0" rtl="0" algn="ctr">
                        <a:spcBef>
                          <a:spcPts val="0"/>
                        </a:spcBef>
                        <a:spcAft>
                          <a:spcPts val="0"/>
                        </a:spcAft>
                        <a:buClr>
                          <a:schemeClr val="accent6"/>
                        </a:buClr>
                        <a:buSzPts val="1400"/>
                        <a:buFont typeface="Courier New"/>
                        <a:buNone/>
                      </a:pPr>
                      <a:r>
                        <a:rPr lang="en-US" sz="1400" u="none" cap="none" strike="noStrike">
                          <a:solidFill>
                            <a:schemeClr val="accent6"/>
                          </a:solidFill>
                          <a:latin typeface="Courier New"/>
                          <a:ea typeface="Courier New"/>
                          <a:cs typeface="Courier New"/>
                          <a:sym typeface="Courier New"/>
                        </a:rPr>
                        <a:t>OK</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c>
                  <a:txBody>
                    <a:bodyPr/>
                    <a:lstStyle/>
                    <a:p>
                      <a:pPr indent="0" lvl="0" marL="0" marR="0" rtl="0" algn="ctr">
                        <a:spcBef>
                          <a:spcPts val="0"/>
                        </a:spcBef>
                        <a:spcAft>
                          <a:spcPts val="0"/>
                        </a:spcAft>
                        <a:buClr>
                          <a:schemeClr val="accent6"/>
                        </a:buClr>
                        <a:buSzPts val="1400"/>
                        <a:buFont typeface="Courier New"/>
                        <a:buNone/>
                      </a:pPr>
                      <a:r>
                        <a:rPr lang="en-US" sz="1400" u="none" cap="none" strike="noStrike">
                          <a:solidFill>
                            <a:schemeClr val="accent6"/>
                          </a:solidFill>
                          <a:latin typeface="Courier New"/>
                          <a:ea typeface="Courier New"/>
                          <a:cs typeface="Courier New"/>
                          <a:sym typeface="Courier New"/>
                        </a:rPr>
                        <a:t>OK</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c>
                  <a:txBody>
                    <a:bodyPr/>
                    <a:lstStyle/>
                    <a:p>
                      <a:pPr indent="0" lvl="0" marL="0" marR="0" rtl="0" algn="ctr">
                        <a:spcBef>
                          <a:spcPts val="0"/>
                        </a:spcBef>
                        <a:spcAft>
                          <a:spcPts val="0"/>
                        </a:spcAft>
                        <a:buClr>
                          <a:schemeClr val="accent6"/>
                        </a:buClr>
                        <a:buSzPts val="1400"/>
                        <a:buFont typeface="Courier New"/>
                        <a:buNone/>
                      </a:pPr>
                      <a:r>
                        <a:rPr lang="en-US" sz="1400" u="none" cap="none" strike="noStrike">
                          <a:solidFill>
                            <a:schemeClr val="accent6"/>
                          </a:solidFill>
                          <a:latin typeface="Courier New"/>
                          <a:ea typeface="Courier New"/>
                          <a:cs typeface="Courier New"/>
                          <a:sym typeface="Courier New"/>
                        </a:rPr>
                        <a:t>OK</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c>
                  <a:txBody>
                    <a:bodyPr/>
                    <a:lstStyle/>
                    <a:p>
                      <a:pPr indent="0" lvl="0" marL="0" marR="0" rtl="0" algn="ctr">
                        <a:spcBef>
                          <a:spcPts val="0"/>
                        </a:spcBef>
                        <a:spcAft>
                          <a:spcPts val="0"/>
                        </a:spcAft>
                        <a:buClr>
                          <a:schemeClr val="accent6"/>
                        </a:buClr>
                        <a:buSzPts val="1400"/>
                        <a:buFont typeface="Courier New"/>
                        <a:buNone/>
                      </a:pPr>
                      <a:r>
                        <a:rPr lang="en-US" sz="1400" u="none" cap="none" strike="noStrike">
                          <a:solidFill>
                            <a:schemeClr val="accent6"/>
                          </a:solidFill>
                          <a:latin typeface="Courier New"/>
                          <a:ea typeface="Courier New"/>
                          <a:cs typeface="Courier New"/>
                          <a:sym typeface="Courier New"/>
                        </a:rPr>
                        <a:t>OK</a:t>
                      </a:r>
                      <a:endParaRPr sz="1400" u="none" cap="none" strike="noStrike">
                        <a:latin typeface="Courier New"/>
                        <a:ea typeface="Courier New"/>
                        <a:cs typeface="Courier New"/>
                        <a:sym typeface="Courier New"/>
                      </a:endParaRPr>
                    </a:p>
                  </a:txBody>
                  <a:tcPr marT="27425" marB="274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r>
            </a:tbl>
          </a:graphicData>
        </a:graphic>
      </p:graphicFrame>
      <p:sp>
        <p:nvSpPr>
          <p:cNvPr id="547" name="Google Shape;547;p29"/>
          <p:cNvSpPr txBox="1"/>
          <p:nvPr/>
        </p:nvSpPr>
        <p:spPr>
          <a:xfrm>
            <a:off x="548640" y="3474720"/>
            <a:ext cx="11064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Primeras filas de validacion_grade_sheet_1.csv</a:t>
            </a:r>
            <a:endParaRPr b="0" i="0" sz="1200" u="none" cap="none" strike="noStrike">
              <a:solidFill>
                <a:schemeClr val="dk1"/>
              </a:solidFill>
              <a:latin typeface="Times New Roman"/>
              <a:ea typeface="Times New Roman"/>
              <a:cs typeface="Times New Roman"/>
              <a:sym typeface="Times New Roman"/>
            </a:endParaRPr>
          </a:p>
        </p:txBody>
      </p:sp>
      <p:sp>
        <p:nvSpPr>
          <p:cNvPr id="548" name="Google Shape;548;p29"/>
          <p:cNvSpPr/>
          <p:nvPr/>
        </p:nvSpPr>
        <p:spPr>
          <a:xfrm>
            <a:off x="548640" y="3977640"/>
            <a:ext cx="5440680" cy="219456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9"/>
          <p:cNvSpPr txBox="1"/>
          <p:nvPr/>
        </p:nvSpPr>
        <p:spPr>
          <a:xfrm>
            <a:off x="777240" y="4114800"/>
            <a:ext cx="4983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Punto c: una fila por registro</a:t>
            </a:r>
            <a:endParaRPr b="0" i="0" sz="1800" u="none" cap="none" strike="noStrike">
              <a:solidFill>
                <a:schemeClr val="dk1"/>
              </a:solidFill>
              <a:latin typeface="Times New Roman"/>
              <a:ea typeface="Times New Roman"/>
              <a:cs typeface="Times New Roman"/>
              <a:sym typeface="Times New Roman"/>
            </a:endParaRPr>
          </a:p>
        </p:txBody>
      </p:sp>
      <p:sp>
        <p:nvSpPr>
          <p:cNvPr id="550" name="Google Shape;550;p29"/>
          <p:cNvSpPr txBox="1"/>
          <p:nvPr/>
        </p:nvSpPr>
        <p:spPr>
          <a:xfrm>
            <a:off x="777240" y="4663440"/>
            <a:ext cx="498348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ID del 1 al 20 en el orden de la planilla y encabezado copiado de la consigna. Las filas vacías van con todo MAL. Lo escribimos con open y write: el material no tiene ejemplos de CSV.</a:t>
            </a:r>
            <a:endParaRPr b="0" i="0" sz="1400" u="none" cap="none" strike="noStrike">
              <a:solidFill>
                <a:schemeClr val="dk1"/>
              </a:solidFill>
              <a:latin typeface="Times New Roman"/>
              <a:ea typeface="Times New Roman"/>
              <a:cs typeface="Times New Roman"/>
              <a:sym typeface="Times New Roman"/>
            </a:endParaRPr>
          </a:p>
        </p:txBody>
      </p:sp>
      <p:sp>
        <p:nvSpPr>
          <p:cNvPr id="551" name="Google Shape;551;p29"/>
          <p:cNvSpPr/>
          <p:nvPr/>
        </p:nvSpPr>
        <p:spPr>
          <a:xfrm>
            <a:off x="6172200" y="3977640"/>
            <a:ext cx="5440680" cy="219456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9"/>
          <p:cNvSpPr txBox="1"/>
          <p:nvPr/>
        </p:nvSpPr>
        <p:spPr>
          <a:xfrm>
            <a:off x="6400800" y="4114800"/>
            <a:ext cx="4983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Punto d: un for con k de 1 a 4</a:t>
            </a:r>
            <a:endParaRPr b="0" i="0" sz="1800" u="none" cap="none" strike="noStrike">
              <a:solidFill>
                <a:schemeClr val="dk1"/>
              </a:solidFill>
              <a:latin typeface="Times New Roman"/>
              <a:ea typeface="Times New Roman"/>
              <a:cs typeface="Times New Roman"/>
              <a:sym typeface="Times New Roman"/>
            </a:endParaRPr>
          </a:p>
        </p:txBody>
      </p:sp>
      <p:sp>
        <p:nvSpPr>
          <p:cNvPr id="553" name="Google Shape;553;p29"/>
          <p:cNvSpPr txBox="1"/>
          <p:nvPr/>
        </p:nvSpPr>
        <p:spPr>
          <a:xfrm>
            <a:off x="6400800" y="4663440"/>
            <a:ext cx="498348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Arma grade_sheet_{k}.png y deja afuera grade_sheet_empty.png. Cada planilla se valida una sola vez y genera la salida por consola, la imagen no_aprobados, el CSV y un resumen.</a:t>
            </a:r>
            <a:endParaRPr b="0" i="0" sz="1400" u="none" cap="none" strike="noStrike">
              <a:solidFill>
                <a:schemeClr val="dk1"/>
              </a:solidFill>
              <a:latin typeface="Times New Roman"/>
              <a:ea typeface="Times New Roman"/>
              <a:cs typeface="Times New Roman"/>
              <a:sym typeface="Times New Roman"/>
            </a:endParaRPr>
          </a:p>
        </p:txBody>
      </p:sp>
      <p:sp>
        <p:nvSpPr>
          <p:cNvPr id="554" name="Google Shape;554;p29"/>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30"/>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Cuántos registros pasan en cada planilla</a:t>
            </a:r>
            <a:endParaRPr sz="3400"/>
          </a:p>
        </p:txBody>
      </p:sp>
      <p:pic>
        <p:nvPicPr>
          <p:cNvPr id="561" name="Google Shape;561;p30"/>
          <p:cNvPicPr preferRelativeResize="0"/>
          <p:nvPr/>
        </p:nvPicPr>
        <p:blipFill rotWithShape="1">
          <a:blip r:embed="rId3">
            <a:alphaModFix/>
          </a:blip>
          <a:srcRect b="0" l="0" r="0" t="0"/>
          <a:stretch/>
        </p:blipFill>
        <p:spPr>
          <a:xfrm>
            <a:off x="548640" y="1371600"/>
            <a:ext cx="5760720" cy="4663440"/>
          </a:xfrm>
          <a:prstGeom prst="rect">
            <a:avLst/>
          </a:prstGeom>
          <a:noFill/>
          <a:ln>
            <a:noFill/>
          </a:ln>
        </p:spPr>
      </p:pic>
      <p:graphicFrame>
        <p:nvGraphicFramePr>
          <p:cNvPr id="562" name="Google Shape;562;p30"/>
          <p:cNvGraphicFramePr/>
          <p:nvPr/>
        </p:nvGraphicFramePr>
        <p:xfrm>
          <a:off x="6675120" y="1645920"/>
          <a:ext cx="3000000" cy="3000000"/>
        </p:xfrm>
        <a:graphic>
          <a:graphicData uri="http://schemas.openxmlformats.org/drawingml/2006/table">
            <a:tbl>
              <a:tblPr>
                <a:noFill/>
                <a:tableStyleId>{E8F1A2DE-F75D-4E95-B11A-8404A869D89C}</a:tableStyleId>
              </a:tblPr>
              <a:tblGrid>
                <a:gridCol w="1005850"/>
                <a:gridCol w="1188725"/>
                <a:gridCol w="1280150"/>
                <a:gridCol w="1463050"/>
              </a:tblGrid>
              <a:tr h="640075">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Planilla</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OK</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Libres (L)</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Recuperan (R)</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r>
              <a:tr h="548650">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1</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15 de 20</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6</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4</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48650">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2</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3 de 20</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3</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0</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48650">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3</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0 de 20</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0</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0</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48650">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4</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6 de 20</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2</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2</a:t>
                      </a:r>
                      <a:endParaRPr sz="1400" u="none" cap="none" strike="noStrike">
                        <a:latin typeface="Times New Roman"/>
                        <a:ea typeface="Times New Roman"/>
                        <a:cs typeface="Times New Roman"/>
                        <a:sym typeface="Times New Roman"/>
                      </a:endParaRPr>
                    </a:p>
                  </a:txBody>
                  <a:tcPr marT="45725" marB="4572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563" name="Google Shape;563;p30"/>
          <p:cNvSpPr txBox="1"/>
          <p:nvPr/>
        </p:nvSpPr>
        <p:spPr>
          <a:xfrm>
            <a:off x="6675120" y="4754880"/>
            <a:ext cx="493776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En la planilla 3 ningún registro tiene los seis campos bien, y la imagen de salida dice “Sin alumnos L/R”.</a:t>
            </a:r>
            <a:endParaRPr b="0" i="0" sz="1600" u="none" cap="none" strike="noStrike">
              <a:solidFill>
                <a:schemeClr val="dk1"/>
              </a:solidFill>
              <a:latin typeface="Times New Roman"/>
              <a:ea typeface="Times New Roman"/>
              <a:cs typeface="Times New Roman"/>
              <a:sym typeface="Times New Roman"/>
            </a:endParaRPr>
          </a:p>
        </p:txBody>
      </p:sp>
      <p:sp>
        <p:nvSpPr>
          <p:cNvPr id="564" name="Google Shape;564;p30"/>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31"/>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Cuántos campos fallan en cada planilla</a:t>
            </a:r>
            <a:endParaRPr sz="3400"/>
          </a:p>
        </p:txBody>
      </p:sp>
      <p:pic>
        <p:nvPicPr>
          <p:cNvPr id="571" name="Google Shape;571;p31"/>
          <p:cNvPicPr preferRelativeResize="0"/>
          <p:nvPr/>
        </p:nvPicPr>
        <p:blipFill rotWithShape="1">
          <a:blip r:embed="rId3">
            <a:alphaModFix/>
          </a:blip>
          <a:srcRect b="0" l="0" r="0" t="0"/>
          <a:stretch/>
        </p:blipFill>
        <p:spPr>
          <a:xfrm>
            <a:off x="548640" y="1371600"/>
            <a:ext cx="7040880" cy="4754880"/>
          </a:xfrm>
          <a:prstGeom prst="rect">
            <a:avLst/>
          </a:prstGeom>
          <a:noFill/>
          <a:ln>
            <a:noFill/>
          </a:ln>
        </p:spPr>
      </p:pic>
      <p:sp>
        <p:nvSpPr>
          <p:cNvPr id="572" name="Google Shape;572;p31"/>
          <p:cNvSpPr txBox="1"/>
          <p:nvPr/>
        </p:nvSpPr>
        <p:spPr>
          <a:xfrm>
            <a:off x="7955280" y="1371600"/>
            <a:ext cx="3657600" cy="4754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La planilla 1 es la limpia: los únicos MAL son las 5 filas vacías (3, 11, 14, 15 y 20).</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120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La planilla 3 no tiene ningún registro completo: legajos con dígitos de más o de menos o con espacios, nombres de una palabra o muy largos, notas vacías o de tres caracteres (“100”, “AUS”) y condiciones como “LL”, “RR” o “Rec”.</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120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Una fila vacía cuenta como registro con todo MAL.</a:t>
            </a:r>
            <a:endParaRPr b="0" i="0" sz="1400" u="none" cap="none" strike="noStrike">
              <a:solidFill>
                <a:schemeClr val="dk1"/>
              </a:solidFill>
              <a:latin typeface="Times New Roman"/>
              <a:ea typeface="Times New Roman"/>
              <a:cs typeface="Times New Roman"/>
              <a:sym typeface="Times New Roman"/>
            </a:endParaRPr>
          </a:p>
        </p:txBody>
      </p:sp>
      <p:sp>
        <p:nvSpPr>
          <p:cNvPr id="573" name="Google Shape;573;p31"/>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32"/>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Validación por celda de la planilla 1</a:t>
            </a:r>
            <a:endParaRPr sz="3400"/>
          </a:p>
        </p:txBody>
      </p:sp>
      <p:pic>
        <p:nvPicPr>
          <p:cNvPr descr="Planilla 1 con las celdas OK en verde y MAL en rojo" id="580" name="Google Shape;580;p32"/>
          <p:cNvPicPr preferRelativeResize="0"/>
          <p:nvPr/>
        </p:nvPicPr>
        <p:blipFill rotWithShape="1">
          <a:blip r:embed="rId3">
            <a:alphaModFix/>
          </a:blip>
          <a:srcRect b="0" l="0" r="0" t="0"/>
          <a:stretch/>
        </p:blipFill>
        <p:spPr>
          <a:xfrm>
            <a:off x="705733" y="1371600"/>
            <a:ext cx="5720853" cy="4480560"/>
          </a:xfrm>
          <a:prstGeom prst="rect">
            <a:avLst/>
          </a:prstGeom>
          <a:noFill/>
          <a:ln>
            <a:noFill/>
          </a:ln>
        </p:spPr>
      </p:pic>
      <p:sp>
        <p:nvSpPr>
          <p:cNvPr id="581" name="Google Shape;581;p32"/>
          <p:cNvSpPr/>
          <p:nvPr/>
        </p:nvSpPr>
        <p:spPr>
          <a:xfrm>
            <a:off x="705733" y="1371600"/>
            <a:ext cx="5720853" cy="448056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2"/>
          <p:cNvSpPr txBox="1"/>
          <p:nvPr/>
        </p:nvSpPr>
        <p:spPr>
          <a:xfrm>
            <a:off x="548640" y="5943600"/>
            <a:ext cx="60350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Times New Roman"/>
              <a:buNone/>
            </a:pPr>
            <a:r>
              <a:rPr b="1" i="0" lang="en-US" sz="1200" u="none" cap="none" strike="noStrike">
                <a:solidFill>
                  <a:schemeClr val="dk1"/>
                </a:solidFill>
                <a:latin typeface="Times New Roman"/>
                <a:ea typeface="Times New Roman"/>
                <a:cs typeface="Times New Roman"/>
                <a:sym typeface="Times New Roman"/>
              </a:rPr>
              <a:t>Figura 15. </a:t>
            </a:r>
            <a:r>
              <a:rPr b="0" i="0" lang="en-US" sz="1200" u="none" cap="none" strike="noStrike">
                <a:solidFill>
                  <a:schemeClr val="dk1"/>
                </a:solidFill>
                <a:latin typeface="Times New Roman"/>
                <a:ea typeface="Times New Roman"/>
                <a:cs typeface="Times New Roman"/>
                <a:sym typeface="Times New Roman"/>
              </a:rPr>
              <a:t>Verde indica OK y rojo indica MAL. Las filas sin datos quedan en rojo.</a:t>
            </a:r>
            <a:endParaRPr b="0" i="0" sz="1200" u="none" cap="none" strike="noStrike">
              <a:solidFill>
                <a:schemeClr val="dk1"/>
              </a:solidFill>
              <a:latin typeface="Times New Roman"/>
              <a:ea typeface="Times New Roman"/>
              <a:cs typeface="Times New Roman"/>
              <a:sym typeface="Times New Roman"/>
            </a:endParaRPr>
          </a:p>
        </p:txBody>
      </p:sp>
      <p:sp>
        <p:nvSpPr>
          <p:cNvPr id="583" name="Google Shape;583;p32"/>
          <p:cNvSpPr/>
          <p:nvPr/>
        </p:nvSpPr>
        <p:spPr>
          <a:xfrm>
            <a:off x="7132320" y="1463040"/>
            <a:ext cx="914400" cy="457200"/>
          </a:xfrm>
          <a:prstGeom prst="rect">
            <a:avLst/>
          </a:prstGeom>
          <a:solidFill>
            <a:schemeClr val="accent3"/>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2"/>
          <p:cNvSpPr txBox="1"/>
          <p:nvPr/>
        </p:nvSpPr>
        <p:spPr>
          <a:xfrm>
            <a:off x="7132320" y="1463040"/>
            <a:ext cx="9144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400"/>
              <a:buFont typeface="Courier New"/>
              <a:buNone/>
            </a:pPr>
            <a:r>
              <a:rPr b="1" i="0" lang="en-US" sz="1400" u="none" cap="none" strike="noStrike">
                <a:solidFill>
                  <a:schemeClr val="accent6"/>
                </a:solidFill>
                <a:latin typeface="Courier New"/>
                <a:ea typeface="Courier New"/>
                <a:cs typeface="Courier New"/>
                <a:sym typeface="Courier New"/>
              </a:rPr>
              <a:t>OK</a:t>
            </a:r>
            <a:endParaRPr b="0" i="0" sz="1400" u="none" cap="none" strike="noStrike">
              <a:solidFill>
                <a:schemeClr val="dk1"/>
              </a:solidFill>
              <a:latin typeface="Times New Roman"/>
              <a:ea typeface="Times New Roman"/>
              <a:cs typeface="Times New Roman"/>
              <a:sym typeface="Times New Roman"/>
            </a:endParaRPr>
          </a:p>
        </p:txBody>
      </p:sp>
      <p:sp>
        <p:nvSpPr>
          <p:cNvPr id="585" name="Google Shape;585;p32"/>
          <p:cNvSpPr txBox="1"/>
          <p:nvPr/>
        </p:nvSpPr>
        <p:spPr>
          <a:xfrm>
            <a:off x="8229600" y="1463040"/>
            <a:ext cx="3383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el campo cumple su regla</a:t>
            </a:r>
            <a:endParaRPr b="0" i="0" sz="1400" u="none" cap="none" strike="noStrike">
              <a:solidFill>
                <a:schemeClr val="dk1"/>
              </a:solidFill>
              <a:latin typeface="Times New Roman"/>
              <a:ea typeface="Times New Roman"/>
              <a:cs typeface="Times New Roman"/>
              <a:sym typeface="Times New Roman"/>
            </a:endParaRPr>
          </a:p>
        </p:txBody>
      </p:sp>
      <p:sp>
        <p:nvSpPr>
          <p:cNvPr id="586" name="Google Shape;586;p32"/>
          <p:cNvSpPr/>
          <p:nvPr/>
        </p:nvSpPr>
        <p:spPr>
          <a:xfrm>
            <a:off x="7132320" y="2103120"/>
            <a:ext cx="914400" cy="457200"/>
          </a:xfrm>
          <a:prstGeom prst="rect">
            <a:avLst/>
          </a:prstGeom>
          <a:solidFill>
            <a:schemeClr val="accent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2"/>
          <p:cNvSpPr txBox="1"/>
          <p:nvPr/>
        </p:nvSpPr>
        <p:spPr>
          <a:xfrm>
            <a:off x="7132320" y="2103120"/>
            <a:ext cx="9144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ourier New"/>
              <a:buNone/>
            </a:pPr>
            <a:r>
              <a:rPr b="1" i="0" lang="en-US" sz="1400" u="none" cap="none" strike="noStrike">
                <a:solidFill>
                  <a:schemeClr val="dk1"/>
                </a:solidFill>
                <a:latin typeface="Courier New"/>
                <a:ea typeface="Courier New"/>
                <a:cs typeface="Courier New"/>
                <a:sym typeface="Courier New"/>
              </a:rPr>
              <a:t>MAL</a:t>
            </a:r>
            <a:endParaRPr b="0" i="0" sz="1400" u="none" cap="none" strike="noStrike">
              <a:solidFill>
                <a:schemeClr val="dk1"/>
              </a:solidFill>
              <a:latin typeface="Times New Roman"/>
              <a:ea typeface="Times New Roman"/>
              <a:cs typeface="Times New Roman"/>
              <a:sym typeface="Times New Roman"/>
            </a:endParaRPr>
          </a:p>
        </p:txBody>
      </p:sp>
      <p:sp>
        <p:nvSpPr>
          <p:cNvPr id="588" name="Google Shape;588;p32"/>
          <p:cNvSpPr txBox="1"/>
          <p:nvPr/>
        </p:nvSpPr>
        <p:spPr>
          <a:xfrm>
            <a:off x="8229600" y="2103120"/>
            <a:ext cx="3383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el campo no la cumple</a:t>
            </a:r>
            <a:endParaRPr b="0" i="0" sz="1400" u="none" cap="none" strike="noStrike">
              <a:solidFill>
                <a:schemeClr val="dk1"/>
              </a:solidFill>
              <a:latin typeface="Times New Roman"/>
              <a:ea typeface="Times New Roman"/>
              <a:cs typeface="Times New Roman"/>
              <a:sym typeface="Times New Roman"/>
            </a:endParaRPr>
          </a:p>
        </p:txBody>
      </p:sp>
      <p:sp>
        <p:nvSpPr>
          <p:cNvPr id="589" name="Google Shape;589;p32"/>
          <p:cNvSpPr txBox="1"/>
          <p:nvPr/>
        </p:nvSpPr>
        <p:spPr>
          <a:xfrm>
            <a:off x="7132320" y="3017520"/>
            <a:ext cx="4480560" cy="2834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200"/>
              <a:buFont typeface="Times New Roman"/>
              <a:buNone/>
            </a:pPr>
            <a:r>
              <a:rPr b="1" i="0" lang="en-US" sz="2200" u="none" cap="none" strike="noStrike">
                <a:solidFill>
                  <a:schemeClr val="accent1"/>
                </a:solidFill>
                <a:latin typeface="Times New Roman"/>
                <a:ea typeface="Times New Roman"/>
                <a:cs typeface="Times New Roman"/>
                <a:sym typeface="Times New Roman"/>
              </a:rPr>
              <a:t>L </a:t>
            </a:r>
            <a:r>
              <a:rPr b="0" i="0" lang="en-US" sz="1600" u="none" cap="none" strike="noStrike">
                <a:solidFill>
                  <a:schemeClr val="dk1"/>
                </a:solidFill>
                <a:latin typeface="Times New Roman"/>
                <a:ea typeface="Times New Roman"/>
                <a:cs typeface="Times New Roman"/>
                <a:sym typeface="Times New Roman"/>
              </a:rPr>
              <a:t>Libres: Bianca Monte, Farias Jorge, Juana Gomez, Amanda Santos, Nahuel Fausto y Julio Foglia.</a:t>
            </a:r>
            <a:endParaRPr b="0" i="0" sz="1600" u="none" cap="none" strike="noStrike">
              <a:solidFill>
                <a:schemeClr val="dk1"/>
              </a:solidFill>
              <a:latin typeface="Times New Roman"/>
              <a:ea typeface="Times New Roman"/>
              <a:cs typeface="Times New Roman"/>
              <a:sym typeface="Times New Roman"/>
            </a:endParaRPr>
          </a:p>
          <a:p>
            <a:pPr indent="0" lvl="0" marL="0" marR="0" rtl="0" algn="l">
              <a:spcBef>
                <a:spcPts val="1400"/>
              </a:spcBef>
              <a:spcAft>
                <a:spcPts val="0"/>
              </a:spcAft>
              <a:buClr>
                <a:schemeClr val="accent2"/>
              </a:buClr>
              <a:buSzPts val="2200"/>
              <a:buFont typeface="Times New Roman"/>
              <a:buNone/>
            </a:pPr>
            <a:r>
              <a:rPr b="1" i="0" lang="en-US" sz="2200" u="none" cap="none" strike="noStrike">
                <a:solidFill>
                  <a:schemeClr val="accent2"/>
                </a:solidFill>
                <a:latin typeface="Times New Roman"/>
                <a:ea typeface="Times New Roman"/>
                <a:cs typeface="Times New Roman"/>
                <a:sym typeface="Times New Roman"/>
              </a:rPr>
              <a:t>R </a:t>
            </a:r>
            <a:r>
              <a:rPr b="0" i="0" lang="en-US" sz="1600" u="none" cap="none" strike="noStrike">
                <a:solidFill>
                  <a:schemeClr val="dk1"/>
                </a:solidFill>
                <a:latin typeface="Times New Roman"/>
                <a:ea typeface="Times New Roman"/>
                <a:cs typeface="Times New Roman"/>
                <a:sym typeface="Times New Roman"/>
              </a:rPr>
              <a:t>Recuperan: Rivas Hugo, Jorge Delgado, Jose Santini y Camila Godoy.</a:t>
            </a:r>
            <a:endParaRPr b="0" i="0" sz="1600" u="none" cap="none" strike="noStrike">
              <a:solidFill>
                <a:schemeClr val="dk1"/>
              </a:solidFill>
              <a:latin typeface="Times New Roman"/>
              <a:ea typeface="Times New Roman"/>
              <a:cs typeface="Times New Roman"/>
              <a:sym typeface="Times New Roman"/>
            </a:endParaRPr>
          </a:p>
        </p:txBody>
      </p:sp>
      <p:sp>
        <p:nvSpPr>
          <p:cNvPr id="590" name="Google Shape;590;p32"/>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33"/>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Casos que confirman las reglas</a:t>
            </a:r>
            <a:endParaRPr sz="3400"/>
          </a:p>
        </p:txBody>
      </p:sp>
      <p:graphicFrame>
        <p:nvGraphicFramePr>
          <p:cNvPr id="597" name="Google Shape;597;p33"/>
          <p:cNvGraphicFramePr/>
          <p:nvPr/>
        </p:nvGraphicFramePr>
        <p:xfrm>
          <a:off x="548640" y="1371600"/>
          <a:ext cx="3000000" cy="3000000"/>
        </p:xfrm>
        <a:graphic>
          <a:graphicData uri="http://schemas.openxmlformats.org/drawingml/2006/table">
            <a:tbl>
              <a:tblPr>
                <a:noFill/>
                <a:tableStyleId>{E8F1A2DE-F75D-4E95-B11A-8404A869D89C}</a:tableStyleId>
              </a:tblPr>
              <a:tblGrid>
                <a:gridCol w="1097275"/>
                <a:gridCol w="1828800"/>
                <a:gridCol w="5303525"/>
                <a:gridCol w="2834650"/>
              </a:tblGrid>
              <a:tr h="457200">
                <a:tc>
                  <a:txBody>
                    <a:bodyPr/>
                    <a:lstStyle/>
                    <a:p>
                      <a:pPr indent="0" lvl="0" marL="0" marR="0" rtl="0" algn="ctr">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Planilla</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Registro</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Contenido</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Resultado</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r>
              <a:tr h="457200">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1</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1</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Ejemplo de la figura 3a: C-1557/1, JUAN CARLINI, 6, 6, 7, A</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400"/>
                        <a:buFont typeface="Times New Roman"/>
                        <a:buNone/>
                      </a:pPr>
                      <a:r>
                        <a:rPr lang="en-US" sz="1400" u="none" cap="none" strike="noStrike">
                          <a:solidFill>
                            <a:schemeClr val="accent6"/>
                          </a:solidFill>
                          <a:latin typeface="Times New Roman"/>
                          <a:ea typeface="Times New Roman"/>
                          <a:cs typeface="Times New Roman"/>
                          <a:sym typeface="Times New Roman"/>
                        </a:rPr>
                        <a:t>Todo OK</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3"/>
                    </a:solidFill>
                  </a:tcPr>
                </a:tc>
              </a:tr>
              <a:tr h="457200">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2</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1</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JULIAN CARLINI (13 letras)</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Nombre MAL</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4"/>
                    </a:solidFill>
                  </a:tcPr>
                </a:tc>
              </a:tr>
              <a:tr h="457200">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2</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4</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R-87455/6 (9 caracteres)</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Legajo MAL</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4"/>
                    </a:solidFill>
                  </a:tcPr>
                </a:tc>
              </a:tr>
              <a:tr h="457200">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2</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19</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S-94722/ 1 (tiene un espacio); Parcial 3 = 100</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Legajo y Parcial 3 MAL</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4"/>
                    </a:solidFill>
                  </a:tcPr>
                </a:tc>
              </a:tr>
              <a:tr h="457200">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3</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8</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AMANDASANTOS (una sola palabra)</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Nombre MAL</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4"/>
                    </a:solidFill>
                  </a:tcPr>
                </a:tc>
              </a:tr>
              <a:tr h="457200">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3</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15</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Parcial 2 = 1.0 (el punto cuenta como carácter)</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Parcial 2 MAL</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4"/>
                    </a:solidFill>
                  </a:tcPr>
                </a:tc>
              </a:tr>
              <a:tr h="457200">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2</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17</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Condición “Rec”</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Condición MAL</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4"/>
                    </a:solidFill>
                  </a:tcPr>
                </a:tc>
              </a:tr>
              <a:tr h="457200">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1</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3, 11, 14, 15, 20</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Filas vacías</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Todo MAL</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4"/>
                    </a:solidFill>
                  </a:tcPr>
                </a:tc>
              </a:tr>
            </a:tbl>
          </a:graphicData>
        </a:graphic>
      </p:graphicFrame>
      <p:sp>
        <p:nvSpPr>
          <p:cNvPr id="598" name="Google Shape;598;p33"/>
          <p:cNvSpPr txBox="1"/>
          <p:nvPr/>
        </p:nvSpPr>
        <p:spPr>
          <a:xfrm>
            <a:off x="548640" y="5669280"/>
            <a:ext cx="11064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Comparamos a mano los 80 registros con lo que se ve en cada imagen: coinciden todos.</a:t>
            </a:r>
            <a:endParaRPr b="0" i="0" sz="1600" u="none" cap="none" strike="noStrike">
              <a:solidFill>
                <a:schemeClr val="dk1"/>
              </a:solidFill>
              <a:latin typeface="Times New Roman"/>
              <a:ea typeface="Times New Roman"/>
              <a:cs typeface="Times New Roman"/>
              <a:sym typeface="Times New Roman"/>
            </a:endParaRPr>
          </a:p>
        </p:txBody>
      </p:sp>
      <p:sp>
        <p:nvSpPr>
          <p:cNvPr id="599" name="Google Shape;599;p33"/>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34"/>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Decisiones que tomamos nosotros</a:t>
            </a:r>
            <a:endParaRPr sz="3400"/>
          </a:p>
        </p:txBody>
      </p:sp>
      <p:sp>
        <p:nvSpPr>
          <p:cNvPr id="606" name="Google Shape;606;p34"/>
          <p:cNvSpPr/>
          <p:nvPr/>
        </p:nvSpPr>
        <p:spPr>
          <a:xfrm>
            <a:off x="548640" y="1371600"/>
            <a:ext cx="5440680" cy="219456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4"/>
          <p:cNvSpPr txBox="1"/>
          <p:nvPr/>
        </p:nvSpPr>
        <p:spPr>
          <a:xfrm>
            <a:off x="777240" y="1508760"/>
            <a:ext cx="4983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El espacio del nombre no cuenta</a:t>
            </a:r>
            <a:endParaRPr b="0" i="0" sz="1800" u="none" cap="none" strike="noStrike">
              <a:solidFill>
                <a:schemeClr val="dk1"/>
              </a:solidFill>
              <a:latin typeface="Times New Roman"/>
              <a:ea typeface="Times New Roman"/>
              <a:cs typeface="Times New Roman"/>
              <a:sym typeface="Times New Roman"/>
            </a:endParaRPr>
          </a:p>
        </p:txBody>
      </p:sp>
      <p:sp>
        <p:nvSpPr>
          <p:cNvPr id="608" name="Google Shape;608;p34"/>
          <p:cNvSpPr txBox="1"/>
          <p:nvPr/>
        </p:nvSpPr>
        <p:spPr>
          <a:xfrm>
            <a:off x="777240" y="2057400"/>
            <a:ext cx="498348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Contando componentes conectadas el espacio no aparece. Con esta interpretación AMANDA SANTOS (12 letras) da OK. Para contarlo hay que sumar n_pal − 1 a los caracteres.</a:t>
            </a:r>
            <a:endParaRPr b="0" i="0" sz="1400" u="none" cap="none" strike="noStrike">
              <a:solidFill>
                <a:schemeClr val="dk1"/>
              </a:solidFill>
              <a:latin typeface="Times New Roman"/>
              <a:ea typeface="Times New Roman"/>
              <a:cs typeface="Times New Roman"/>
              <a:sym typeface="Times New Roman"/>
            </a:endParaRPr>
          </a:p>
        </p:txBody>
      </p:sp>
      <p:sp>
        <p:nvSpPr>
          <p:cNvPr id="609" name="Google Shape;609;p34"/>
          <p:cNvSpPr/>
          <p:nvPr/>
        </p:nvSpPr>
        <p:spPr>
          <a:xfrm>
            <a:off x="6172200" y="1371600"/>
            <a:ext cx="5440680" cy="219456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4"/>
          <p:cNvSpPr txBox="1"/>
          <p:nvPr/>
        </p:nvSpPr>
        <p:spPr>
          <a:xfrm>
            <a:off x="6400800" y="1508760"/>
            <a:ext cx="4983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Una fila vacía da todo MAL</a:t>
            </a:r>
            <a:endParaRPr b="0" i="0" sz="1800" u="none" cap="none" strike="noStrike">
              <a:solidFill>
                <a:schemeClr val="dk1"/>
              </a:solidFill>
              <a:latin typeface="Times New Roman"/>
              <a:ea typeface="Times New Roman"/>
              <a:cs typeface="Times New Roman"/>
              <a:sym typeface="Times New Roman"/>
            </a:endParaRPr>
          </a:p>
        </p:txBody>
      </p:sp>
      <p:sp>
        <p:nvSpPr>
          <p:cNvPr id="611" name="Google Shape;611;p34"/>
          <p:cNvSpPr txBox="1"/>
          <p:nvPr/>
        </p:nvSpPr>
        <p:spPr>
          <a:xfrm>
            <a:off x="6400800" y="2057400"/>
            <a:ext cx="498348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Ningún campo vacío cumple su regla: es lo que sale de aplicar el enunciado tal cual.</a:t>
            </a:r>
            <a:endParaRPr b="0" i="0" sz="1400" u="none" cap="none" strike="noStrike">
              <a:solidFill>
                <a:schemeClr val="dk1"/>
              </a:solidFill>
              <a:latin typeface="Times New Roman"/>
              <a:ea typeface="Times New Roman"/>
              <a:cs typeface="Times New Roman"/>
              <a:sym typeface="Times New Roman"/>
            </a:endParaRPr>
          </a:p>
        </p:txBody>
      </p:sp>
      <p:sp>
        <p:nvSpPr>
          <p:cNvPr id="612" name="Google Shape;612;p34"/>
          <p:cNvSpPr/>
          <p:nvPr/>
        </p:nvSpPr>
        <p:spPr>
          <a:xfrm>
            <a:off x="548640" y="3749040"/>
            <a:ext cx="5440680" cy="201168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34"/>
          <p:cNvSpPr txBox="1"/>
          <p:nvPr/>
        </p:nvSpPr>
        <p:spPr>
          <a:xfrm>
            <a:off x="777240" y="3886200"/>
            <a:ext cx="4983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La Ñ contaría como dos caracteres</a:t>
            </a:r>
            <a:endParaRPr b="0" i="0" sz="1800" u="none" cap="none" strike="noStrike">
              <a:solidFill>
                <a:schemeClr val="dk1"/>
              </a:solidFill>
              <a:latin typeface="Times New Roman"/>
              <a:ea typeface="Times New Roman"/>
              <a:cs typeface="Times New Roman"/>
              <a:sym typeface="Times New Roman"/>
            </a:endParaRPr>
          </a:p>
        </p:txBody>
      </p:sp>
      <p:sp>
        <p:nvSpPr>
          <p:cNvPr id="614" name="Google Shape;614;p34"/>
          <p:cNvSpPr txBox="1"/>
          <p:nvPr/>
        </p:nvSpPr>
        <p:spPr>
          <a:xfrm>
            <a:off x="777240" y="4434840"/>
            <a:ext cx="498348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La N y la tilde son dos componentes. No aparece en las planillas, así que no lo resolvimos.</a:t>
            </a:r>
            <a:endParaRPr b="0" i="0" sz="1400" u="none" cap="none" strike="noStrike">
              <a:solidFill>
                <a:schemeClr val="dk1"/>
              </a:solidFill>
              <a:latin typeface="Times New Roman"/>
              <a:ea typeface="Times New Roman"/>
              <a:cs typeface="Times New Roman"/>
              <a:sym typeface="Times New Roman"/>
            </a:endParaRPr>
          </a:p>
        </p:txBody>
      </p:sp>
      <p:sp>
        <p:nvSpPr>
          <p:cNvPr id="615" name="Google Shape;615;p34"/>
          <p:cNvSpPr/>
          <p:nvPr/>
        </p:nvSpPr>
        <p:spPr>
          <a:xfrm>
            <a:off x="6172200" y="3749040"/>
            <a:ext cx="5440680" cy="201168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4"/>
          <p:cNvSpPr txBox="1"/>
          <p:nvPr/>
        </p:nvSpPr>
        <p:spPr>
          <a:xfrm>
            <a:off x="6400800" y="3886200"/>
            <a:ext cx="4983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Los umbrales son nuestros</a:t>
            </a:r>
            <a:endParaRPr b="0" i="0" sz="1800" u="none" cap="none" strike="noStrike">
              <a:solidFill>
                <a:schemeClr val="dk1"/>
              </a:solidFill>
              <a:latin typeface="Times New Roman"/>
              <a:ea typeface="Times New Roman"/>
              <a:cs typeface="Times New Roman"/>
              <a:sym typeface="Times New Roman"/>
            </a:endParaRPr>
          </a:p>
        </p:txBody>
      </p:sp>
      <p:sp>
        <p:nvSpPr>
          <p:cNvPr id="617" name="Google Shape;617;p34"/>
          <p:cNvSpPr txBox="1"/>
          <p:nvPr/>
        </p:nvSpPr>
        <p:spPr>
          <a:xfrm>
            <a:off x="6400800" y="4434840"/>
            <a:ext cx="498348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150, 80%, 60%, área 1 y 6 px no salen de ningún archivo: la consigna pide “un umbral acorde”.</a:t>
            </a:r>
            <a:endParaRPr b="0" i="0" sz="1400" u="none" cap="none" strike="noStrike">
              <a:solidFill>
                <a:schemeClr val="dk1"/>
              </a:solidFill>
              <a:latin typeface="Times New Roman"/>
              <a:ea typeface="Times New Roman"/>
              <a:cs typeface="Times New Roman"/>
              <a:sym typeface="Times New Roman"/>
            </a:endParaRPr>
          </a:p>
        </p:txBody>
      </p:sp>
      <p:sp>
        <p:nvSpPr>
          <p:cNvPr id="618" name="Google Shape;618;p34"/>
          <p:cNvSpPr txBox="1"/>
          <p:nvPr/>
        </p:nvSpPr>
        <p:spPr>
          <a:xfrm>
            <a:off x="548640" y="5852160"/>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Pendiente: consultar a la cátedra si los 12 caracteres del nombre incluyen el espacio.</a:t>
            </a:r>
            <a:endParaRPr b="0" i="0" sz="1400" u="none" cap="none" strike="noStrike">
              <a:solidFill>
                <a:schemeClr val="dk1"/>
              </a:solidFill>
              <a:latin typeface="Times New Roman"/>
              <a:ea typeface="Times New Roman"/>
              <a:cs typeface="Times New Roman"/>
              <a:sym typeface="Times New Roman"/>
            </a:endParaRPr>
          </a:p>
        </p:txBody>
      </p:sp>
      <p:sp>
        <p:nvSpPr>
          <p:cNvPr id="619" name="Google Shape;619;p34"/>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35"/>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3400"/>
              <a:buFont typeface="Times New Roman"/>
              <a:buNone/>
            </a:pPr>
            <a:r>
              <a:rPr b="1" lang="en-US" sz="3400">
                <a:solidFill>
                  <a:schemeClr val="lt1"/>
                </a:solidFill>
              </a:rPr>
              <a:t>Conclusiones</a:t>
            </a:r>
            <a:endParaRPr sz="3400"/>
          </a:p>
        </p:txBody>
      </p:sp>
      <p:sp>
        <p:nvSpPr>
          <p:cNvPr id="626" name="Google Shape;626;p35"/>
          <p:cNvSpPr/>
          <p:nvPr/>
        </p:nvSpPr>
        <p:spPr>
          <a:xfrm>
            <a:off x="548640" y="1463040"/>
            <a:ext cx="3566160" cy="4480560"/>
          </a:xfrm>
          <a:prstGeom prst="rect">
            <a:avLst/>
          </a:prstGeom>
          <a:no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5"/>
          <p:cNvSpPr txBox="1"/>
          <p:nvPr/>
        </p:nvSpPr>
        <p:spPr>
          <a:xfrm>
            <a:off x="822960" y="1691640"/>
            <a:ext cx="3017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2200"/>
              <a:buFont typeface="Times New Roman"/>
              <a:buNone/>
            </a:pPr>
            <a:r>
              <a:rPr b="1" i="0" lang="en-US" sz="2200" u="none" cap="none" strike="noStrike">
                <a:solidFill>
                  <a:schemeClr val="lt1"/>
                </a:solidFill>
                <a:latin typeface="Times New Roman"/>
                <a:ea typeface="Times New Roman"/>
                <a:cs typeface="Times New Roman"/>
                <a:sym typeface="Times New Roman"/>
              </a:rPr>
              <a:t>Problema 1</a:t>
            </a:r>
            <a:endParaRPr b="0" i="0" sz="2200" u="none" cap="none" strike="noStrike">
              <a:solidFill>
                <a:schemeClr val="dk1"/>
              </a:solidFill>
              <a:latin typeface="Times New Roman"/>
              <a:ea typeface="Times New Roman"/>
              <a:cs typeface="Times New Roman"/>
              <a:sym typeface="Times New Roman"/>
            </a:endParaRPr>
          </a:p>
        </p:txBody>
      </p:sp>
      <p:sp>
        <p:nvSpPr>
          <p:cNvPr id="628" name="Google Shape;628;p35"/>
          <p:cNvSpPr txBox="1"/>
          <p:nvPr/>
        </p:nvSpPr>
        <p:spPr>
          <a:xfrm>
            <a:off x="822960" y="2377440"/>
            <a:ext cx="3017520" cy="3383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Times New Roman"/>
              <a:buNone/>
            </a:pPr>
            <a:r>
              <a:rPr b="0" i="0" lang="en-US" sz="1800" u="none" cap="none" strike="noStrike">
                <a:solidFill>
                  <a:schemeClr val="lt1"/>
                </a:solidFill>
                <a:latin typeface="Times New Roman"/>
                <a:ea typeface="Times New Roman"/>
                <a:cs typeface="Times New Roman"/>
                <a:sym typeface="Times New Roman"/>
              </a:rPr>
              <a:t>La ecualización local muestra los cinco detalles; la global no. Elegimos 21x21 porque deja menos marcas negras en el fondo. Con 3x3 y 7x7 el fondo se llena de manchas, y con 61x61 y 101x101 los detalles se apagan.</a:t>
            </a:r>
            <a:endParaRPr b="0" i="0" sz="1800" u="none" cap="none" strike="noStrike">
              <a:solidFill>
                <a:schemeClr val="dk1"/>
              </a:solidFill>
              <a:latin typeface="Times New Roman"/>
              <a:ea typeface="Times New Roman"/>
              <a:cs typeface="Times New Roman"/>
              <a:sym typeface="Times New Roman"/>
            </a:endParaRPr>
          </a:p>
        </p:txBody>
      </p:sp>
      <p:sp>
        <p:nvSpPr>
          <p:cNvPr id="629" name="Google Shape;629;p35"/>
          <p:cNvSpPr/>
          <p:nvPr/>
        </p:nvSpPr>
        <p:spPr>
          <a:xfrm>
            <a:off x="4297680" y="1463040"/>
            <a:ext cx="3566160" cy="4480560"/>
          </a:xfrm>
          <a:prstGeom prst="rect">
            <a:avLst/>
          </a:prstGeom>
          <a:no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35"/>
          <p:cNvSpPr txBox="1"/>
          <p:nvPr/>
        </p:nvSpPr>
        <p:spPr>
          <a:xfrm>
            <a:off x="4572000" y="1691640"/>
            <a:ext cx="3017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2200"/>
              <a:buFont typeface="Times New Roman"/>
              <a:buNone/>
            </a:pPr>
            <a:r>
              <a:rPr b="1" i="0" lang="en-US" sz="2200" u="none" cap="none" strike="noStrike">
                <a:solidFill>
                  <a:schemeClr val="lt1"/>
                </a:solidFill>
                <a:latin typeface="Times New Roman"/>
                <a:ea typeface="Times New Roman"/>
                <a:cs typeface="Times New Roman"/>
                <a:sym typeface="Times New Roman"/>
              </a:rPr>
              <a:t>Problema 2</a:t>
            </a:r>
            <a:endParaRPr b="0" i="0" sz="2200" u="none" cap="none" strike="noStrike">
              <a:solidFill>
                <a:schemeClr val="dk1"/>
              </a:solidFill>
              <a:latin typeface="Times New Roman"/>
              <a:ea typeface="Times New Roman"/>
              <a:cs typeface="Times New Roman"/>
              <a:sym typeface="Times New Roman"/>
            </a:endParaRPr>
          </a:p>
        </p:txBody>
      </p:sp>
      <p:sp>
        <p:nvSpPr>
          <p:cNvPr id="631" name="Google Shape;631;p35"/>
          <p:cNvSpPr txBox="1"/>
          <p:nvPr/>
        </p:nvSpPr>
        <p:spPr>
          <a:xfrm>
            <a:off x="4572000" y="2377440"/>
            <a:ext cx="3017520" cy="3383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Times New Roman"/>
              <a:buNone/>
            </a:pPr>
            <a:r>
              <a:rPr b="0" i="0" lang="en-US" sz="1800" u="none" cap="none" strike="noStrike">
                <a:solidFill>
                  <a:schemeClr val="lt1"/>
                </a:solidFill>
                <a:latin typeface="Times New Roman"/>
                <a:ea typeface="Times New Roman"/>
                <a:cs typeface="Times New Roman"/>
                <a:sym typeface="Times New Roman"/>
              </a:rPr>
              <a:t>Un mismo script procesa las cuatro planillas: encuentra 22 líneas horizontales y 8 verticales, separa palabras con un umbral de 6 píxeles y distingue L, R y A por su forma. Correctos: 15, 3, 0 y 6 de 20.</a:t>
            </a:r>
            <a:endParaRPr b="0" i="0" sz="1800" u="none" cap="none" strike="noStrike">
              <a:solidFill>
                <a:schemeClr val="dk1"/>
              </a:solidFill>
              <a:latin typeface="Times New Roman"/>
              <a:ea typeface="Times New Roman"/>
              <a:cs typeface="Times New Roman"/>
              <a:sym typeface="Times New Roman"/>
            </a:endParaRPr>
          </a:p>
        </p:txBody>
      </p:sp>
      <p:sp>
        <p:nvSpPr>
          <p:cNvPr id="632" name="Google Shape;632;p35"/>
          <p:cNvSpPr/>
          <p:nvPr/>
        </p:nvSpPr>
        <p:spPr>
          <a:xfrm>
            <a:off x="8046720" y="1463040"/>
            <a:ext cx="3566160" cy="4480560"/>
          </a:xfrm>
          <a:prstGeom prst="rect">
            <a:avLst/>
          </a:prstGeom>
          <a:no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5"/>
          <p:cNvSpPr txBox="1"/>
          <p:nvPr/>
        </p:nvSpPr>
        <p:spPr>
          <a:xfrm>
            <a:off x="8321040" y="1691640"/>
            <a:ext cx="3017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2200"/>
              <a:buFont typeface="Times New Roman"/>
              <a:buNone/>
            </a:pPr>
            <a:r>
              <a:rPr b="1" i="0" lang="en-US" sz="2200" u="none" cap="none" strike="noStrike">
                <a:solidFill>
                  <a:schemeClr val="lt1"/>
                </a:solidFill>
                <a:latin typeface="Times New Roman"/>
                <a:ea typeface="Times New Roman"/>
                <a:cs typeface="Times New Roman"/>
                <a:sym typeface="Times New Roman"/>
              </a:rPr>
              <a:t>Limitaciones</a:t>
            </a:r>
            <a:endParaRPr b="0" i="0" sz="2200" u="none" cap="none" strike="noStrike">
              <a:solidFill>
                <a:schemeClr val="dk1"/>
              </a:solidFill>
              <a:latin typeface="Times New Roman"/>
              <a:ea typeface="Times New Roman"/>
              <a:cs typeface="Times New Roman"/>
              <a:sym typeface="Times New Roman"/>
            </a:endParaRPr>
          </a:p>
        </p:txBody>
      </p:sp>
      <p:sp>
        <p:nvSpPr>
          <p:cNvPr id="634" name="Google Shape;634;p35"/>
          <p:cNvSpPr txBox="1"/>
          <p:nvPr/>
        </p:nvSpPr>
        <p:spPr>
          <a:xfrm>
            <a:off x="8321040" y="2377440"/>
            <a:ext cx="3017520" cy="3383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Times New Roman"/>
              <a:buNone/>
            </a:pPr>
            <a:r>
              <a:rPr b="0" i="0" lang="en-US" sz="1800" u="none" cap="none" strike="noStrike">
                <a:solidFill>
                  <a:schemeClr val="lt1"/>
                </a:solidFill>
                <a:latin typeface="Times New Roman"/>
                <a:ea typeface="Times New Roman"/>
                <a:cs typeface="Times New Roman"/>
                <a:sym typeface="Times New Roman"/>
              </a:rPr>
              <a:t>La ecualización local también amplifica el ruido: el 2,5% del fondo queda oscuro. Las zonas están escritas a mano en ZONAS. En el Problema 2 el script no lee caracteres, y con otra tipografía podría fallar.</a:t>
            </a:r>
            <a:endParaRPr b="0" i="0" sz="1800" u="none" cap="none" strike="noStrike">
              <a:solidFill>
                <a:schemeClr val="dk1"/>
              </a:solidFill>
              <a:latin typeface="Times New Roman"/>
              <a:ea typeface="Times New Roman"/>
              <a:cs typeface="Times New Roman"/>
              <a:sym typeface="Times New Roman"/>
            </a:endParaRPr>
          </a:p>
        </p:txBody>
      </p:sp>
      <p:sp>
        <p:nvSpPr>
          <p:cNvPr id="635" name="Google Shape;635;p35"/>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lt1"/>
                </a:solidFill>
                <a:latin typeface="Times New Roman"/>
                <a:ea typeface="Times New Roman"/>
                <a:cs typeface="Times New Roman"/>
                <a:sym typeface="Times New Roman"/>
              </a:rPr>
              <a:t>‹#›</a:t>
            </a:fld>
            <a:endParaRPr b="0" i="0" sz="11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36"/>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Anexo: cómo se ejecuta</a:t>
            </a:r>
            <a:endParaRPr sz="3400"/>
          </a:p>
        </p:txBody>
      </p:sp>
      <p:graphicFrame>
        <p:nvGraphicFramePr>
          <p:cNvPr id="642" name="Google Shape;642;p36"/>
          <p:cNvGraphicFramePr/>
          <p:nvPr/>
        </p:nvGraphicFramePr>
        <p:xfrm>
          <a:off x="548640" y="1371600"/>
          <a:ext cx="3000000" cy="3000000"/>
        </p:xfrm>
        <a:graphic>
          <a:graphicData uri="http://schemas.openxmlformats.org/drawingml/2006/table">
            <a:tbl>
              <a:tblPr>
                <a:noFill/>
                <a:tableStyleId>{E8F1A2DE-F75D-4E95-B11A-8404A869D89C}</a:tableStyleId>
              </a:tblPr>
              <a:tblGrid>
                <a:gridCol w="2743200"/>
                <a:gridCol w="2194550"/>
              </a:tblGrid>
              <a:tr h="502925">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Herramienta</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Versión</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r>
              <a:tr h="502925">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Python</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3.13.16</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2925">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numpy</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2.5.3</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2925">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opencv-python</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5.0.0.93</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2925">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matplotlib</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3.11.2</a:t>
                      </a:r>
                      <a:endParaRPr sz="1400" u="none" cap="none" strike="noStrike">
                        <a:latin typeface="Times New Roman"/>
                        <a:ea typeface="Times New Roman"/>
                        <a:cs typeface="Times New Roman"/>
                        <a:sym typeface="Times New Roman"/>
                      </a:endParaRPr>
                    </a:p>
                  </a:txBody>
                  <a:tcPr marT="36575" marB="365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643" name="Google Shape;643;p36"/>
          <p:cNvSpPr txBox="1"/>
          <p:nvPr/>
        </p:nvSpPr>
        <p:spPr>
          <a:xfrm>
            <a:off x="548640" y="4114800"/>
            <a:ext cx="493776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1" i="0" lang="en-US" sz="1400" u="none" cap="none" strike="noStrike">
                <a:solidFill>
                  <a:schemeClr val="dk1"/>
                </a:solidFill>
                <a:latin typeface="Courier New"/>
                <a:ea typeface="Courier New"/>
                <a:cs typeface="Courier New"/>
                <a:sym typeface="Courier New"/>
              </a:rPr>
              <a:t>problema1.py </a:t>
            </a:r>
            <a:r>
              <a:rPr b="0" i="0" lang="en-US" sz="1400" u="none" cap="none" strike="noStrike">
                <a:solidFill>
                  <a:schemeClr val="dk1"/>
                </a:solidFill>
                <a:latin typeface="Times New Roman"/>
                <a:ea typeface="Times New Roman"/>
                <a:cs typeface="Times New Roman"/>
                <a:sym typeface="Times New Roman"/>
              </a:rPr>
              <a:t>abre cuatro ventanas de matplotlib e imprime los detalles ocultos. Con MPLBACKEND=Agg no abre ventanas.</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1000"/>
              </a:spcBef>
              <a:spcAft>
                <a:spcPts val="0"/>
              </a:spcAft>
              <a:buClr>
                <a:schemeClr val="dk1"/>
              </a:buClr>
              <a:buSzPts val="1400"/>
              <a:buFont typeface="Courier New"/>
              <a:buNone/>
            </a:pPr>
            <a:r>
              <a:rPr b="1" i="0" lang="en-US" sz="1400" u="none" cap="none" strike="noStrike">
                <a:solidFill>
                  <a:schemeClr val="dk1"/>
                </a:solidFill>
                <a:latin typeface="Courier New"/>
                <a:ea typeface="Courier New"/>
                <a:cs typeface="Courier New"/>
                <a:sym typeface="Courier New"/>
              </a:rPr>
              <a:t>problema2.py </a:t>
            </a:r>
            <a:r>
              <a:rPr b="0" i="0" lang="en-US" sz="1400" u="none" cap="none" strike="noStrike">
                <a:solidFill>
                  <a:schemeClr val="dk1"/>
                </a:solidFill>
                <a:latin typeface="Times New Roman"/>
                <a:ea typeface="Times New Roman"/>
                <a:cs typeface="Times New Roman"/>
                <a:sym typeface="Times New Roman"/>
              </a:rPr>
              <a:t>genera no_aprobados_grade_sheet_&lt;id&gt;.png y validacion_grade_sheet_&lt;id&gt;.csv junto a cada planilla.</a:t>
            </a:r>
            <a:endParaRPr b="0" i="0" sz="1400" u="none" cap="none" strike="noStrike">
              <a:solidFill>
                <a:schemeClr val="dk1"/>
              </a:solidFill>
              <a:latin typeface="Times New Roman"/>
              <a:ea typeface="Times New Roman"/>
              <a:cs typeface="Times New Roman"/>
              <a:sym typeface="Times New Roman"/>
            </a:endParaRPr>
          </a:p>
        </p:txBody>
      </p:sp>
      <p:sp>
        <p:nvSpPr>
          <p:cNvPr id="644" name="Google Shape;644;p36"/>
          <p:cNvSpPr/>
          <p:nvPr/>
        </p:nvSpPr>
        <p:spPr>
          <a:xfrm>
            <a:off x="5852160" y="1371600"/>
            <a:ext cx="5760720" cy="2286000"/>
          </a:xfrm>
          <a:prstGeom prst="rect">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6"/>
          <p:cNvSpPr txBox="1"/>
          <p:nvPr/>
        </p:nvSpPr>
        <p:spPr>
          <a:xfrm>
            <a:off x="6035040" y="1463040"/>
            <a:ext cx="5394960" cy="2103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python3 -m venv .venv</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source .venv/bin/activate</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pip install -r requirements.txt</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python problema1.py</a:t>
            </a:r>
            <a:endParaRPr b="0" i="0" sz="1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python problema2.py</a:t>
            </a:r>
            <a:endParaRPr b="0" i="0" sz="1400" u="none" cap="none" strike="noStrike">
              <a:solidFill>
                <a:schemeClr val="dk1"/>
              </a:solidFill>
              <a:latin typeface="Times New Roman"/>
              <a:ea typeface="Times New Roman"/>
              <a:cs typeface="Times New Roman"/>
              <a:sym typeface="Times New Roman"/>
            </a:endParaRPr>
          </a:p>
        </p:txBody>
      </p:sp>
      <p:sp>
        <p:nvSpPr>
          <p:cNvPr id="646" name="Google Shape;646;p36"/>
          <p:cNvSpPr txBox="1"/>
          <p:nvPr/>
        </p:nvSpPr>
        <p:spPr>
          <a:xfrm>
            <a:off x="5852160" y="3931920"/>
            <a:ext cx="5760720" cy="2194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El punto 1c calcula varias ventanas grandes píxel a píxel: la ejecución completa tardó unos 4 segundos. requirements.txt no fija versiones; para las exactas: pip install numpy==2.5.3 opencv-python==5.0.0.93 matplotlib==3.11.2.</a:t>
            </a:r>
            <a:endParaRPr b="0" i="0" sz="1400" u="none" cap="none" strike="noStrike">
              <a:solidFill>
                <a:schemeClr val="dk1"/>
              </a:solidFill>
              <a:latin typeface="Times New Roman"/>
              <a:ea typeface="Times New Roman"/>
              <a:cs typeface="Times New Roman"/>
              <a:sym typeface="Times New Roman"/>
            </a:endParaRPr>
          </a:p>
        </p:txBody>
      </p:sp>
      <p:sp>
        <p:nvSpPr>
          <p:cNvPr id="647" name="Google Shape;647;p36"/>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37"/>
          <p:cNvSpPr txBox="1"/>
          <p:nvPr>
            <p:ph type="title"/>
          </p:nvPr>
        </p:nvSpPr>
        <p:spPr>
          <a:xfrm>
            <a:off x="548640" y="32004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Times New Roman"/>
              <a:buNone/>
            </a:pPr>
            <a:r>
              <a:rPr b="1" lang="en-US" sz="3400">
                <a:solidFill>
                  <a:schemeClr val="dk1"/>
                </a:solidFill>
              </a:rPr>
              <a:t>Anexo: material de la cátedra que usamos</a:t>
            </a:r>
            <a:endParaRPr sz="3400"/>
          </a:p>
        </p:txBody>
      </p:sp>
      <p:graphicFrame>
        <p:nvGraphicFramePr>
          <p:cNvPr id="654" name="Google Shape;654;p37"/>
          <p:cNvGraphicFramePr/>
          <p:nvPr/>
        </p:nvGraphicFramePr>
        <p:xfrm>
          <a:off x="548640" y="1371600"/>
          <a:ext cx="3000000" cy="3000000"/>
        </p:xfrm>
        <a:graphic>
          <a:graphicData uri="http://schemas.openxmlformats.org/drawingml/2006/table">
            <a:tbl>
              <a:tblPr>
                <a:noFill/>
                <a:tableStyleId>{E8F1A2DE-F75D-4E95-B11A-8404A869D89C}</a:tableStyleId>
              </a:tblPr>
              <a:tblGrid>
                <a:gridCol w="4206250"/>
                <a:gridCol w="6858000"/>
              </a:tblGrid>
              <a:tr h="457200">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Archivo</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solidFill>
                            <a:schemeClr val="dk1"/>
                          </a:solidFill>
                          <a:latin typeface="Times New Roman"/>
                          <a:ea typeface="Times New Roman"/>
                          <a:cs typeface="Times New Roman"/>
                          <a:sym typeface="Times New Roman"/>
                        </a:rPr>
                        <a:t>Qué tomamos</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r>
              <a:tr h="640075">
                <a:tc>
                  <a:txBody>
                    <a:bodyPr/>
                    <a:lstStyle/>
                    <a:p>
                      <a:pPr indent="0" lvl="0" marL="0" marR="0" rtl="0" algn="l">
                        <a:spcBef>
                          <a:spcPts val="0"/>
                        </a:spcBef>
                        <a:spcAft>
                          <a:spcPts val="0"/>
                        </a:spcAft>
                        <a:buClr>
                          <a:schemeClr val="dk1"/>
                        </a:buClr>
                        <a:buSzPts val="1200"/>
                        <a:buFont typeface="Courier New"/>
                        <a:buNone/>
                      </a:pPr>
                      <a:r>
                        <a:rPr lang="en-US" sz="1200" u="none" cap="none" strike="noStrike">
                          <a:solidFill>
                            <a:schemeClr val="dk1"/>
                          </a:solidFill>
                          <a:latin typeface="Courier New"/>
                          <a:ea typeface="Courier New"/>
                          <a:cs typeface="Courier New"/>
                          <a:sym typeface="Courier New"/>
                        </a:rPr>
                        <a:t>PI_U2_Transformacion_y_Filtrado_p1.py</a:t>
                      </a:r>
                      <a:endParaRPr sz="1200" u="none" cap="none" strike="noStrike">
                        <a:latin typeface="Courier New"/>
                        <a:ea typeface="Courier New"/>
                        <a:cs typeface="Courier New"/>
                        <a:sym typeface="Courier New"/>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cv2.imread en grises, cv2.equalizeHist, histograma y CDF, subplots con sharex/sharey y vmin/vmax</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48650">
                <a:tc>
                  <a:txBody>
                    <a:bodyPr/>
                    <a:lstStyle/>
                    <a:p>
                      <a:pPr indent="0" lvl="0" marL="0" marR="0" rtl="0" algn="l">
                        <a:spcBef>
                          <a:spcPts val="0"/>
                        </a:spcBef>
                        <a:spcAft>
                          <a:spcPts val="0"/>
                        </a:spcAft>
                        <a:buClr>
                          <a:schemeClr val="dk1"/>
                        </a:buClr>
                        <a:buSzPts val="1200"/>
                        <a:buFont typeface="Courier New"/>
                        <a:buNone/>
                      </a:pPr>
                      <a:r>
                        <a:rPr lang="en-US" sz="1200" u="none" cap="none" strike="noStrike">
                          <a:solidFill>
                            <a:schemeClr val="dk1"/>
                          </a:solidFill>
                          <a:latin typeface="Courier New"/>
                          <a:ea typeface="Courier New"/>
                          <a:cs typeface="Courier New"/>
                          <a:sym typeface="Courier New"/>
                        </a:rPr>
                        <a:t>PI_U2_Transformacion_y_Filtrado_p2.py</a:t>
                      </a:r>
                      <a:endParaRPr sz="1200" u="none" cap="none" strike="noStrike">
                        <a:latin typeface="Courier New"/>
                        <a:ea typeface="Courier New"/>
                        <a:cs typeface="Courier New"/>
                        <a:sym typeface="Courier New"/>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Tipos de borde de OpenCV y la elección de BORDER_REPLICATE</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40075">
                <a:tc>
                  <a:txBody>
                    <a:bodyPr/>
                    <a:lstStyle/>
                    <a:p>
                      <a:pPr indent="0" lvl="0" marL="0" marR="0" rtl="0" algn="l">
                        <a:spcBef>
                          <a:spcPts val="0"/>
                        </a:spcBef>
                        <a:spcAft>
                          <a:spcPts val="0"/>
                        </a:spcAft>
                        <a:buClr>
                          <a:schemeClr val="dk1"/>
                        </a:buClr>
                        <a:buSzPts val="1200"/>
                        <a:buFont typeface="Courier New"/>
                        <a:buNone/>
                      </a:pPr>
                      <a:r>
                        <a:rPr lang="en-US" sz="1200" u="none" cap="none" strike="noStrike">
                          <a:solidFill>
                            <a:schemeClr val="dk1"/>
                          </a:solidFill>
                          <a:latin typeface="Courier New"/>
                          <a:ea typeface="Courier New"/>
                          <a:cs typeface="Courier New"/>
                          <a:sym typeface="Courier New"/>
                        </a:rPr>
                        <a:t>PDI_U2_p2_stain.py</a:t>
                      </a:r>
                      <a:endParaRPr sz="1200" u="none" cap="none" strike="noStrike">
                        <a:latin typeface="Courier New"/>
                        <a:ea typeface="Courier New"/>
                        <a:cs typeface="Courier New"/>
                        <a:sym typeface="Courier New"/>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Ecualizar un recorte, matriz booleana por umbral, sumas por filas y columnas, pathlib.Path</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40075">
                <a:tc>
                  <a:txBody>
                    <a:bodyPr/>
                    <a:lstStyle/>
                    <a:p>
                      <a:pPr indent="0" lvl="0" marL="0" marR="0" rtl="0" algn="l">
                        <a:spcBef>
                          <a:spcPts val="0"/>
                        </a:spcBef>
                        <a:spcAft>
                          <a:spcPts val="0"/>
                        </a:spcAft>
                        <a:buClr>
                          <a:schemeClr val="dk1"/>
                        </a:buClr>
                        <a:buSzPts val="1200"/>
                        <a:buFont typeface="Courier New"/>
                        <a:buNone/>
                      </a:pPr>
                      <a:r>
                        <a:rPr lang="en-US" sz="1200" u="none" cap="none" strike="noStrike">
                          <a:solidFill>
                            <a:schemeClr val="dk1"/>
                          </a:solidFill>
                          <a:latin typeface="Courier New"/>
                          <a:ea typeface="Courier New"/>
                          <a:cs typeface="Courier New"/>
                          <a:sym typeface="Courier New"/>
                        </a:rPr>
                        <a:t>PDI_U3_Segmentacion.py</a:t>
                      </a:r>
                      <a:endParaRPr sz="1200" u="none" cap="none" strike="noStrike">
                        <a:latin typeface="Courier New"/>
                        <a:ea typeface="Courier New"/>
                        <a:cs typeface="Courier New"/>
                        <a:sym typeface="Courier New"/>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Umbralado, connectedComponentsWithStats, findContours con jerarquía, sorted con key</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40075">
                <a:tc>
                  <a:txBody>
                    <a:bodyPr/>
                    <a:lstStyle/>
                    <a:p>
                      <a:pPr indent="0" lvl="0" marL="0" marR="0" rtl="0" algn="l">
                        <a:spcBef>
                          <a:spcPts val="0"/>
                        </a:spcBef>
                        <a:spcAft>
                          <a:spcPts val="0"/>
                        </a:spcAft>
                        <a:buClr>
                          <a:schemeClr val="dk1"/>
                        </a:buClr>
                        <a:buSzPts val="1200"/>
                        <a:buFont typeface="Courier New"/>
                        <a:buNone/>
                      </a:pPr>
                      <a:r>
                        <a:rPr lang="en-US" sz="1200" u="none" cap="none" strike="noStrike">
                          <a:solidFill>
                            <a:schemeClr val="dk1"/>
                          </a:solidFill>
                          <a:latin typeface="Courier New"/>
                          <a:ea typeface="Courier New"/>
                          <a:cs typeface="Courier New"/>
                          <a:sym typeface="Courier New"/>
                        </a:rPr>
                        <a:t>PDI_U1_p1_Letras.py</a:t>
                      </a:r>
                      <a:endParaRPr sz="1200" u="none" cap="none" strike="noStrike">
                        <a:latin typeface="Courier New"/>
                        <a:ea typeface="Courier New"/>
                        <a:cs typeface="Courier New"/>
                        <a:sym typeface="Courier New"/>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Inicio y fin de pulsos con np.diff y np.argwhere, reshape, recortes por índices, archivos con f-string</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48650">
                <a:tc>
                  <a:txBody>
                    <a:bodyPr/>
                    <a:lstStyle/>
                    <a:p>
                      <a:pPr indent="0" lvl="0" marL="0" marR="0" rtl="0" algn="l">
                        <a:spcBef>
                          <a:spcPts val="0"/>
                        </a:spcBef>
                        <a:spcAft>
                          <a:spcPts val="0"/>
                        </a:spcAft>
                        <a:buClr>
                          <a:schemeClr val="dk1"/>
                        </a:buClr>
                        <a:buSzPts val="1200"/>
                        <a:buFont typeface="Courier New"/>
                        <a:buNone/>
                      </a:pPr>
                      <a:r>
                        <a:rPr lang="en-US" sz="1200" u="none" cap="none" strike="noStrike">
                          <a:solidFill>
                            <a:schemeClr val="dk1"/>
                          </a:solidFill>
                          <a:latin typeface="Courier New"/>
                          <a:ea typeface="Courier New"/>
                          <a:cs typeface="Courier New"/>
                          <a:sym typeface="Courier New"/>
                        </a:rPr>
                        <a:t>Enunciado del TP</a:t>
                      </a:r>
                      <a:endParaRPr sz="1200" u="none" cap="none" strike="noStrike">
                        <a:latin typeface="Courier New"/>
                        <a:ea typeface="Courier New"/>
                        <a:cs typeface="Courier New"/>
                        <a:sym typeface="Courier New"/>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cv2.copyMakeBorder con BORDER_REPLICATE y las ayudas del Problema 2</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200">
                <a:tc>
                  <a:txBody>
                    <a:bodyPr/>
                    <a:lstStyle/>
                    <a:p>
                      <a:pPr indent="0" lvl="0" marL="0" marR="0" rtl="0" algn="l">
                        <a:spcBef>
                          <a:spcPts val="0"/>
                        </a:spcBef>
                        <a:spcAft>
                          <a:spcPts val="0"/>
                        </a:spcAft>
                        <a:buClr>
                          <a:schemeClr val="dk1"/>
                        </a:buClr>
                        <a:buSzPts val="1400"/>
                        <a:buFont typeface="Times New Roman"/>
                        <a:buNone/>
                      </a:pPr>
                      <a:r>
                        <a:rPr i="1" lang="en-US" sz="1400" u="none" cap="none" strike="noStrike">
                          <a:solidFill>
                            <a:schemeClr val="dk1"/>
                          </a:solidFill>
                          <a:latin typeface="Times New Roman"/>
                          <a:ea typeface="Times New Roman"/>
                          <a:cs typeface="Times New Roman"/>
                          <a:sym typeface="Times New Roman"/>
                        </a:rPr>
                        <a:t>Sin fuente en el material</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lang="en-US" sz="1400" u="none" cap="none" strike="noStrike">
                          <a:solidFill>
                            <a:schemeClr val="dk1"/>
                          </a:solidFill>
                          <a:latin typeface="Times New Roman"/>
                          <a:ea typeface="Times New Roman"/>
                          <a:cs typeface="Times New Roman"/>
                          <a:sym typeface="Times New Roman"/>
                        </a:rPr>
                        <a:t>CSV con open y write, np.vstack</a:t>
                      </a:r>
                      <a:endParaRPr sz="1400" u="none" cap="none" strike="noStrike">
                        <a:latin typeface="Times New Roman"/>
                        <a:ea typeface="Times New Roman"/>
                        <a:cs typeface="Times New Roman"/>
                        <a:sym typeface="Times New Roman"/>
                      </a:endParaRPr>
                    </a:p>
                  </a:txBody>
                  <a:tcPr marT="27425" marB="274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655" name="Google Shape;655;p37"/>
          <p:cNvSpPr txBox="1"/>
          <p:nvPr>
            <p:ph idx="4294967295" type="sldNum"/>
          </p:nvPr>
        </p:nvSpPr>
        <p:spPr>
          <a:xfrm>
            <a:off x="1106424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Times New Roman"/>
                <a:ea typeface="Times New Roman"/>
                <a:cs typeface="Times New Roman"/>
                <a:sym typeface="Times New Roman"/>
              </a:rPr>
              <a:t>‹#›</a:t>
            </a:fld>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Informe FCEIA">
  <a:themeElements>
    <a:clrScheme name="Informe FCEIA">
      <a:dk1>
        <a:srgbClr val="000000"/>
      </a:dk1>
      <a:lt1>
        <a:srgbClr val="FFFFFF"/>
      </a:lt1>
      <a:dk2>
        <a:srgbClr val="161616"/>
      </a:dk2>
      <a:lt2>
        <a:srgbClr val="C9C9C9"/>
      </a:lt2>
      <a:accent1>
        <a:srgbClr val="0000FF"/>
      </a:accent1>
      <a:accent2>
        <a:srgbClr val="FF0000"/>
      </a:accent2>
      <a:accent3>
        <a:srgbClr val="A6ECA6"/>
      </a:accent3>
      <a:accent4>
        <a:srgbClr val="F6A6A6"/>
      </a:accent4>
      <a:accent5>
        <a:srgbClr val="C9C9C9"/>
      </a:accent5>
      <a:accent6>
        <a:srgbClr val="004600"/>
      </a:accent6>
      <a:hlink>
        <a:srgbClr val="0000FF"/>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forme FCEIA">
  <a:themeElements>
    <a:clrScheme name="Informe FCEIA">
      <a:dk1>
        <a:srgbClr val="000000"/>
      </a:dk1>
      <a:lt1>
        <a:srgbClr val="FFFFFF"/>
      </a:lt1>
      <a:dk2>
        <a:srgbClr val="161616"/>
      </a:dk2>
      <a:lt2>
        <a:srgbClr val="C9C9C9"/>
      </a:lt2>
      <a:accent1>
        <a:srgbClr val="0000FF"/>
      </a:accent1>
      <a:accent2>
        <a:srgbClr val="FF0000"/>
      </a:accent2>
      <a:accent3>
        <a:srgbClr val="A6ECA6"/>
      </a:accent3>
      <a:accent4>
        <a:srgbClr val="F6A6A6"/>
      </a:accent4>
      <a:accent5>
        <a:srgbClr val="C9C9C9"/>
      </a:accent5>
      <a:accent6>
        <a:srgbClr val="004600"/>
      </a:accent6>
      <a:hlink>
        <a:srgbClr val="0000FF"/>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