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2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6858000" cx="12192000"/>
  <p:notesSz cx="6858000" cy="12192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03F6805-B620-4E09-A14F-EA281625A628}">
  <a:tblStyle styleId="{B03F6805-B620-4E09-A14F-EA281625A62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" name="Google Shape;2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Presentamos el TP1 de Procesamiento de Imágenes I del grupo 8. Tiene dos problemas: ecualización local de histograma y validación de planillas de calificaciones.</a:t>
            </a:r>
            <a:endParaRPr/>
          </a:p>
        </p:txBody>
      </p:sp>
      <p:sp>
        <p:nvSpPr>
          <p:cNvPr id="24" name="Google Shape;2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" name="Google Shape;38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consigna tiene dos problemas y cada uno tiene su script. Trabajamos con Python 3.13.16 y las versiones de numpy, opencv-python y matplotlib que se ven abajo.</a:t>
            </a:r>
            <a:endParaRPr/>
          </a:p>
        </p:txBody>
      </p:sp>
      <p:sp>
        <p:nvSpPr>
          <p:cNvPr id="39" name="Google Shape;39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La imagen tiene solo 15 niveles de gris en dos grupos separados. Hay cinco cuadrados oscuros de 62x62 píxeles que ocupan el 29,3% de la imagen. Dentro de cada cuadrado los detalles difieren del fondo en pocos niveles, así que no se ven a simple vista.</a:t>
            </a:r>
            <a:endParaRPr/>
          </a:p>
        </p:txBody>
      </p:sp>
      <p:sp>
        <p:nvSpPr>
          <p:cNvPr id="59" name="Google Shape;5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1" name="Google Shape;8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Para que la ventana no se salga cuando el píxel central está en el borde, agregamos 10 píxeles por lado con BORDER_REPLICATE. Rellenar con ceros metería píxeles negros que alterarían el histograma de las ventanas del borde. En cada posición ecualizamos la ventana con equalizeHist y guardamos solo el píxel central.</a:t>
            </a:r>
            <a:endParaRPr/>
          </a:p>
        </p:txBody>
      </p:sp>
      <p:sp>
        <p:nvSpPr>
          <p:cNvPr id="82" name="Google Shape;82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 la ecualización global los detalles siguen casi invisibles porque los píxeles oscuros son casi un tercio de la imagen y quedan juntos al principio de la distribución acumulada. Con la local de 21x21 se ven los cinco.</a:t>
            </a:r>
            <a:endParaRPr/>
          </a:p>
        </p:txBody>
      </p:sp>
      <p:sp>
        <p:nvSpPr>
          <p:cNvPr id="106" name="Google Shape;10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5" name="Google Shape;11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Estos son los cinco detalles que informa el script con la ventana de 21x21. Las posiciones de los cuadrados están escritas a mano en la tabla ZONAS y coinciden píxel a píxel con los píxeles menores que 128.</a:t>
            </a:r>
            <a:endParaRPr/>
          </a:p>
        </p:txBody>
      </p:sp>
      <p:sp>
        <p:nvSpPr>
          <p:cNvPr id="116" name="Google Shape;11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Probamos ventanas de 3x3, 7x7, 15x15, 21x21, 31x31, 61x61 y 101x101. Las más chicas llenan el fondo de manchas; las muy grandes apagan los detalles porque su lado se acerca al de los cuadrados.</a:t>
            </a:r>
            <a:endParaRPr/>
          </a:p>
        </p:txBody>
      </p:sp>
      <p:sp>
        <p:nvSpPr>
          <p:cNvPr id="128" name="Google Shape;128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9" name="Google Shape;139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 M el alto y N el ancho, las ventanas rectangulares dejan rayas con la orientación de la ventana en el fondo claro. Elegimos 21x21 porque deja menos marcas negras cortas en el fondo que 15x15.</a:t>
            </a:r>
            <a:endParaRPr/>
          </a:p>
        </p:txBody>
      </p:sp>
      <p:sp>
        <p:nvSpPr>
          <p:cNvPr id="140" name="Google Shape;140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algoritmo es el mismo para las cuatro planillas. Primero umbralamos, después buscamos las líneas de la tabla con sumas por fila y columna, recortamos cada celda y analizamos cada carácter como una componente conectada.</a:t>
            </a:r>
            <a:endParaRPr/>
          </a:p>
        </p:txBody>
      </p:sp>
      <p:sp>
        <p:nvSpPr>
          <p:cNvPr id="153" name="Google Shape;153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El umbral es relativo al máximo de cada planilla. Para las filas usamos 0,8 por el máximo, 786 píxeles en la planilla 1, y para las columnas 0,6 por el máximo, 398. Los picos que superan el umbral son las 22 líneas horizontales y las 8 verticales.</a:t>
            </a:r>
            <a:endParaRPr/>
          </a:p>
        </p:txBody>
      </p:sp>
      <p:sp>
        <p:nvSpPr>
          <p:cNvPr id="193" name="Google Shape;193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0" name="Google Shape;210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Cada campo tiene una regla sobre la cantidad de caracteres y de palabras. Las palabras se cuentan por la separación entre componentes: entre letras va de 0 a 4 píxeles y entre palabras de 10 a 13, así que 6 queda en el medio. La L, la R y la A se distinguen por la forma de su primera columna y por si tienen un agujero.</a:t>
            </a:r>
            <a:endParaRPr/>
          </a:p>
        </p:txBody>
      </p:sp>
      <p:sp>
        <p:nvSpPr>
          <p:cNvPr id="211" name="Google Shape;211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6" name="Google Shape;236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Los registros correctos son 15, 3, 0 y 6 de 20 por planilla. Los alumnos en L son 6, 3, 0 y 2, y los que recuperan, en R, son 4, 0, 0 y 2. La planilla 3 no tiene ningún registro con los seis campos bien.</a:t>
            </a:r>
            <a:endParaRPr/>
          </a:p>
        </p:txBody>
      </p:sp>
      <p:sp>
        <p:nvSpPr>
          <p:cNvPr id="237" name="Google Shape;237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En la planilla 1 hay 15 registros correctos de 20. De los alumnos con los seis campos bien, seis están libres y cuatro recuperan. Cada celda lleva la palabra OK o MAL, además del color.</a:t>
            </a:r>
            <a:endParaRPr/>
          </a:p>
        </p:txBody>
      </p:sp>
      <p:sp>
        <p:nvSpPr>
          <p:cNvPr id="247" name="Google Shape;247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Cerramos con lo que aprendimos en cada problema y con las limitaciones: la ecualización local amplifica el ruido, las zonas del Problema 1 están escritas a mano y el Problema 2 depende de la tipografía de las planillas.</a:t>
            </a:r>
            <a:endParaRPr/>
          </a:p>
        </p:txBody>
      </p:sp>
      <p:sp>
        <p:nvSpPr>
          <p:cNvPr id="264" name="Google Shape;264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ORTADA">
  <p:cSld name="PORTADA">
    <p:bg>
      <p:bgPr>
        <a:solidFill>
          <a:schemeClr val="lt1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">
  <p:cSld name="CONTENIDO">
    <p:bg>
      <p:bgPr>
        <a:solidFill>
          <a:schemeClr val="lt1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  <a:defRPr b="1" i="0" sz="3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None/>
            </a:pPr>
            <a:r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 4.4 · Procesamiento de Imágenes I · TP1 · Grupo 8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SCURO">
  <p:cSld name="OSCURO">
    <p:bg>
      <p:bgPr>
        <a:solidFill>
          <a:schemeClr val="dk2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Times New Roman"/>
              <a:buNone/>
              <a:defRPr b="1" i="0" sz="34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8" name="Google Shape;18;p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Times New Roman"/>
              <a:buNone/>
            </a:pPr>
            <a:r>
              <a:rPr b="0" i="0" lang="en-US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IA 4.4 · Procesamiento de Imágenes I · TP1 · Grupo 8</a:t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algn="r">
              <a:spcBef>
                <a:spcPts val="0"/>
              </a:spcBef>
              <a:buNone/>
              <a:defRPr b="0" i="0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Escudo de la Universidad Nacional de Rosario" id="26" name="Google Shape;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31520" y="411480"/>
            <a:ext cx="1225296" cy="1188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 de la FCEIA" id="27" name="Google Shape;2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692640" y="411480"/>
            <a:ext cx="1737360" cy="1188720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6"/>
          <p:cNvSpPr txBox="1"/>
          <p:nvPr/>
        </p:nvSpPr>
        <p:spPr>
          <a:xfrm>
            <a:off x="731520" y="1783080"/>
            <a:ext cx="10725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Universidad Nacional de Rosario</a:t>
            </a:r>
            <a:endParaRPr b="0" i="0" sz="2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9" name="Google Shape;29;p6"/>
          <p:cNvSpPr txBox="1"/>
          <p:nvPr/>
        </p:nvSpPr>
        <p:spPr>
          <a:xfrm>
            <a:off x="731520" y="2194560"/>
            <a:ext cx="10725912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Facultad de Ciencias Exactas, Ingeniería y Agrimensura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0" name="Google Shape;30;p6"/>
          <p:cNvSpPr txBox="1"/>
          <p:nvPr/>
        </p:nvSpPr>
        <p:spPr>
          <a:xfrm>
            <a:off x="731520" y="2606040"/>
            <a:ext cx="10725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Tecnicatura Universitaria en Inteligencia Artificial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1" name="Google Shape;31;p6"/>
          <p:cNvSpPr txBox="1"/>
          <p:nvPr/>
        </p:nvSpPr>
        <p:spPr>
          <a:xfrm>
            <a:off x="731520" y="3108960"/>
            <a:ext cx="10725912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</a:pPr>
            <a:r>
              <a:rPr b="0" i="0" lang="en-US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IA 4.4 – Procesamiento de Imágenes I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2" name="Google Shape;32;p6"/>
          <p:cNvSpPr txBox="1"/>
          <p:nvPr/>
        </p:nvSpPr>
        <p:spPr>
          <a:xfrm>
            <a:off x="731520" y="3657600"/>
            <a:ext cx="10725912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Año 2026, 2° semestre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3" name="Google Shape;33;p6"/>
          <p:cNvSpPr txBox="1"/>
          <p:nvPr/>
        </p:nvSpPr>
        <p:spPr>
          <a:xfrm>
            <a:off x="731520" y="4114800"/>
            <a:ext cx="10725912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TRABAJO PRÁCTICO N° 1</a:t>
            </a:r>
            <a:endParaRPr b="0" i="0" sz="2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6"/>
          <p:cNvSpPr txBox="1"/>
          <p:nvPr/>
        </p:nvSpPr>
        <p:spPr>
          <a:xfrm>
            <a:off x="731520" y="4663440"/>
            <a:ext cx="10725912" cy="7315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</a:pPr>
            <a:r>
              <a:rPr b="1" i="0" lang="en-US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“Ecualización local de histograma y validación de planillas de calificaciones”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5" name="Google Shape;35;p6"/>
          <p:cNvSpPr txBox="1"/>
          <p:nvPr/>
        </p:nvSpPr>
        <p:spPr>
          <a:xfrm>
            <a:off x="731520" y="5577840"/>
            <a:ext cx="10725912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GRUPO 8   Integrantes: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CIVETTA, Valentino · FRANK, Maximiliano · FUCCI, Milagros · WINTER, Federico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Calibri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Fecha: </a:t>
            </a:r>
            <a:r>
              <a:rPr b="0" i="0" lang="en-US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05/10/2026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Dos problemas, dos scripts</a:t>
            </a:r>
            <a:endParaRPr sz="3400"/>
          </a:p>
        </p:txBody>
      </p:sp>
      <p:sp>
        <p:nvSpPr>
          <p:cNvPr id="42" name="Google Shape;42;p7"/>
          <p:cNvSpPr/>
          <p:nvPr/>
        </p:nvSpPr>
        <p:spPr>
          <a:xfrm>
            <a:off x="548640" y="1371600"/>
            <a:ext cx="5394960" cy="420624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7"/>
          <p:cNvSpPr/>
          <p:nvPr/>
        </p:nvSpPr>
        <p:spPr>
          <a:xfrm>
            <a:off x="822960" y="1645920"/>
            <a:ext cx="548640" cy="5486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7"/>
          <p:cNvSpPr txBox="1"/>
          <p:nvPr/>
        </p:nvSpPr>
        <p:spPr>
          <a:xfrm>
            <a:off x="822960" y="1645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5" name="Google Shape;45;p7"/>
          <p:cNvSpPr txBox="1"/>
          <p:nvPr/>
        </p:nvSpPr>
        <p:spPr>
          <a:xfrm>
            <a:off x="1554480" y="160020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Ecualización local de histograma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6" name="Google Shape;46;p7"/>
          <p:cNvSpPr txBox="1"/>
          <p:nvPr/>
        </p:nvSpPr>
        <p:spPr>
          <a:xfrm>
            <a:off x="822960" y="246888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Función con ventana MxN que recorre la imagen píxel a píxel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Encontrar los detalles ocultos en cada zona de la imagen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Analizar cómo cambia el resultado con el tamaño de ventana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7" name="Google Shape;47;p7"/>
          <p:cNvSpPr txBox="1"/>
          <p:nvPr/>
        </p:nvSpPr>
        <p:spPr>
          <a:xfrm>
            <a:off x="822960" y="50292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problema1.py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7"/>
          <p:cNvSpPr/>
          <p:nvPr/>
        </p:nvSpPr>
        <p:spPr>
          <a:xfrm>
            <a:off x="6217920" y="1371600"/>
            <a:ext cx="5394960" cy="420624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7"/>
          <p:cNvSpPr/>
          <p:nvPr/>
        </p:nvSpPr>
        <p:spPr>
          <a:xfrm>
            <a:off x="6492240" y="1645920"/>
            <a:ext cx="548640" cy="54864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" name="Google Shape;50;p7"/>
          <p:cNvSpPr txBox="1"/>
          <p:nvPr/>
        </p:nvSpPr>
        <p:spPr>
          <a:xfrm>
            <a:off x="6492240" y="164592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000"/>
              <a:buFont typeface="Times New Roman"/>
              <a:buNone/>
            </a:pPr>
            <a:r>
              <a:rPr b="1" i="0" lang="en-US" sz="20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2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1" name="Google Shape;51;p7"/>
          <p:cNvSpPr txBox="1"/>
          <p:nvPr/>
        </p:nvSpPr>
        <p:spPr>
          <a:xfrm>
            <a:off x="7223760" y="1600200"/>
            <a:ext cx="420624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Validación de planillas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2" name="Google Shape;52;p7"/>
          <p:cNvSpPr txBox="1"/>
          <p:nvPr/>
        </p:nvSpPr>
        <p:spPr>
          <a:xfrm>
            <a:off x="6492240" y="2468880"/>
            <a:ext cx="4846320" cy="22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Informar qué campos están OK y cuáles MAL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Imagen de salida con los alumnos que no aprobaron (L o R)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Archivo CSV con una fila por registro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Repetir el proceso con las cuatro planillas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3" name="Google Shape;53;p7"/>
          <p:cNvSpPr txBox="1"/>
          <p:nvPr/>
        </p:nvSpPr>
        <p:spPr>
          <a:xfrm>
            <a:off x="6492240" y="5029200"/>
            <a:ext cx="484632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problema2.py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4" name="Google Shape;54;p7"/>
          <p:cNvSpPr txBox="1"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ourier New"/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Python 3.13.16 · numpy 2.5.3 · opencv-python 5.0.0.93 · matplotlib 3.11.2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7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Los detalles no se ven en el histograma</a:t>
            </a:r>
            <a:endParaRPr sz="3400"/>
          </a:p>
        </p:txBody>
      </p:sp>
      <p:pic>
        <p:nvPicPr>
          <p:cNvPr descr="Imagen original de 256x256 y su histograma con dos grupos de niveles" id="62" name="Google Shape;6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91996"/>
            <a:ext cx="6766560" cy="2593848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Google Shape;63;p8"/>
          <p:cNvSpPr/>
          <p:nvPr/>
        </p:nvSpPr>
        <p:spPr>
          <a:xfrm>
            <a:off x="548640" y="1491996"/>
            <a:ext cx="6766560" cy="259384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8"/>
          <p:cNvSpPr txBox="1"/>
          <p:nvPr/>
        </p:nvSpPr>
        <p:spPr>
          <a:xfrm>
            <a:off x="548640" y="4177284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1.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Imagen original e histograma en escala logarítmica: dos grupos de niveles, 0 a 11 y 226 a 228.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5" name="Google Shape;65;p8"/>
          <p:cNvSpPr txBox="1"/>
          <p:nvPr/>
        </p:nvSpPr>
        <p:spPr>
          <a:xfrm>
            <a:off x="548640" y="4846320"/>
            <a:ext cx="676656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Dentro de cada cuadrado los niveles van de 0 a 11 como máximo. Los detalles difieren de su fondo en pocos niveles sobre 255, por eso no se ven en la imagen original.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6" name="Google Shape;66;p8"/>
          <p:cNvSpPr/>
          <p:nvPr/>
        </p:nvSpPr>
        <p:spPr>
          <a:xfrm>
            <a:off x="7772400" y="1463040"/>
            <a:ext cx="1920240" cy="201168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8"/>
          <p:cNvSpPr txBox="1"/>
          <p:nvPr/>
        </p:nvSpPr>
        <p:spPr>
          <a:xfrm>
            <a:off x="7772400" y="169164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256x256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8" name="Google Shape;68;p8"/>
          <p:cNvSpPr txBox="1"/>
          <p:nvPr/>
        </p:nvSpPr>
        <p:spPr>
          <a:xfrm>
            <a:off x="7909560" y="251460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píxeles, 8 bits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9" name="Google Shape;69;p8"/>
          <p:cNvSpPr/>
          <p:nvPr/>
        </p:nvSpPr>
        <p:spPr>
          <a:xfrm>
            <a:off x="9784080" y="1463040"/>
            <a:ext cx="1920240" cy="201168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8"/>
          <p:cNvSpPr txBox="1"/>
          <p:nvPr/>
        </p:nvSpPr>
        <p:spPr>
          <a:xfrm>
            <a:off x="9784080" y="169164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1" name="Google Shape;71;p8"/>
          <p:cNvSpPr txBox="1"/>
          <p:nvPr/>
        </p:nvSpPr>
        <p:spPr>
          <a:xfrm>
            <a:off x="9921240" y="251460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niveles de gris distintos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7772400" y="3657600"/>
            <a:ext cx="1920240" cy="201168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8"/>
          <p:cNvSpPr txBox="1"/>
          <p:nvPr/>
        </p:nvSpPr>
        <p:spPr>
          <a:xfrm>
            <a:off x="7772400" y="388620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8"/>
          <p:cNvSpPr txBox="1"/>
          <p:nvPr/>
        </p:nvSpPr>
        <p:spPr>
          <a:xfrm>
            <a:off x="7909560" y="47091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cuadrados oscuros de 62x62 píxeles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5" name="Google Shape;75;p8"/>
          <p:cNvSpPr/>
          <p:nvPr/>
        </p:nvSpPr>
        <p:spPr>
          <a:xfrm>
            <a:off x="9784080" y="3657600"/>
            <a:ext cx="1920240" cy="201168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8"/>
          <p:cNvSpPr txBox="1"/>
          <p:nvPr/>
        </p:nvSpPr>
        <p:spPr>
          <a:xfrm>
            <a:off x="9784080" y="3886200"/>
            <a:ext cx="1920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29,3%</a:t>
            </a:r>
            <a:endParaRPr b="0" i="0" sz="3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7" name="Google Shape;77;p8"/>
          <p:cNvSpPr txBox="1"/>
          <p:nvPr/>
        </p:nvSpPr>
        <p:spPr>
          <a:xfrm>
            <a:off x="9921240" y="4709160"/>
            <a:ext cx="1645920" cy="822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 los píxeles son oscuros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8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Ventana deslizante con borde replicado</a:t>
            </a:r>
            <a:endParaRPr sz="3400"/>
          </a:p>
        </p:txBody>
      </p:sp>
      <p:pic>
        <p:nvPicPr>
          <p:cNvPr descr="Ventana de 21x21 antes y después de ecualizar" id="85" name="Google Shape;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83941"/>
            <a:ext cx="6766560" cy="2609959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9"/>
          <p:cNvSpPr/>
          <p:nvPr/>
        </p:nvSpPr>
        <p:spPr>
          <a:xfrm>
            <a:off x="548640" y="1483941"/>
            <a:ext cx="6766560" cy="2609959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9"/>
          <p:cNvSpPr txBox="1"/>
          <p:nvPr/>
        </p:nvSpPr>
        <p:spPr>
          <a:xfrm>
            <a:off x="548640" y="4185339"/>
            <a:ext cx="6766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4.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Ventana de 21x21 centrada en (212, 207): el píxel central pasa de 10 a 247.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9"/>
          <p:cNvSpPr/>
          <p:nvPr/>
        </p:nvSpPr>
        <p:spPr>
          <a:xfrm>
            <a:off x="548640" y="4754880"/>
            <a:ext cx="6766560" cy="137160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9"/>
          <p:cNvSpPr txBox="1"/>
          <p:nvPr/>
        </p:nvSpPr>
        <p:spPr>
          <a:xfrm>
            <a:off x="731520" y="4846320"/>
            <a:ext cx="640080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cv2.copyMakeBorder(img, 10, 10, 10, 10,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cv2.BORDER_REPLICATE)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cv2.equalizeHist(ventana)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0" name="Google Shape;90;p9"/>
          <p:cNvSpPr/>
          <p:nvPr/>
        </p:nvSpPr>
        <p:spPr>
          <a:xfrm>
            <a:off x="7772400" y="1508760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9"/>
          <p:cNvSpPr txBox="1"/>
          <p:nvPr/>
        </p:nvSpPr>
        <p:spPr>
          <a:xfrm>
            <a:off x="7772400" y="150876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8412480" y="1463040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Agregamos 10 píxeles por lado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imagen pasa de 256x256 a 276x276. Replicar el borde no agrega niveles de gris nuevos.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3" name="Google Shape;93;p9"/>
          <p:cNvSpPr/>
          <p:nvPr/>
        </p:nvSpPr>
        <p:spPr>
          <a:xfrm>
            <a:off x="7772400" y="2679192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9"/>
          <p:cNvSpPr txBox="1"/>
          <p:nvPr/>
        </p:nvSpPr>
        <p:spPr>
          <a:xfrm>
            <a:off x="7772400" y="2679192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5" name="Google Shape;95;p9"/>
          <p:cNvSpPr txBox="1"/>
          <p:nvPr/>
        </p:nvSpPr>
        <p:spPr>
          <a:xfrm>
            <a:off x="8412480" y="2633472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Ventana MxN centrada en cada píxel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 y N son impares, así existe un píxel central.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6" name="Google Shape;96;p9"/>
          <p:cNvSpPr/>
          <p:nvPr/>
        </p:nvSpPr>
        <p:spPr>
          <a:xfrm>
            <a:off x="7772400" y="3849624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 txBox="1"/>
          <p:nvPr/>
        </p:nvSpPr>
        <p:spPr>
          <a:xfrm>
            <a:off x="7772400" y="3849624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9"/>
          <p:cNvSpPr txBox="1"/>
          <p:nvPr/>
        </p:nvSpPr>
        <p:spPr>
          <a:xfrm>
            <a:off x="8412480" y="3803904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Ecualizamos solo la ventana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resultado se guarda únicamente en el píxel central.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9" name="Google Shape;99;p9"/>
          <p:cNvSpPr/>
          <p:nvPr/>
        </p:nvSpPr>
        <p:spPr>
          <a:xfrm>
            <a:off x="7772400" y="5020056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9"/>
          <p:cNvSpPr txBox="1"/>
          <p:nvPr/>
        </p:nvSpPr>
        <p:spPr>
          <a:xfrm>
            <a:off x="7772400" y="5020056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9"/>
          <p:cNvSpPr txBox="1"/>
          <p:nvPr/>
        </p:nvSpPr>
        <p:spPr>
          <a:xfrm>
            <a:off x="8412480" y="4974336"/>
            <a:ext cx="320040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Repetimos en toda la imagen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65.536 llamadas para una imagen de 256x256.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9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Ecualización global frente a local</a:t>
            </a:r>
            <a:endParaRPr sz="3400"/>
          </a:p>
        </p:txBody>
      </p:sp>
      <p:pic>
        <p:nvPicPr>
          <p:cNvPr descr="Imagen original, ecualización global y ecualización local de 21x21" id="109" name="Google Shape;109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8145" y="1371600"/>
            <a:ext cx="10445231" cy="393192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0"/>
          <p:cNvSpPr/>
          <p:nvPr/>
        </p:nvSpPr>
        <p:spPr>
          <a:xfrm>
            <a:off x="858145" y="1371600"/>
            <a:ext cx="10445231" cy="39319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10"/>
          <p:cNvSpPr txBox="1"/>
          <p:nvPr/>
        </p:nvSpPr>
        <p:spPr>
          <a:xfrm>
            <a:off x="822960" y="5440680"/>
            <a:ext cx="1051560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5.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Original, ecualización global y ecualización local con ventana de 21x21. La global deja los cuadrados casi igual y agrega puntos negros sueltos; la local muestra un objeto claro dentro de cada cuadrado.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2" name="Google Shape;112;p10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1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Los cinco detalles ocultos</a:t>
            </a:r>
            <a:endParaRPr sz="3400"/>
          </a:p>
        </p:txBody>
      </p:sp>
      <p:pic>
        <p:nvPicPr>
          <p:cNvPr descr="Cada zona antes y después de la ecualización local de 21x21" id="119" name="Google Shape;119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485081"/>
            <a:ext cx="6675120" cy="3064878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1"/>
          <p:cNvSpPr/>
          <p:nvPr/>
        </p:nvSpPr>
        <p:spPr>
          <a:xfrm>
            <a:off x="548640" y="1485081"/>
            <a:ext cx="6675120" cy="3064878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11"/>
          <p:cNvSpPr txBox="1"/>
          <p:nvPr/>
        </p:nvSpPr>
        <p:spPr>
          <a:xfrm>
            <a:off x="548640" y="4641399"/>
            <a:ext cx="66751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6.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cuadrado antes (arriba) y después (abajo) de la ecualización local de 21x21.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2" name="Google Shape;122;p11"/>
          <p:cNvSpPr txBox="1"/>
          <p:nvPr/>
        </p:nvSpPr>
        <p:spPr>
          <a:xfrm>
            <a:off x="548640" y="5120640"/>
            <a:ext cx="667512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la ecualización global ninguno de los cinco se ve. Con ventana de 21x21 aparecen completos.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23" name="Google Shape;123;p11"/>
          <p:cNvGraphicFramePr/>
          <p:nvPr/>
        </p:nvGraphicFramePr>
        <p:xfrm>
          <a:off x="758952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{B03F6805-B620-4E09-A14F-EA281625A628}</a:tableStyleId>
              </a:tblPr>
              <a:tblGrid>
                <a:gridCol w="1645925"/>
                <a:gridCol w="23774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Zona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Detalle oculto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Superior izquierda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 cuadrado pequeño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Superior derecha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Una línea diagonal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Centro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letra “a” minúscula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Inferior izquierda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Cuatro líneas horizontales paralelas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Inferior derecha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 círculo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24" name="Google Shape;124;p11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2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El tamaño de ventana cambia lo que se ve</a:t>
            </a:r>
            <a:endParaRPr sz="3400"/>
          </a:p>
        </p:txBody>
      </p:sp>
      <p:pic>
        <p:nvPicPr>
          <p:cNvPr descr="Imagen con ventanas cuadradas de 3x3 hasta 101x101" id="131" name="Google Shape;13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7800" y="1325880"/>
            <a:ext cx="4302241" cy="4572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2"/>
          <p:cNvSpPr/>
          <p:nvPr/>
        </p:nvSpPr>
        <p:spPr>
          <a:xfrm>
            <a:off x="637800" y="1325880"/>
            <a:ext cx="4302241" cy="45720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2"/>
          <p:cNvSpPr txBox="1"/>
          <p:nvPr/>
        </p:nvSpPr>
        <p:spPr>
          <a:xfrm>
            <a:off x="548640" y="597103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7.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Ventanas de 3x3 a 101x101.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134" name="Google Shape;134;p12"/>
          <p:cNvGraphicFramePr/>
          <p:nvPr/>
        </p:nvGraphicFramePr>
        <p:xfrm>
          <a:off x="548640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{B03F6805-B620-4E09-A14F-EA281625A628}</a:tableStyleId>
              </a:tblPr>
              <a:tblGrid>
                <a:gridCol w="1554475"/>
                <a:gridCol w="45720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Ventana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Qué se ve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3x3 y 7x7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fondo claro se llena de manchas oscuras. El círculo y el cuadrado aparecen rellenos o solo con su contorno.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15x15 a 31x31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cinco detalles se ven completos y el fondo queda casi limpio.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61x61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detalles pierden brillo: el centro es más claro que los bordes.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7315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101x101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detalles casi no se distinguen, como en la ecualización global.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54875" marB="5487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5" name="Google Shape;135;p12"/>
          <p:cNvSpPr txBox="1"/>
          <p:nvPr/>
        </p:nvSpPr>
        <p:spPr>
          <a:xfrm>
            <a:off x="5486400" y="5303520"/>
            <a:ext cx="612648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Una ventana chica ve vecinos casi iguales y amplifica diferencias de uno o dos niveles. Una grande se sale del cuadrado de 62 píxeles y el fondo domina el histograma local.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6" name="Google Shape;136;p12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13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Ventanas rectangulares y ventana elegida</a:t>
            </a:r>
            <a:endParaRPr sz="3400"/>
          </a:p>
        </p:txBody>
      </p:sp>
      <p:pic>
        <p:nvPicPr>
          <p:cNvPr descr="Ventanas rectangulares de 3x31, 31x3, 1x61 y 61x1 junto a la referencia de 21x21" id="143" name="Google Shape;143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103" y="1371600"/>
            <a:ext cx="5642113" cy="411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3"/>
          <p:cNvSpPr/>
          <p:nvPr/>
        </p:nvSpPr>
        <p:spPr>
          <a:xfrm>
            <a:off x="745103" y="1371600"/>
            <a:ext cx="5642113" cy="41148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3"/>
          <p:cNvSpPr txBox="1"/>
          <p:nvPr/>
        </p:nvSpPr>
        <p:spPr>
          <a:xfrm>
            <a:off x="548640" y="557784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9.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Ventanas 3x31, 31x3, 1x61 y 61x1 junto a la original y la referencia de 21x21.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6" name="Google Shape;146;p13"/>
          <p:cNvSpPr txBox="1"/>
          <p:nvPr/>
        </p:nvSpPr>
        <p:spPr>
          <a:xfrm>
            <a:off x="7132320" y="1371600"/>
            <a:ext cx="4480560" cy="12801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Times New Roman"/>
              <a:buNone/>
            </a:pPr>
            <a:r>
              <a:rPr b="1" i="0" lang="en-US" sz="80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21x21</a:t>
            </a:r>
            <a:endParaRPr b="0" i="0" sz="80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7" name="Google Shape;147;p13"/>
          <p:cNvSpPr txBox="1"/>
          <p:nvPr/>
        </p:nvSpPr>
        <p:spPr>
          <a:xfrm>
            <a:off x="7132320" y="2651760"/>
            <a:ext cx="448056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Ventana elegida para mostrar los detalles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3"/>
          <p:cNvSpPr txBox="1"/>
          <p:nvPr/>
        </p:nvSpPr>
        <p:spPr>
          <a:xfrm>
            <a:off x="7132320" y="3291840"/>
            <a:ext cx="448056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Los cinco detalles se ven completos y el fondo claro queda casi limpio.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3x31 y 1x61 aparecen rayas horizontales en el fondo; con 31x3 y 61x1, verticales.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42900" lvl="0" marL="342900" marR="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Char char="•"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 ventanas más chicas aparecen manchas negras.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9" name="Google Shape;149;p13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4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De la imagen a los campos de la planilla</a:t>
            </a:r>
            <a:endParaRPr sz="3400"/>
          </a:p>
        </p:txBody>
      </p:sp>
      <p:sp>
        <p:nvSpPr>
          <p:cNvPr id="156" name="Google Shape;156;p14"/>
          <p:cNvSpPr/>
          <p:nvPr/>
        </p:nvSpPr>
        <p:spPr>
          <a:xfrm>
            <a:off x="548640" y="1417320"/>
            <a:ext cx="2011680" cy="23317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4"/>
          <p:cNvSpPr/>
          <p:nvPr/>
        </p:nvSpPr>
        <p:spPr>
          <a:xfrm>
            <a:off x="731520" y="1600200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73152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59" name="Google Shape;159;p14"/>
          <p:cNvSpPr txBox="1"/>
          <p:nvPr/>
        </p:nvSpPr>
        <p:spPr>
          <a:xfrm>
            <a:off x="1280160" y="1600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Umbral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0" name="Google Shape;160;p14"/>
          <p:cNvSpPr txBox="1"/>
          <p:nvPr/>
        </p:nvSpPr>
        <p:spPr>
          <a:xfrm>
            <a:off x="731520" y="2240280"/>
            <a:ext cx="1645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img &lt; 150: texto y líneas quedan en negro; los márgenes grises desaparecen.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1" name="Google Shape;161;p14"/>
          <p:cNvSpPr/>
          <p:nvPr/>
        </p:nvSpPr>
        <p:spPr>
          <a:xfrm>
            <a:off x="2587752" y="2423160"/>
            <a:ext cx="196596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14"/>
          <p:cNvSpPr/>
          <p:nvPr/>
        </p:nvSpPr>
        <p:spPr>
          <a:xfrm>
            <a:off x="2811780" y="1417320"/>
            <a:ext cx="2011680" cy="23317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14"/>
          <p:cNvSpPr/>
          <p:nvPr/>
        </p:nvSpPr>
        <p:spPr>
          <a:xfrm>
            <a:off x="2994660" y="1600200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4"/>
          <p:cNvSpPr txBox="1"/>
          <p:nvPr/>
        </p:nvSpPr>
        <p:spPr>
          <a:xfrm>
            <a:off x="299466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5" name="Google Shape;165;p14"/>
          <p:cNvSpPr txBox="1"/>
          <p:nvPr/>
        </p:nvSpPr>
        <p:spPr>
          <a:xfrm>
            <a:off x="3543300" y="1600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Sumas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6" name="Google Shape;166;p14"/>
          <p:cNvSpPr txBox="1"/>
          <p:nvPr/>
        </p:nvSpPr>
        <p:spPr>
          <a:xfrm>
            <a:off x="2994660" y="2240280"/>
            <a:ext cx="1645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Píxeles oscuros por fila y por columna: 22 líneas horizontales y 8 verticales.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67" name="Google Shape;167;p14"/>
          <p:cNvSpPr/>
          <p:nvPr/>
        </p:nvSpPr>
        <p:spPr>
          <a:xfrm>
            <a:off x="4850892" y="2423160"/>
            <a:ext cx="196596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14"/>
          <p:cNvSpPr/>
          <p:nvPr/>
        </p:nvSpPr>
        <p:spPr>
          <a:xfrm>
            <a:off x="5074920" y="1417320"/>
            <a:ext cx="2011680" cy="23317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p14"/>
          <p:cNvSpPr/>
          <p:nvPr/>
        </p:nvSpPr>
        <p:spPr>
          <a:xfrm>
            <a:off x="5257800" y="1600200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4"/>
          <p:cNvSpPr txBox="1"/>
          <p:nvPr/>
        </p:nvSpPr>
        <p:spPr>
          <a:xfrm>
            <a:off x="525780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1" name="Google Shape;171;p14"/>
          <p:cNvSpPr txBox="1"/>
          <p:nvPr/>
        </p:nvSpPr>
        <p:spPr>
          <a:xfrm>
            <a:off x="5806440" y="1600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Celdas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2" name="Google Shape;172;p14"/>
          <p:cNvSpPr txBox="1"/>
          <p:nvPr/>
        </p:nvSpPr>
        <p:spPr>
          <a:xfrm>
            <a:off x="5257800" y="2240280"/>
            <a:ext cx="1645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celda es el rectángulo entre dos líneas consecutivas.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3" name="Google Shape;173;p14"/>
          <p:cNvSpPr/>
          <p:nvPr/>
        </p:nvSpPr>
        <p:spPr>
          <a:xfrm>
            <a:off x="7114032" y="2423160"/>
            <a:ext cx="196596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14"/>
          <p:cNvSpPr/>
          <p:nvPr/>
        </p:nvSpPr>
        <p:spPr>
          <a:xfrm>
            <a:off x="7338060" y="1417320"/>
            <a:ext cx="2011680" cy="23317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5" name="Google Shape;175;p14"/>
          <p:cNvSpPr/>
          <p:nvPr/>
        </p:nvSpPr>
        <p:spPr>
          <a:xfrm>
            <a:off x="7520940" y="1600200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4"/>
          <p:cNvSpPr txBox="1"/>
          <p:nvPr/>
        </p:nvSpPr>
        <p:spPr>
          <a:xfrm>
            <a:off x="752094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7" name="Google Shape;177;p14"/>
          <p:cNvSpPr txBox="1"/>
          <p:nvPr/>
        </p:nvSpPr>
        <p:spPr>
          <a:xfrm>
            <a:off x="8069580" y="1600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Componentes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8" name="Google Shape;178;p14"/>
          <p:cNvSpPr txBox="1"/>
          <p:nvPr/>
        </p:nvSpPr>
        <p:spPr>
          <a:xfrm>
            <a:off x="7520940" y="2240280"/>
            <a:ext cx="1645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Cada carácter es una componente conectada, con conectividad 8.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9377172" y="2423160"/>
            <a:ext cx="196596" cy="320040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14"/>
          <p:cNvSpPr/>
          <p:nvPr/>
        </p:nvSpPr>
        <p:spPr>
          <a:xfrm>
            <a:off x="9601200" y="1417320"/>
            <a:ext cx="2011680" cy="233172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4"/>
          <p:cNvSpPr/>
          <p:nvPr/>
        </p:nvSpPr>
        <p:spPr>
          <a:xfrm>
            <a:off x="9784080" y="1600200"/>
            <a:ext cx="457200" cy="457200"/>
          </a:xfrm>
          <a:prstGeom prst="ellipse">
            <a:avLst/>
          </a:prstGeom>
          <a:solidFill>
            <a:schemeClr val="dk1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4"/>
          <p:cNvSpPr txBox="1"/>
          <p:nvPr/>
        </p:nvSpPr>
        <p:spPr>
          <a:xfrm>
            <a:off x="9784080" y="16002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3" name="Google Shape;183;p14"/>
          <p:cNvSpPr txBox="1"/>
          <p:nvPr/>
        </p:nvSpPr>
        <p:spPr>
          <a:xfrm>
            <a:off x="10332720" y="1600200"/>
            <a:ext cx="118872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Reglas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4" name="Google Shape;184;p14"/>
          <p:cNvSpPr txBox="1"/>
          <p:nvPr/>
        </p:nvSpPr>
        <p:spPr>
          <a:xfrm>
            <a:off x="9784080" y="2240280"/>
            <a:ext cx="164592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Cuenta caracteres y palabras por campo; L, R y A por su forma.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descr="Planilla 1 en escala de grises y umbralada" id="185" name="Google Shape;18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666" y="4023360"/>
            <a:ext cx="4700588" cy="214884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14"/>
          <p:cNvSpPr/>
          <p:nvPr/>
        </p:nvSpPr>
        <p:spPr>
          <a:xfrm>
            <a:off x="758666" y="4023360"/>
            <a:ext cx="4700588" cy="214884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7" name="Google Shape;187;p14"/>
          <p:cNvSpPr txBox="1"/>
          <p:nvPr/>
        </p:nvSpPr>
        <p:spPr>
          <a:xfrm>
            <a:off x="5943600" y="402336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10.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Planilla 1 en grises y umbralada con img &lt; 150.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8" name="Google Shape;188;p14"/>
          <p:cNvSpPr txBox="1"/>
          <p:nvPr/>
        </p:nvSpPr>
        <p:spPr>
          <a:xfrm>
            <a:off x="5943600" y="4572000"/>
            <a:ext cx="566928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Las cuatro planillas tienen tamaños distintos (1107x867, 1029x869, 1106x869 y 917x1082), por eso los umbrales de línea son relativos al máximo de cada una.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89" name="Google Shape;189;p14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Las líneas de la tabla salen de las sumas</a:t>
            </a:r>
            <a:endParaRPr sz="3400"/>
          </a:p>
        </p:txBody>
      </p:sp>
      <p:pic>
        <p:nvPicPr>
          <p:cNvPr descr="Suma de píxeles oscuros por fila y por columna con el umbral en rojo" id="196" name="Google Shape;196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91194"/>
            <a:ext cx="11064240" cy="3161211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15"/>
          <p:cNvSpPr/>
          <p:nvPr/>
        </p:nvSpPr>
        <p:spPr>
          <a:xfrm>
            <a:off x="548640" y="1391194"/>
            <a:ext cx="11064240" cy="3161211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548640" y="4643846"/>
            <a:ext cx="110642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11.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Píxeles oscuros por fila y por columna. La línea roja es el umbral: los picos que lo superan son las líneas de la tabla.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9" name="Google Shape;199;p15"/>
          <p:cNvSpPr/>
          <p:nvPr/>
        </p:nvSpPr>
        <p:spPr>
          <a:xfrm>
            <a:off x="548640" y="4983480"/>
            <a:ext cx="3566160" cy="123444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5"/>
          <p:cNvSpPr txBox="1"/>
          <p:nvPr/>
        </p:nvSpPr>
        <p:spPr>
          <a:xfrm>
            <a:off x="685800" y="5029200"/>
            <a:ext cx="1188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22</a:t>
            </a:r>
            <a:endParaRPr b="0" i="0" sz="4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1" name="Google Shape;201;p15"/>
          <p:cNvSpPr txBox="1"/>
          <p:nvPr/>
        </p:nvSpPr>
        <p:spPr>
          <a:xfrm>
            <a:off x="1920240" y="5029200"/>
            <a:ext cx="2103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líneas horizontales en las cuatro planillas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2" name="Google Shape;202;p15"/>
          <p:cNvSpPr/>
          <p:nvPr/>
        </p:nvSpPr>
        <p:spPr>
          <a:xfrm>
            <a:off x="4343400" y="4983480"/>
            <a:ext cx="3566160" cy="123444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15"/>
          <p:cNvSpPr txBox="1"/>
          <p:nvPr/>
        </p:nvSpPr>
        <p:spPr>
          <a:xfrm>
            <a:off x="4480560" y="5029200"/>
            <a:ext cx="11887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imes New Roman"/>
              <a:buNone/>
            </a:pPr>
            <a:r>
              <a:rPr b="1" i="0" lang="en-US" sz="4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 b="0" i="0" sz="4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4" name="Google Shape;204;p15"/>
          <p:cNvSpPr txBox="1"/>
          <p:nvPr/>
        </p:nvSpPr>
        <p:spPr>
          <a:xfrm>
            <a:off x="5715000" y="5029200"/>
            <a:ext cx="210312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líneas verticales en las cuatro planillas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5" name="Google Shape;205;p15"/>
          <p:cNvSpPr/>
          <p:nvPr/>
        </p:nvSpPr>
        <p:spPr>
          <a:xfrm>
            <a:off x="8138160" y="4983480"/>
            <a:ext cx="3474720" cy="1234440"/>
          </a:xfrm>
          <a:prstGeom prst="rect">
            <a:avLst/>
          </a:prstGeom>
          <a:solidFill>
            <a:schemeClr val="lt2"/>
          </a:solidFill>
          <a:ln cap="flat" cmpd="sng" w="127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5"/>
          <p:cNvSpPr txBox="1"/>
          <p:nvPr/>
        </p:nvSpPr>
        <p:spPr>
          <a:xfrm>
            <a:off x="8321040" y="5029200"/>
            <a:ext cx="310896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Filas: 0,8 × máximo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1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Columnas: 0,6 × máximo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07" name="Google Shape;207;p15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6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Cada campo tiene su regla</a:t>
            </a:r>
            <a:endParaRPr sz="3400"/>
          </a:p>
        </p:txBody>
      </p:sp>
      <p:graphicFrame>
        <p:nvGraphicFramePr>
          <p:cNvPr id="214" name="Google Shape;214;p16"/>
          <p:cNvGraphicFramePr/>
          <p:nvPr/>
        </p:nvGraphicFramePr>
        <p:xfrm>
          <a:off x="548640" y="146304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{B03F6805-B620-4E09-A14F-EA281625A628}</a:tableStyleId>
              </a:tblPr>
              <a:tblGrid>
                <a:gridCol w="2011675"/>
                <a:gridCol w="3657600"/>
              </a:tblGrid>
              <a:tr h="4572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Campo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Restricción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Legajo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8 caracteres en total, una sola palabra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y apellido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 menos dos palabras y no más de 12 caracteres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229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Parcial 1, 2 y 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 o 2 caracteres consecutivos, sin espacios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Condición Final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Un único carácter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15" name="Google Shape;215;p16"/>
          <p:cNvSpPr txBox="1"/>
          <p:nvPr/>
        </p:nvSpPr>
        <p:spPr>
          <a:xfrm>
            <a:off x="548640" y="5212080"/>
            <a:ext cx="56692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espacio del nombre no cuenta como carácter, porque no es una componente conectada. Fue una decisión nuestra: la consigna no aclara si el espacio cuenta.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6" name="Google Shape;216;p16"/>
          <p:cNvSpPr txBox="1"/>
          <p:nvPr/>
        </p:nvSpPr>
        <p:spPr>
          <a:xfrm>
            <a:off x="6675120" y="146304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Palabras sin leer las letras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7" name="Google Shape;217;p16"/>
          <p:cNvSpPr/>
          <p:nvPr/>
        </p:nvSpPr>
        <p:spPr>
          <a:xfrm>
            <a:off x="6675120" y="1920240"/>
            <a:ext cx="1554480" cy="13716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6"/>
          <p:cNvSpPr txBox="1"/>
          <p:nvPr/>
        </p:nvSpPr>
        <p:spPr>
          <a:xfrm>
            <a:off x="6675120" y="201168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0–4 px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19" name="Google Shape;219;p16"/>
          <p:cNvSpPr txBox="1"/>
          <p:nvPr/>
        </p:nvSpPr>
        <p:spPr>
          <a:xfrm>
            <a:off x="6675120" y="26517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entre letras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0" name="Google Shape;220;p16"/>
          <p:cNvSpPr/>
          <p:nvPr/>
        </p:nvSpPr>
        <p:spPr>
          <a:xfrm>
            <a:off x="8366760" y="1920240"/>
            <a:ext cx="1554480" cy="13716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16"/>
          <p:cNvSpPr txBox="1"/>
          <p:nvPr/>
        </p:nvSpPr>
        <p:spPr>
          <a:xfrm>
            <a:off x="8366760" y="201168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10–13 px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2" name="Google Shape;222;p16"/>
          <p:cNvSpPr txBox="1"/>
          <p:nvPr/>
        </p:nvSpPr>
        <p:spPr>
          <a:xfrm>
            <a:off x="8366760" y="26517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entre palabras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3" name="Google Shape;223;p16"/>
          <p:cNvSpPr/>
          <p:nvPr/>
        </p:nvSpPr>
        <p:spPr>
          <a:xfrm>
            <a:off x="10058400" y="1920240"/>
            <a:ext cx="1554480" cy="137160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16"/>
          <p:cNvSpPr txBox="1"/>
          <p:nvPr/>
        </p:nvSpPr>
        <p:spPr>
          <a:xfrm>
            <a:off x="10058400" y="2011680"/>
            <a:ext cx="155448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 px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5" name="Google Shape;225;p16"/>
          <p:cNvSpPr txBox="1"/>
          <p:nvPr/>
        </p:nvSpPr>
        <p:spPr>
          <a:xfrm>
            <a:off x="10058400" y="2651760"/>
            <a:ext cx="15544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umbral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6" name="Google Shape;226;p16"/>
          <p:cNvSpPr txBox="1"/>
          <p:nvPr/>
        </p:nvSpPr>
        <p:spPr>
          <a:xfrm>
            <a:off x="6675120" y="365760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Times New Roman"/>
              <a:buNone/>
            </a:pPr>
            <a:r>
              <a:rPr b="1" i="0" lang="en-US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Condición Final: L, R o A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7" name="Google Shape;227;p16"/>
          <p:cNvSpPr txBox="1"/>
          <p:nvPr/>
        </p:nvSpPr>
        <p:spPr>
          <a:xfrm>
            <a:off x="6675120" y="41148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6600"/>
              <a:buFont typeface="Times New Roman"/>
              <a:buNone/>
            </a:pPr>
            <a:r>
              <a:rPr b="1" i="0" lang="en-US" sz="66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</a:t>
            </a:r>
            <a:endParaRPr b="0" i="0" sz="6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8" name="Google Shape;228;p16"/>
          <p:cNvSpPr txBox="1"/>
          <p:nvPr/>
        </p:nvSpPr>
        <p:spPr>
          <a:xfrm>
            <a:off x="6675120" y="516636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primera columna llena, sin agujeros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29" name="Google Shape;229;p16"/>
          <p:cNvSpPr txBox="1"/>
          <p:nvPr/>
        </p:nvSpPr>
        <p:spPr>
          <a:xfrm>
            <a:off x="8366760" y="41148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6600"/>
              <a:buFont typeface="Times New Roman"/>
              <a:buNone/>
            </a:pPr>
            <a:r>
              <a:rPr b="1" i="0" lang="en-US" sz="66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</a:t>
            </a:r>
            <a:endParaRPr b="0" i="0" sz="6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0" name="Google Shape;230;p16"/>
          <p:cNvSpPr txBox="1"/>
          <p:nvPr/>
        </p:nvSpPr>
        <p:spPr>
          <a:xfrm>
            <a:off x="8366760" y="516636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primera columna llena, con un agujero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1" name="Google Shape;231;p16"/>
          <p:cNvSpPr txBox="1"/>
          <p:nvPr/>
        </p:nvSpPr>
        <p:spPr>
          <a:xfrm>
            <a:off x="10058400" y="411480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Times New Roman"/>
              <a:buNone/>
            </a:pPr>
            <a:r>
              <a:rPr b="1" i="0" lang="en-US" sz="6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</a:t>
            </a:r>
            <a:endParaRPr b="0" i="0" sz="6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2" name="Google Shape;232;p16"/>
          <p:cNvSpPr txBox="1"/>
          <p:nvPr/>
        </p:nvSpPr>
        <p:spPr>
          <a:xfrm>
            <a:off x="10058400" y="5166360"/>
            <a:ext cx="1554480" cy="10058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primera columna casi vacía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33" name="Google Shape;233;p16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7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Cuántos registros pasan en cada planilla</a:t>
            </a:r>
            <a:endParaRPr sz="3400"/>
          </a:p>
        </p:txBody>
      </p:sp>
      <p:pic>
        <p:nvPicPr>
          <p:cNvPr id="240" name="Google Shape;24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8640" y="1371600"/>
            <a:ext cx="5760720" cy="466344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41" name="Google Shape;241;p17"/>
          <p:cNvGraphicFramePr/>
          <p:nvPr/>
        </p:nvGraphicFramePr>
        <p:xfrm>
          <a:off x="6675120" y="164592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{B03F6805-B620-4E09-A14F-EA281625A628}</a:tableStyleId>
              </a:tblPr>
              <a:tblGrid>
                <a:gridCol w="1005850"/>
                <a:gridCol w="1188725"/>
                <a:gridCol w="1280150"/>
                <a:gridCol w="1463050"/>
              </a:tblGrid>
              <a:tr h="6400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Planilla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OK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Libres (L)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b="1"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Recuperan (R)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2"/>
                    </a:solidFill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15 de 20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 de 20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3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 de 20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8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4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6 de 20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/>
                        <a:buNone/>
                      </a:pPr>
                      <a:r>
                        <a:rPr lang="en-US" sz="14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2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45725" marB="45725" marR="73150" marL="73150" anchor="ctr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42" name="Google Shape;242;p17"/>
          <p:cNvSpPr txBox="1"/>
          <p:nvPr/>
        </p:nvSpPr>
        <p:spPr>
          <a:xfrm>
            <a:off x="6675120" y="4754880"/>
            <a:ext cx="493776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Times New Roman"/>
              <a:buNone/>
            </a:pP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 la planilla 3 ningún registro tiene los seis campos bien, y la imagen de salida dice “Sin alumnos L/R”.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43" name="Google Shape;243;p17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8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dk1"/>
                </a:solidFill>
              </a:rPr>
              <a:t>Validación por celda de la planilla 1</a:t>
            </a:r>
            <a:endParaRPr sz="3400"/>
          </a:p>
        </p:txBody>
      </p:sp>
      <p:pic>
        <p:nvPicPr>
          <p:cNvPr descr="Planilla 1 con las celdas OK en verde y MAL en rojo" id="250" name="Google Shape;250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05733" y="1371600"/>
            <a:ext cx="5720853" cy="448056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18"/>
          <p:cNvSpPr/>
          <p:nvPr/>
        </p:nvSpPr>
        <p:spPr>
          <a:xfrm>
            <a:off x="705733" y="1371600"/>
            <a:ext cx="5720853" cy="4480560"/>
          </a:xfrm>
          <a:prstGeom prst="rect">
            <a:avLst/>
          </a:prstGeom>
          <a:noFill/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18"/>
          <p:cNvSpPr txBox="1"/>
          <p:nvPr/>
        </p:nvSpPr>
        <p:spPr>
          <a:xfrm>
            <a:off x="548640" y="5943600"/>
            <a:ext cx="60350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Times New Roman"/>
              <a:buNone/>
            </a:pPr>
            <a:r>
              <a:rPr b="1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Figura 15. </a:t>
            </a:r>
            <a:r>
              <a:rPr b="0" i="0" lang="en-US" sz="12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Verde indica OK y rojo indica MAL. Las filas sin datos quedan en rojo.</a:t>
            </a:r>
            <a:endParaRPr b="0" i="0" sz="1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3" name="Google Shape;253;p18"/>
          <p:cNvSpPr/>
          <p:nvPr/>
        </p:nvSpPr>
        <p:spPr>
          <a:xfrm>
            <a:off x="7132320" y="1463040"/>
            <a:ext cx="914400" cy="457200"/>
          </a:xfrm>
          <a:prstGeom prst="rect">
            <a:avLst/>
          </a:prstGeom>
          <a:solidFill>
            <a:schemeClr val="accent3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18"/>
          <p:cNvSpPr txBox="1"/>
          <p:nvPr/>
        </p:nvSpPr>
        <p:spPr>
          <a:xfrm>
            <a:off x="7132320" y="146304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accent6"/>
                </a:solidFill>
                <a:latin typeface="Courier New"/>
                <a:ea typeface="Courier New"/>
                <a:cs typeface="Courier New"/>
                <a:sym typeface="Courier New"/>
              </a:rPr>
              <a:t>OK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5" name="Google Shape;255;p18"/>
          <p:cNvSpPr txBox="1"/>
          <p:nvPr/>
        </p:nvSpPr>
        <p:spPr>
          <a:xfrm>
            <a:off x="8229600" y="146304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campo cumple su regla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6" name="Google Shape;256;p18"/>
          <p:cNvSpPr/>
          <p:nvPr/>
        </p:nvSpPr>
        <p:spPr>
          <a:xfrm>
            <a:off x="7132320" y="2103120"/>
            <a:ext cx="914400" cy="457200"/>
          </a:xfrm>
          <a:prstGeom prst="rect">
            <a:avLst/>
          </a:prstGeom>
          <a:solidFill>
            <a:schemeClr val="accent4"/>
          </a:solidFill>
          <a:ln cap="flat" cmpd="sng" w="127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8"/>
          <p:cNvSpPr txBox="1"/>
          <p:nvPr/>
        </p:nvSpPr>
        <p:spPr>
          <a:xfrm>
            <a:off x="7132320" y="2103120"/>
            <a:ext cx="914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None/>
            </a:pPr>
            <a:r>
              <a:rPr b="1" i="0" lang="en-US" sz="14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MAL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8" name="Google Shape;258;p18"/>
          <p:cNvSpPr txBox="1"/>
          <p:nvPr/>
        </p:nvSpPr>
        <p:spPr>
          <a:xfrm>
            <a:off x="8229600" y="2103120"/>
            <a:ext cx="3383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Times New Roman"/>
              <a:buNone/>
            </a:pPr>
            <a:r>
              <a:rPr b="0" i="0" lang="en-US" sz="14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campo no la cumple</a:t>
            </a:r>
            <a:endParaRPr b="0" i="0" sz="14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59" name="Google Shape;259;p18"/>
          <p:cNvSpPr txBox="1"/>
          <p:nvPr/>
        </p:nvSpPr>
        <p:spPr>
          <a:xfrm>
            <a:off x="7132320" y="3017520"/>
            <a:ext cx="4480560" cy="2834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accen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Libres: Bianca Monte, Farias Jorge, Juana Gomez, Amanda Santos, Nahuel Fausto y Julio Foglia.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spcBef>
                <a:spcPts val="1400"/>
              </a:spcBef>
              <a:spcAft>
                <a:spcPts val="0"/>
              </a:spcAft>
              <a:buClr>
                <a:schemeClr val="accent2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accent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 </a:t>
            </a:r>
            <a:r>
              <a:rPr b="0" i="0" lang="en-US" sz="16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Recuperan: Rivas Hugo, Jorge Delgado, Jose Santini y Camila Godoy.</a:t>
            </a:r>
            <a:endParaRPr b="0" i="0" sz="16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0" name="Google Shape;260;p18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19"/>
          <p:cNvSpPr txBox="1"/>
          <p:nvPr>
            <p:ph type="title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Times New Roman"/>
              <a:buNone/>
            </a:pPr>
            <a:r>
              <a:rPr b="1" lang="en-US" sz="3400">
                <a:solidFill>
                  <a:schemeClr val="lt1"/>
                </a:solidFill>
              </a:rPr>
              <a:t>Conclusiones</a:t>
            </a:r>
            <a:endParaRPr sz="3400"/>
          </a:p>
        </p:txBody>
      </p:sp>
      <p:sp>
        <p:nvSpPr>
          <p:cNvPr id="267" name="Google Shape;267;p19"/>
          <p:cNvSpPr/>
          <p:nvPr/>
        </p:nvSpPr>
        <p:spPr>
          <a:xfrm>
            <a:off x="548640" y="1463040"/>
            <a:ext cx="3566160" cy="448056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19"/>
          <p:cNvSpPr txBox="1"/>
          <p:nvPr/>
        </p:nvSpPr>
        <p:spPr>
          <a:xfrm>
            <a:off x="822960" y="16916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 1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69" name="Google Shape;269;p19"/>
          <p:cNvSpPr txBox="1"/>
          <p:nvPr/>
        </p:nvSpPr>
        <p:spPr>
          <a:xfrm>
            <a:off x="822960" y="2377440"/>
            <a:ext cx="30175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ecualización local muestra los cinco detalles; la global no. Elegimos 21x21 porque deja menos marcas negras en el fondo. Con 3x3 y 7x7 el fondo se llena de manchas, y con 61x61 y 101x101 los detalles se apagan.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0" name="Google Shape;270;p19"/>
          <p:cNvSpPr/>
          <p:nvPr/>
        </p:nvSpPr>
        <p:spPr>
          <a:xfrm>
            <a:off x="4297680" y="1463040"/>
            <a:ext cx="3566160" cy="448056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19"/>
          <p:cNvSpPr txBox="1"/>
          <p:nvPr/>
        </p:nvSpPr>
        <p:spPr>
          <a:xfrm>
            <a:off x="4572000" y="16916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Problema 2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2" name="Google Shape;272;p19"/>
          <p:cNvSpPr txBox="1"/>
          <p:nvPr/>
        </p:nvSpPr>
        <p:spPr>
          <a:xfrm>
            <a:off x="4572000" y="2377440"/>
            <a:ext cx="30175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 mismo script procesa las cuatro planillas: encuentra 22 líneas horizontales y 8 verticales, separa palabras con un umbral de 6 píxeles y distingue L, R y A por su forma. Correctos: 15, 3, 0 y 6 de 20.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3" name="Google Shape;273;p19"/>
          <p:cNvSpPr/>
          <p:nvPr/>
        </p:nvSpPr>
        <p:spPr>
          <a:xfrm>
            <a:off x="8046720" y="1463040"/>
            <a:ext cx="3566160" cy="4480560"/>
          </a:xfrm>
          <a:prstGeom prst="rect">
            <a:avLst/>
          </a:prstGeom>
          <a:noFill/>
          <a:ln cap="flat" cmpd="sng" w="12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19"/>
          <p:cNvSpPr txBox="1"/>
          <p:nvPr/>
        </p:nvSpPr>
        <p:spPr>
          <a:xfrm>
            <a:off x="8321040" y="1691640"/>
            <a:ext cx="301752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Times New Roman"/>
              <a:buNone/>
            </a:pPr>
            <a:r>
              <a:rPr b="1" i="0" lang="en-US" sz="2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Limitaciones</a:t>
            </a:r>
            <a:endParaRPr b="0" i="0" sz="22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5" name="Google Shape;275;p19"/>
          <p:cNvSpPr txBox="1"/>
          <p:nvPr/>
        </p:nvSpPr>
        <p:spPr>
          <a:xfrm>
            <a:off x="8321040" y="2377440"/>
            <a:ext cx="3017520" cy="3383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Times New Roman"/>
              <a:buNone/>
            </a:pPr>
            <a:r>
              <a:rPr b="0" i="0" lang="en-US" sz="18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ecualización local también amplifica el ruido: el 2,5% del fondo queda oscuro. Las zonas están escritas a mano en ZONAS. En el Problema 2 el script no lee caracteres, y con otra tipografía podría fallar.</a:t>
            </a:r>
            <a:endParaRPr b="0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76" name="Google Shape;276;p19"/>
          <p:cNvSpPr txBox="1"/>
          <p:nvPr>
            <p:ph idx="4294967295" type="sldNum"/>
          </p:nvPr>
        </p:nvSpPr>
        <p:spPr>
          <a:xfrm>
            <a:off x="11064240" y="6400800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1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‹#›</a:t>
            </a:fld>
            <a:endParaRPr b="0" i="0" sz="11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forme FCEIA">
  <a:themeElements>
    <a:clrScheme name="Informe FCEIA">
      <a:dk1>
        <a:srgbClr val="000000"/>
      </a:dk1>
      <a:lt1>
        <a:srgbClr val="FFFFFF"/>
      </a:lt1>
      <a:dk2>
        <a:srgbClr val="161616"/>
      </a:dk2>
      <a:lt2>
        <a:srgbClr val="C9C9C9"/>
      </a:lt2>
      <a:accent1>
        <a:srgbClr val="0000FF"/>
      </a:accent1>
      <a:accent2>
        <a:srgbClr val="FF0000"/>
      </a:accent2>
      <a:accent3>
        <a:srgbClr val="A6ECA6"/>
      </a:accent3>
      <a:accent4>
        <a:srgbClr val="F6A6A6"/>
      </a:accent4>
      <a:accent5>
        <a:srgbClr val="C9C9C9"/>
      </a:accent5>
      <a:accent6>
        <a:srgbClr val="004600"/>
      </a:accent6>
      <a:hlink>
        <a:srgbClr val="0000FF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Informe FCEIA">
  <a:themeElements>
    <a:clrScheme name="Informe FCEIA">
      <a:dk1>
        <a:srgbClr val="000000"/>
      </a:dk1>
      <a:lt1>
        <a:srgbClr val="FFFFFF"/>
      </a:lt1>
      <a:dk2>
        <a:srgbClr val="161616"/>
      </a:dk2>
      <a:lt2>
        <a:srgbClr val="C9C9C9"/>
      </a:lt2>
      <a:accent1>
        <a:srgbClr val="0000FF"/>
      </a:accent1>
      <a:accent2>
        <a:srgbClr val="FF0000"/>
      </a:accent2>
      <a:accent3>
        <a:srgbClr val="A6ECA6"/>
      </a:accent3>
      <a:accent4>
        <a:srgbClr val="F6A6A6"/>
      </a:accent4>
      <a:accent5>
        <a:srgbClr val="C9C9C9"/>
      </a:accent5>
      <a:accent6>
        <a:srgbClr val="004600"/>
      </a:accent6>
      <a:hlink>
        <a:srgbClr val="0000FF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